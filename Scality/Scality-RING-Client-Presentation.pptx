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I will walk through how Scality RING works internally, how our deployment is designed, and how we operate it day to day.</a:t>
            </a:r>
          </a:p>
          <a:p>
            <a:r>
              <a:t>Goal for the audience: understand why the platform is resilient, scalable and protected against ransomware.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agenda quickly. The flow goes from what the platform is, to how it works inside, to how we deployed and run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RING is software. It runs on standard x86 Linux servers and joins them into one large, self-protecting storage system.</a:t>
            </a:r>
          </a:p>
          <a:p>
            <a:r>
              <a:t>Simple way to say it: many ordinary servers that behave like one giant, safe storage box. No single server is the boss, so no single failure stops service.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layers.</a:t>
            </a:r>
          </a:p>
          <a:p>
            <a:r>
              <a:t>1) Access layer: stateless connectors that speak S3, NFS, SMB and REST. Clients only ever talk to this layer.</a:t>
            </a:r>
          </a:p>
          <a:p>
            <a:r>
              <a:t>2) Storage layer: the RING itself. Storage servers hold the data, spread evenly.</a:t>
            </a:r>
          </a:p>
          <a:p>
            <a:r>
              <a:t>3) Management: Supervisor and monitoring. It sits outside the data path, so if it is down, client I/O continues.</a:t>
            </a:r>
          </a:p>
          <a:p>
            <a:r>
              <a:t>The metadata service keeps the index of objects (which fragments make up each object).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S3 connector is a set of services.</a:t>
            </a:r>
          </a:p>
          <a:p>
            <a:r>
              <a:t>S3 API service receives requests. Identity &amp; Access checks who the caller is and what they may do. The metadata service stores the object record. Data routing splits the object into fragments and writes them to the RING. The replication and lifecycle engine copies data to the DR site and applies expiry rules. Metering counts usage for reporting.</a:t>
            </a:r>
          </a:p>
          <a:p>
            <a:r>
              <a:t>Key point: data and metadata are separated, which gives fast listings and independent scaling.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storage server runs several storage nodes (typically six). Each storage node owns ranges of the key space.</a:t>
            </a:r>
          </a:p>
          <a:p>
            <a:r>
              <a:t>Below them, one IO daemon per disk does the physical reads and writes.</a:t>
            </a:r>
          </a:p>
          <a:p>
            <a:r>
              <a:t>Fragments are packed into large container files so disks stay efficient even with billions of small objects. An index on SSD finds any fragment in a single disk access.</a:t>
            </a:r>
          </a:p>
          <a:p>
            <a:r>
              <a:t>Checksums detect silent corruption; a background scrub repairs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idea of RING.</a:t>
            </a:r>
          </a:p>
          <a:p>
            <a:r>
              <a:t>Every fragment gets a key (a number). The storage nodes sit around a ring and each owns a range of numbers. A fragment is stored on the node that owns its number.</a:t>
            </a:r>
          </a:p>
          <a:p>
            <a:r>
              <a:t>Because location is calculated, there is no central lookup table to become a bottleneck.</a:t>
            </a:r>
          </a:p>
          <a:p>
            <a:r>
              <a:t>Each server owns several ranges spread around the ring (shown by colour). The three copies of an object are spaced evenly around the ring, so they land on three different servers: here S4, S2 and S6.</a:t>
            </a:r>
          </a:p>
          <a:p>
            <a:r>
              <a:t>Connectors keep a copy of the ring map, so every request goes directly to the right node in one hop.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protection methods, chosen automatically by object size.</a:t>
            </a:r>
          </a:p>
          <a:p>
            <a:r>
              <a:t>Small objects and metadata: 3 copies on 3 different servers.</a:t>
            </a:r>
          </a:p>
          <a:p>
            <a:r>
              <a:t>Large objects: erasure coding. The object is split into 9 data fragments and 3 parity fragments, 12 in total, each on a different server. Any 9 of the 12 rebuild the object, so we can lose 3 at once. It is as safe as copies but uses 1.33x the space instead of 3x.</a:t>
            </a:r>
          </a:p>
          <a:p>
            <a:r>
              <a:t>The scheme is selected to match the number of servers, racks and sites.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why the layout matters.</a:t>
            </a:r>
          </a:p>
          <a:p>
            <a:r>
              <a:t>12 servers in 4 racks, 3 servers per rack. Each server holds one fragment of an object.</a:t>
            </a:r>
          </a:p>
          <a:p>
            <a:r>
              <a:t>If an entire rack goes offline, we lose 3 fragments, and 9 remain, which is exactly enough to read every object.</a:t>
            </a:r>
          </a:p>
          <a:p>
            <a:r>
              <a:t>The design rule: no failure domain may hold more fragments than the parity count. With 3 racks of 4 servers, a rack failure would lose 4 fragments, which is too many. That is why we chose 4 racks.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by step, what happens when a backup server saves a file.</a:t>
            </a:r>
          </a:p>
          <a:p>
            <a:r>
              <a:t>Important: fragments are written first, and only then is the metadata record committed. So if anything fails mid-way, a client never sees a broken object.</a:t>
            </a:r>
          </a:p>
          <a:p>
            <a:r>
              <a:t>The metadata commit needs 3 of 5 metadata nodes to agree (Raft), which gives strong consistency: as soon as we reply OK, any reader will see the object.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is the reverse: look up the object record, fetch 9 fragments in parallel, rebuild the object and stream it.</a:t>
            </a:r>
          </a:p>
          <a:p>
            <a:r>
              <a:t>Degraded read: even if two servers are down, any 9 of the remaining 10 fragments are enough. The client gets complete data and sees no error. No manual action is needed.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timeline when a disk or server fails.</a:t>
            </a:r>
          </a:p>
          <a:p>
            <a:r>
              <a:t>Peers notice within seconds through heartbeats and an alert is raised. Service continues from other copies or fragments. If the component does not return within the configured time, the missing data is rebuilt on healthy nodes, with all servers sharing the work, so it is fast. The hardware is replaced at a planned maintenance window, with no emergency.</a:t>
            </a:r>
          </a:p>
          <a:p>
            <a:r>
              <a:t>Important: we keep the cluster below 80% full so there is always space to rebuild.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need more capacity, we add servers. The new server (S7, in red) receives key ranges on the ring.</a:t>
            </a:r>
          </a:p>
          <a:p>
            <a:r>
              <a:t>Only the data in those ranges moves to the new server; everything else stays where it is. The move runs in the background and is throttled so clients do not notice.</a:t>
            </a:r>
          </a:p>
          <a:p>
            <a:r>
              <a:t>We plan expansion at around 70% utilization because procurement takes weeks.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to protect against losing a whole data centre.</a:t>
            </a:r>
          </a:p>
          <a:p>
            <a:r>
              <a:t>Stretched cluster: one cluster across three nearby sites. Each site holds 4 of the 12 fragments (ARC 7+5), so a full site can be lost with zero data loss. Metadata nodes are split 2/2/1 so a majority always survives. It needs low latency, so metro distance only.</a:t>
            </a:r>
          </a:p>
          <a:p>
            <a:r>
              <a:t>Asynchronous replication: two independent clusters at any distance. Data is copied shortly after it is written, so the last seconds to minutes could be lost in a disaster.</a:t>
            </a:r>
          </a:p>
          <a:p>
            <a:r>
              <a:t>Critical organisations often combine both.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separate networks.</a:t>
            </a:r>
          </a:p>
          <a:p>
            <a:r>
              <a:t>Front-end: client traffic only. Back-end: traffic between connectors and storage servers, including rebuild and rebalance. It carries more data than the front-end, because of fragments and copies. Management: administration and monitoring, isolated for security.</a:t>
            </a:r>
          </a:p>
          <a:p>
            <a:r>
              <a:t>Everything is doubled: two links per server, two leaf switches per rack, two spine switches, and a load balancer pair sharing one virtual IP.</a:t>
            </a:r>
          </a:p>
          <a:p>
            <a:r>
              <a:t>Jumbo frames must be configured consistently end to end on the back-end.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layered.</a:t>
            </a:r>
          </a:p>
          <a:p>
            <a:r>
              <a:t>Outside: an isolated management network and MFA for administrators. Then TLS encryption on the network, identity and access control with least-privilege policies, versioning so every change is recoverable, and Object Lock in Compliance mode, which makes backups immutable for the retention period. Data is also encrypted at rest with keys held in an external KMS.</a:t>
            </a:r>
          </a:p>
          <a:p>
            <a:r>
              <a:t>Ransomware scenario: even with stolen administrator credentials, an attacker cannot delete or change locked backups, so we restore cleanly without paying a ransom.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deployment layout. (Update the values to match the actual environment.)</a:t>
            </a:r>
          </a:p>
          <a:p>
            <a:r>
              <a:t>Four racks, each with two leaf switches, three storage servers, one connector and one or two metadata nodes. The five metadata nodes are spread 2/1/1/1, so losing any rack still leaves a majority.</a:t>
            </a:r>
          </a:p>
          <a:p>
            <a:r>
              <a:t>With ARC 9+3 and three servers per rack, the cluster survives any three servers or one complete rack.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cluster was sized.</a:t>
            </a:r>
          </a:p>
          <a:p>
            <a:r>
              <a:t>We start from today's 2 PB and grow 30% per year for three years, which gives 4.4 PB. We never run above 80% full, so we need 5.5 PB usable. Erasure coding 9+3 adds 1.33x overhead, so 7.3 PB raw. 12 servers with 32 x 20 TB disks give 7.68 PB raw and 5.76 PB usable, which covers the requirement.</a:t>
            </a:r>
          </a:p>
          <a:p>
            <a:r>
              <a:t>Performance: 100 TB per night in 8 hours is 3.5 GB/s from clients. Per-connector throughput is validated in a proof of concept.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key indicators we monitor every day, with warning and critical thresholds.</a:t>
            </a:r>
          </a:p>
          <a:p>
            <a:r>
              <a:t>Capacity at 70% triggers expansion planning. Component health and rebuild backlog tell us the protection margin. Latency and error rate show user experience. Replication lag shows whether the DR copy is up to date.</a:t>
            </a:r>
          </a:p>
          <a:p>
            <a:r>
              <a:t>Tools: Supervisor for cluster management, Prometheus and Grafana for metrics, alerting into our on-call and ticketing, and logs into the SIEM.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Operations follow a continuous cycle: monitor, alert, respond with runbooks, plan capacity, expand or refresh hardware, and upgrade with rolling procedures.</a:t>
            </a:r>
          </a:p>
          <a:p>
            <a:r>
              <a:t>Every procedure is non-disruptive. The guardrails on the right are the rules we never break, for example: never take down more than one failure domain at a time, and make sure there is no rebuild in progress before upgrading the next server.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go-live we prove the design by actually breaking things: pulling disks, powering off a server and a full rack, stopping a connector and the metadata leader, and trying to delete a locked backup.</a:t>
            </a:r>
          </a:p>
          <a:p>
            <a:r>
              <a:t>The results become our operational baseline, for example how long a disk rebuild takes.</a:t>
            </a:r>
          </a:p>
          <a:p>
            <a:r>
              <a:t>(Mark each test as passed when completed.)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the six points, then open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floor for questions. The appendix documents (architecture reference and simple guide) can be shared after the session.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 name="Rectangle 2"/>
          <p:cNvSpPr/>
          <p:nvPr/>
        </p:nvSpPr>
        <p:spPr>
          <a:xfrm>
            <a:off x="731520" y="2011680"/>
            <a:ext cx="109728" cy="21031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4" name="TextBox 3"/>
          <p:cNvSpPr txBox="1"/>
          <p:nvPr/>
        </p:nvSpPr>
        <p:spPr>
          <a:xfrm>
            <a:off x="1051560" y="1783080"/>
            <a:ext cx="10058400" cy="868680"/>
          </a:xfrm>
          <a:prstGeom prst="rect">
            <a:avLst/>
          </a:prstGeom>
          <a:noFill/>
        </p:spPr>
        <p:txBody>
          <a:bodyPr wrap="square" anchor="t" lIns="36576" rIns="36576" tIns="36576" bIns="36576">
            <a:spAutoFit/>
          </a:bodyPr>
          <a:lstStyle/>
          <a:p>
            <a:pPr algn="l"/>
            <a:r>
              <a:rPr sz="4800" b="1" i="0">
                <a:solidFill>
                  <a:srgbClr val="FFFFFF"/>
                </a:solidFill>
                <a:latin typeface="Segoe UI"/>
              </a:rPr>
              <a:t>Scality RING</a:t>
            </a:r>
          </a:p>
        </p:txBody>
      </p:sp>
      <p:sp>
        <p:nvSpPr>
          <p:cNvPr id="5" name="TextBox 4"/>
          <p:cNvSpPr txBox="1"/>
          <p:nvPr/>
        </p:nvSpPr>
        <p:spPr>
          <a:xfrm>
            <a:off x="1051560" y="2697480"/>
            <a:ext cx="10058400" cy="548640"/>
          </a:xfrm>
          <a:prstGeom prst="rect">
            <a:avLst/>
          </a:prstGeom>
          <a:noFill/>
        </p:spPr>
        <p:txBody>
          <a:bodyPr wrap="square" anchor="t" lIns="36576" rIns="36576" tIns="36576" bIns="36576">
            <a:spAutoFit/>
          </a:bodyPr>
          <a:lstStyle/>
          <a:p>
            <a:pPr algn="l"/>
            <a:r>
              <a:rPr sz="2600" b="0" i="0">
                <a:solidFill>
                  <a:srgbClr val="C9D3E3"/>
                </a:solidFill>
                <a:latin typeface="Segoe UI"/>
              </a:rPr>
              <a:t>Architecture, Deployment &amp; Operations</a:t>
            </a:r>
          </a:p>
        </p:txBody>
      </p:sp>
      <p:sp>
        <p:nvSpPr>
          <p:cNvPr id="6" name="TextBox 5"/>
          <p:cNvSpPr txBox="1"/>
          <p:nvPr/>
        </p:nvSpPr>
        <p:spPr>
          <a:xfrm>
            <a:off x="1051560" y="3383280"/>
            <a:ext cx="10058400" cy="457200"/>
          </a:xfrm>
          <a:prstGeom prst="rect">
            <a:avLst/>
          </a:prstGeom>
          <a:noFill/>
        </p:spPr>
        <p:txBody>
          <a:bodyPr wrap="square" anchor="t" lIns="36576" rIns="36576" tIns="36576" bIns="36576">
            <a:spAutoFit/>
          </a:bodyPr>
          <a:lstStyle/>
          <a:p>
            <a:pPr algn="l"/>
            <a:r>
              <a:rPr sz="1600" b="0" i="0">
                <a:solidFill>
                  <a:srgbClr val="9FB0C8"/>
                </a:solidFill>
                <a:latin typeface="Segoe UI"/>
              </a:rPr>
              <a:t>Software-defined object and file storage at petabyte scale</a:t>
            </a:r>
          </a:p>
        </p:txBody>
      </p:sp>
      <p:sp>
        <p:nvSpPr>
          <p:cNvPr id="7" name="TextBox 6"/>
          <p:cNvSpPr txBox="1"/>
          <p:nvPr/>
        </p:nvSpPr>
        <p:spPr>
          <a:xfrm>
            <a:off x="1051560" y="5212080"/>
            <a:ext cx="10058400" cy="365760"/>
          </a:xfrm>
          <a:prstGeom prst="rect">
            <a:avLst/>
          </a:prstGeom>
          <a:noFill/>
        </p:spPr>
        <p:txBody>
          <a:bodyPr wrap="square" anchor="t" lIns="36576" rIns="36576" tIns="36576" bIns="36576">
            <a:spAutoFit/>
          </a:bodyPr>
          <a:lstStyle/>
          <a:p>
            <a:pPr algn="l"/>
            <a:r>
              <a:rPr sz="1400" b="0" i="0">
                <a:solidFill>
                  <a:srgbClr val="C9D3E3"/>
                </a:solidFill>
                <a:latin typeface="Segoe UI"/>
              </a:rPr>
              <a:t>Presented by: &lt;Your name&gt;   |   &lt;Organisation&gt;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 name="Rectangle 2"/>
          <p:cNvSpPr/>
          <p:nvPr/>
        </p:nvSpPr>
        <p:spPr>
          <a:xfrm>
            <a:off x="0" y="914400"/>
            <a:ext cx="12191695" cy="54864"/>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4" name="TextBox 3"/>
          <p:cNvSpPr txBox="1"/>
          <p:nvPr/>
        </p:nvSpPr>
        <p:spPr>
          <a:xfrm>
            <a:off x="457200" y="182880"/>
            <a:ext cx="11247120" cy="548640"/>
          </a:xfrm>
          <a:prstGeom prst="rect">
            <a:avLst/>
          </a:prstGeom>
          <a:noFill/>
        </p:spPr>
        <p:txBody>
          <a:bodyPr wrap="square" anchor="ctr" lIns="36576" rIns="36576" tIns="36576" bIns="36576">
            <a:spAutoFit/>
          </a:bodyPr>
          <a:lstStyle/>
          <a:p>
            <a:pPr algn="l"/>
            <a:r>
              <a:rPr sz="2600" b="1" i="0">
                <a:solidFill>
                  <a:srgbClr val="FFFFFF"/>
                </a:solidFill>
                <a:latin typeface="Segoe UI"/>
              </a:rPr>
              <a:t>Agenda</a:t>
            </a:r>
          </a:p>
        </p:txBody>
      </p:sp>
      <p:sp>
        <p:nvSpPr>
          <p:cNvPr id="5" name="TextBox 4"/>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i="0">
                <a:solidFill>
                  <a:srgbClr val="5B6577"/>
                </a:solidFill>
                <a:latin typeface="Segoe UI"/>
              </a:rPr>
              <a:t>Scality RING  |  Architecture, Deployment &amp; Operations</a:t>
            </a:r>
          </a:p>
        </p:txBody>
      </p:sp>
      <p:sp>
        <p:nvSpPr>
          <p:cNvPr id="6" name="TextBox 5"/>
          <p:cNvSpPr txBox="1"/>
          <p:nvPr/>
        </p:nvSpPr>
        <p:spPr>
          <a:xfrm>
            <a:off x="10789920" y="6473952"/>
            <a:ext cx="914400" cy="274320"/>
          </a:xfrm>
          <a:prstGeom prst="rect">
            <a:avLst/>
          </a:prstGeom>
          <a:noFill/>
        </p:spPr>
        <p:txBody>
          <a:bodyPr wrap="square" anchor="t" lIns="36576" rIns="36576" tIns="36576" bIns="36576">
            <a:spAutoFit/>
          </a:bodyPr>
          <a:lstStyle/>
          <a:p>
            <a:pPr algn="r"/>
            <a:r>
              <a:rPr sz="1000" b="0" i="0">
                <a:solidFill>
                  <a:srgbClr val="5B6577"/>
                </a:solidFill>
                <a:latin typeface="Segoe UI"/>
              </a:rPr>
              <a:t>2</a:t>
            </a:r>
          </a:p>
        </p:txBody>
      </p:sp>
      <p:sp>
        <p:nvSpPr>
          <p:cNvPr id="7" name="Oval 6"/>
          <p:cNvSpPr/>
          <p:nvPr/>
        </p:nvSpPr>
        <p:spPr>
          <a:xfrm>
            <a:off x="822960" y="1417320"/>
            <a:ext cx="457200" cy="457200"/>
          </a:xfrm>
          <a:prstGeom prst="ellipse">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400" b="1" i="0">
                <a:solidFill>
                  <a:srgbClr val="FFFFFF"/>
                </a:solidFill>
                <a:latin typeface="Segoe UI"/>
              </a:rPr>
              <a:t>1</a:t>
            </a:r>
          </a:p>
        </p:txBody>
      </p:sp>
      <p:sp>
        <p:nvSpPr>
          <p:cNvPr id="8" name="TextBox 7"/>
          <p:cNvSpPr txBox="1"/>
          <p:nvPr/>
        </p:nvSpPr>
        <p:spPr>
          <a:xfrm>
            <a:off x="1463040" y="1435608"/>
            <a:ext cx="4754880" cy="457200"/>
          </a:xfrm>
          <a:prstGeom prst="rect">
            <a:avLst/>
          </a:prstGeom>
          <a:noFill/>
        </p:spPr>
        <p:txBody>
          <a:bodyPr wrap="square" anchor="ctr" lIns="36576" rIns="36576" tIns="36576" bIns="36576">
            <a:spAutoFit/>
          </a:bodyPr>
          <a:lstStyle/>
          <a:p>
            <a:pPr algn="l"/>
            <a:r>
              <a:rPr sz="1900" b="0" i="0">
                <a:solidFill>
                  <a:srgbClr val="1F2A44"/>
                </a:solidFill>
                <a:latin typeface="Segoe UI"/>
              </a:rPr>
              <a:t>Platform overview</a:t>
            </a:r>
          </a:p>
        </p:txBody>
      </p:sp>
      <p:sp>
        <p:nvSpPr>
          <p:cNvPr id="9" name="Oval 8"/>
          <p:cNvSpPr/>
          <p:nvPr/>
        </p:nvSpPr>
        <p:spPr>
          <a:xfrm>
            <a:off x="822960" y="2203704"/>
            <a:ext cx="457200" cy="457200"/>
          </a:xfrm>
          <a:prstGeom prst="ellipse">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400" b="1" i="0">
                <a:solidFill>
                  <a:srgbClr val="FFFFFF"/>
                </a:solidFill>
                <a:latin typeface="Segoe UI"/>
              </a:rPr>
              <a:t>2</a:t>
            </a:r>
          </a:p>
        </p:txBody>
      </p:sp>
      <p:sp>
        <p:nvSpPr>
          <p:cNvPr id="10" name="TextBox 9"/>
          <p:cNvSpPr txBox="1"/>
          <p:nvPr/>
        </p:nvSpPr>
        <p:spPr>
          <a:xfrm>
            <a:off x="1463040" y="2221992"/>
            <a:ext cx="4754880" cy="457200"/>
          </a:xfrm>
          <a:prstGeom prst="rect">
            <a:avLst/>
          </a:prstGeom>
          <a:noFill/>
        </p:spPr>
        <p:txBody>
          <a:bodyPr wrap="square" anchor="ctr" lIns="36576" rIns="36576" tIns="36576" bIns="36576">
            <a:spAutoFit/>
          </a:bodyPr>
          <a:lstStyle/>
          <a:p>
            <a:pPr algn="l"/>
            <a:r>
              <a:rPr sz="1900" b="0" i="0">
                <a:solidFill>
                  <a:srgbClr val="1F2A44"/>
                </a:solidFill>
                <a:latin typeface="Segoe UI"/>
              </a:rPr>
              <a:t>Architecture</a:t>
            </a:r>
          </a:p>
        </p:txBody>
      </p:sp>
      <p:sp>
        <p:nvSpPr>
          <p:cNvPr id="11" name="Oval 10"/>
          <p:cNvSpPr/>
          <p:nvPr/>
        </p:nvSpPr>
        <p:spPr>
          <a:xfrm>
            <a:off x="822960" y="2990088"/>
            <a:ext cx="457200" cy="457200"/>
          </a:xfrm>
          <a:prstGeom prst="ellipse">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400" b="1" i="0">
                <a:solidFill>
                  <a:srgbClr val="FFFFFF"/>
                </a:solidFill>
                <a:latin typeface="Segoe UI"/>
              </a:rPr>
              <a:t>3</a:t>
            </a:r>
          </a:p>
        </p:txBody>
      </p:sp>
      <p:sp>
        <p:nvSpPr>
          <p:cNvPr id="12" name="TextBox 11"/>
          <p:cNvSpPr txBox="1"/>
          <p:nvPr/>
        </p:nvSpPr>
        <p:spPr>
          <a:xfrm>
            <a:off x="1463040" y="3008376"/>
            <a:ext cx="4754880" cy="457200"/>
          </a:xfrm>
          <a:prstGeom prst="rect">
            <a:avLst/>
          </a:prstGeom>
          <a:noFill/>
        </p:spPr>
        <p:txBody>
          <a:bodyPr wrap="square" anchor="ctr" lIns="36576" rIns="36576" tIns="36576" bIns="36576">
            <a:spAutoFit/>
          </a:bodyPr>
          <a:lstStyle/>
          <a:p>
            <a:pPr algn="l"/>
            <a:r>
              <a:rPr sz="1900" b="0" i="0">
                <a:solidFill>
                  <a:srgbClr val="1F2A44"/>
                </a:solidFill>
                <a:latin typeface="Segoe UI"/>
              </a:rPr>
              <a:t>Data placement</a:t>
            </a:r>
          </a:p>
        </p:txBody>
      </p:sp>
      <p:sp>
        <p:nvSpPr>
          <p:cNvPr id="13" name="Oval 12"/>
          <p:cNvSpPr/>
          <p:nvPr/>
        </p:nvSpPr>
        <p:spPr>
          <a:xfrm>
            <a:off x="822960" y="3776472"/>
            <a:ext cx="457200" cy="457200"/>
          </a:xfrm>
          <a:prstGeom prst="ellipse">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400" b="1" i="0">
                <a:solidFill>
                  <a:srgbClr val="FFFFFF"/>
                </a:solidFill>
                <a:latin typeface="Segoe UI"/>
              </a:rPr>
              <a:t>4</a:t>
            </a:r>
          </a:p>
        </p:txBody>
      </p:sp>
      <p:sp>
        <p:nvSpPr>
          <p:cNvPr id="14" name="TextBox 13"/>
          <p:cNvSpPr txBox="1"/>
          <p:nvPr/>
        </p:nvSpPr>
        <p:spPr>
          <a:xfrm>
            <a:off x="1463040" y="3794759"/>
            <a:ext cx="4754880" cy="457200"/>
          </a:xfrm>
          <a:prstGeom prst="rect">
            <a:avLst/>
          </a:prstGeom>
          <a:noFill/>
        </p:spPr>
        <p:txBody>
          <a:bodyPr wrap="square" anchor="ctr" lIns="36576" rIns="36576" tIns="36576" bIns="36576">
            <a:spAutoFit/>
          </a:bodyPr>
          <a:lstStyle/>
          <a:p>
            <a:pPr algn="l"/>
            <a:r>
              <a:rPr sz="1900" b="0" i="0">
                <a:solidFill>
                  <a:srgbClr val="1F2A44"/>
                </a:solidFill>
                <a:latin typeface="Segoe UI"/>
              </a:rPr>
              <a:t>Data protection</a:t>
            </a:r>
          </a:p>
        </p:txBody>
      </p:sp>
      <p:sp>
        <p:nvSpPr>
          <p:cNvPr id="15" name="Oval 14"/>
          <p:cNvSpPr/>
          <p:nvPr/>
        </p:nvSpPr>
        <p:spPr>
          <a:xfrm>
            <a:off x="822960" y="4562856"/>
            <a:ext cx="457200" cy="457200"/>
          </a:xfrm>
          <a:prstGeom prst="ellipse">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400" b="1" i="0">
                <a:solidFill>
                  <a:srgbClr val="FFFFFF"/>
                </a:solidFill>
                <a:latin typeface="Segoe UI"/>
              </a:rPr>
              <a:t>5</a:t>
            </a:r>
          </a:p>
        </p:txBody>
      </p:sp>
      <p:sp>
        <p:nvSpPr>
          <p:cNvPr id="16" name="TextBox 15"/>
          <p:cNvSpPr txBox="1"/>
          <p:nvPr/>
        </p:nvSpPr>
        <p:spPr>
          <a:xfrm>
            <a:off x="1463040" y="4581144"/>
            <a:ext cx="4754880" cy="457200"/>
          </a:xfrm>
          <a:prstGeom prst="rect">
            <a:avLst/>
          </a:prstGeom>
          <a:noFill/>
        </p:spPr>
        <p:txBody>
          <a:bodyPr wrap="square" anchor="ctr" lIns="36576" rIns="36576" tIns="36576" bIns="36576">
            <a:spAutoFit/>
          </a:bodyPr>
          <a:lstStyle/>
          <a:p>
            <a:pPr algn="l"/>
            <a:r>
              <a:rPr sz="1900" b="0" i="0">
                <a:solidFill>
                  <a:srgbClr val="1F2A44"/>
                </a:solidFill>
                <a:latin typeface="Segoe UI"/>
              </a:rPr>
              <a:t>Data path: write &amp; read</a:t>
            </a:r>
          </a:p>
        </p:txBody>
      </p:sp>
      <p:sp>
        <p:nvSpPr>
          <p:cNvPr id="17" name="Oval 16"/>
          <p:cNvSpPr/>
          <p:nvPr/>
        </p:nvSpPr>
        <p:spPr>
          <a:xfrm>
            <a:off x="822960" y="5349240"/>
            <a:ext cx="457200" cy="457200"/>
          </a:xfrm>
          <a:prstGeom prst="ellipse">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400" b="1" i="0">
                <a:solidFill>
                  <a:srgbClr val="FFFFFF"/>
                </a:solidFill>
                <a:latin typeface="Segoe UI"/>
              </a:rPr>
              <a:t>6</a:t>
            </a:r>
          </a:p>
        </p:txBody>
      </p:sp>
      <p:sp>
        <p:nvSpPr>
          <p:cNvPr id="18" name="TextBox 17"/>
          <p:cNvSpPr txBox="1"/>
          <p:nvPr/>
        </p:nvSpPr>
        <p:spPr>
          <a:xfrm>
            <a:off x="1463040" y="5367527"/>
            <a:ext cx="4754880" cy="457200"/>
          </a:xfrm>
          <a:prstGeom prst="rect">
            <a:avLst/>
          </a:prstGeom>
          <a:noFill/>
        </p:spPr>
        <p:txBody>
          <a:bodyPr wrap="square" anchor="ctr" lIns="36576" rIns="36576" tIns="36576" bIns="36576">
            <a:spAutoFit/>
          </a:bodyPr>
          <a:lstStyle/>
          <a:p>
            <a:pPr algn="l"/>
            <a:r>
              <a:rPr sz="1900" b="0" i="0">
                <a:solidFill>
                  <a:srgbClr val="1F2A44"/>
                </a:solidFill>
                <a:latin typeface="Segoe UI"/>
              </a:rPr>
              <a:t>Resilience &amp; self-healing</a:t>
            </a:r>
          </a:p>
        </p:txBody>
      </p:sp>
      <p:sp>
        <p:nvSpPr>
          <p:cNvPr id="19" name="Oval 18"/>
          <p:cNvSpPr/>
          <p:nvPr/>
        </p:nvSpPr>
        <p:spPr>
          <a:xfrm>
            <a:off x="6492240" y="1417320"/>
            <a:ext cx="457200" cy="457200"/>
          </a:xfrm>
          <a:prstGeom prst="ellipse">
            <a:avLst/>
          </a:prstGeom>
          <a:solidFill>
            <a:srgbClr val="E88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400" b="1" i="0">
                <a:solidFill>
                  <a:srgbClr val="FFFFFF"/>
                </a:solidFill>
                <a:latin typeface="Segoe UI"/>
              </a:rPr>
              <a:t>7</a:t>
            </a:r>
          </a:p>
        </p:txBody>
      </p:sp>
      <p:sp>
        <p:nvSpPr>
          <p:cNvPr id="20" name="TextBox 19"/>
          <p:cNvSpPr txBox="1"/>
          <p:nvPr/>
        </p:nvSpPr>
        <p:spPr>
          <a:xfrm>
            <a:off x="7132320" y="1435608"/>
            <a:ext cx="4754880" cy="457200"/>
          </a:xfrm>
          <a:prstGeom prst="rect">
            <a:avLst/>
          </a:prstGeom>
          <a:noFill/>
        </p:spPr>
        <p:txBody>
          <a:bodyPr wrap="square" anchor="ctr" lIns="36576" rIns="36576" tIns="36576" bIns="36576">
            <a:spAutoFit/>
          </a:bodyPr>
          <a:lstStyle/>
          <a:p>
            <a:pPr algn="l"/>
            <a:r>
              <a:rPr sz="1900" b="0" i="0">
                <a:solidFill>
                  <a:srgbClr val="1F2A44"/>
                </a:solidFill>
                <a:latin typeface="Segoe UI"/>
              </a:rPr>
              <a:t>Scalability</a:t>
            </a:r>
          </a:p>
        </p:txBody>
      </p:sp>
      <p:sp>
        <p:nvSpPr>
          <p:cNvPr id="21" name="Oval 20"/>
          <p:cNvSpPr/>
          <p:nvPr/>
        </p:nvSpPr>
        <p:spPr>
          <a:xfrm>
            <a:off x="6492240" y="2203704"/>
            <a:ext cx="457200" cy="457200"/>
          </a:xfrm>
          <a:prstGeom prst="ellipse">
            <a:avLst/>
          </a:prstGeom>
          <a:solidFill>
            <a:srgbClr val="E88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400" b="1" i="0">
                <a:solidFill>
                  <a:srgbClr val="FFFFFF"/>
                </a:solidFill>
                <a:latin typeface="Segoe UI"/>
              </a:rPr>
              <a:t>8</a:t>
            </a:r>
          </a:p>
        </p:txBody>
      </p:sp>
      <p:sp>
        <p:nvSpPr>
          <p:cNvPr id="22" name="TextBox 21"/>
          <p:cNvSpPr txBox="1"/>
          <p:nvPr/>
        </p:nvSpPr>
        <p:spPr>
          <a:xfrm>
            <a:off x="7132320" y="2221992"/>
            <a:ext cx="4754880" cy="457200"/>
          </a:xfrm>
          <a:prstGeom prst="rect">
            <a:avLst/>
          </a:prstGeom>
          <a:noFill/>
        </p:spPr>
        <p:txBody>
          <a:bodyPr wrap="square" anchor="ctr" lIns="36576" rIns="36576" tIns="36576" bIns="36576">
            <a:spAutoFit/>
          </a:bodyPr>
          <a:lstStyle/>
          <a:p>
            <a:pPr algn="l"/>
            <a:r>
              <a:rPr sz="1900" b="0" i="0">
                <a:solidFill>
                  <a:srgbClr val="1F2A44"/>
                </a:solidFill>
                <a:latin typeface="Segoe UI"/>
              </a:rPr>
              <a:t>Multi-site &amp; disaster recovery</a:t>
            </a:r>
          </a:p>
        </p:txBody>
      </p:sp>
      <p:sp>
        <p:nvSpPr>
          <p:cNvPr id="23" name="Oval 22"/>
          <p:cNvSpPr/>
          <p:nvPr/>
        </p:nvSpPr>
        <p:spPr>
          <a:xfrm>
            <a:off x="6492240" y="2990088"/>
            <a:ext cx="457200" cy="457200"/>
          </a:xfrm>
          <a:prstGeom prst="ellipse">
            <a:avLst/>
          </a:prstGeom>
          <a:solidFill>
            <a:srgbClr val="E88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400" b="1" i="0">
                <a:solidFill>
                  <a:srgbClr val="FFFFFF"/>
                </a:solidFill>
                <a:latin typeface="Segoe UI"/>
              </a:rPr>
              <a:t>9</a:t>
            </a:r>
          </a:p>
        </p:txBody>
      </p:sp>
      <p:sp>
        <p:nvSpPr>
          <p:cNvPr id="24" name="TextBox 23"/>
          <p:cNvSpPr txBox="1"/>
          <p:nvPr/>
        </p:nvSpPr>
        <p:spPr>
          <a:xfrm>
            <a:off x="7132320" y="3008376"/>
            <a:ext cx="4754880" cy="457200"/>
          </a:xfrm>
          <a:prstGeom prst="rect">
            <a:avLst/>
          </a:prstGeom>
          <a:noFill/>
        </p:spPr>
        <p:txBody>
          <a:bodyPr wrap="square" anchor="ctr" lIns="36576" rIns="36576" tIns="36576" bIns="36576">
            <a:spAutoFit/>
          </a:bodyPr>
          <a:lstStyle/>
          <a:p>
            <a:pPr algn="l"/>
            <a:r>
              <a:rPr sz="1900" b="0" i="0">
                <a:solidFill>
                  <a:srgbClr val="1F2A44"/>
                </a:solidFill>
                <a:latin typeface="Segoe UI"/>
              </a:rPr>
              <a:t>Network &amp; security</a:t>
            </a:r>
          </a:p>
        </p:txBody>
      </p:sp>
      <p:sp>
        <p:nvSpPr>
          <p:cNvPr id="25" name="Oval 24"/>
          <p:cNvSpPr/>
          <p:nvPr/>
        </p:nvSpPr>
        <p:spPr>
          <a:xfrm>
            <a:off x="6492240" y="3776472"/>
            <a:ext cx="457200" cy="457200"/>
          </a:xfrm>
          <a:prstGeom prst="ellipse">
            <a:avLst/>
          </a:prstGeom>
          <a:solidFill>
            <a:srgbClr val="E88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400" b="1" i="0">
                <a:solidFill>
                  <a:srgbClr val="FFFFFF"/>
                </a:solidFill>
                <a:latin typeface="Segoe UI"/>
              </a:rPr>
              <a:t>10</a:t>
            </a:r>
          </a:p>
        </p:txBody>
      </p:sp>
      <p:sp>
        <p:nvSpPr>
          <p:cNvPr id="26" name="TextBox 25"/>
          <p:cNvSpPr txBox="1"/>
          <p:nvPr/>
        </p:nvSpPr>
        <p:spPr>
          <a:xfrm>
            <a:off x="7132320" y="3794759"/>
            <a:ext cx="4754880" cy="457200"/>
          </a:xfrm>
          <a:prstGeom prst="rect">
            <a:avLst/>
          </a:prstGeom>
          <a:noFill/>
        </p:spPr>
        <p:txBody>
          <a:bodyPr wrap="square" anchor="ctr" lIns="36576" rIns="36576" tIns="36576" bIns="36576">
            <a:spAutoFit/>
          </a:bodyPr>
          <a:lstStyle/>
          <a:p>
            <a:pPr algn="l"/>
            <a:r>
              <a:rPr sz="1900" b="0" i="0">
                <a:solidFill>
                  <a:srgbClr val="1F2A44"/>
                </a:solidFill>
                <a:latin typeface="Segoe UI"/>
              </a:rPr>
              <a:t>Our deployment &amp; sizing</a:t>
            </a:r>
          </a:p>
        </p:txBody>
      </p:sp>
      <p:sp>
        <p:nvSpPr>
          <p:cNvPr id="27" name="Oval 26"/>
          <p:cNvSpPr/>
          <p:nvPr/>
        </p:nvSpPr>
        <p:spPr>
          <a:xfrm>
            <a:off x="6492240" y="4562856"/>
            <a:ext cx="457200" cy="457200"/>
          </a:xfrm>
          <a:prstGeom prst="ellipse">
            <a:avLst/>
          </a:prstGeom>
          <a:solidFill>
            <a:srgbClr val="E88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400" b="1" i="0">
                <a:solidFill>
                  <a:srgbClr val="FFFFFF"/>
                </a:solidFill>
                <a:latin typeface="Segoe UI"/>
              </a:rPr>
              <a:t>11</a:t>
            </a:r>
          </a:p>
        </p:txBody>
      </p:sp>
      <p:sp>
        <p:nvSpPr>
          <p:cNvPr id="28" name="TextBox 27"/>
          <p:cNvSpPr txBox="1"/>
          <p:nvPr/>
        </p:nvSpPr>
        <p:spPr>
          <a:xfrm>
            <a:off x="7132320" y="4581144"/>
            <a:ext cx="4754880" cy="457200"/>
          </a:xfrm>
          <a:prstGeom prst="rect">
            <a:avLst/>
          </a:prstGeom>
          <a:noFill/>
        </p:spPr>
        <p:txBody>
          <a:bodyPr wrap="square" anchor="ctr" lIns="36576" rIns="36576" tIns="36576" bIns="36576">
            <a:spAutoFit/>
          </a:bodyPr>
          <a:lstStyle/>
          <a:p>
            <a:pPr algn="l"/>
            <a:r>
              <a:rPr sz="1900" b="0" i="0">
                <a:solidFill>
                  <a:srgbClr val="1F2A44"/>
                </a:solidFill>
                <a:latin typeface="Segoe UI"/>
              </a:rPr>
              <a:t>Operations &amp; monitoring</a:t>
            </a:r>
          </a:p>
        </p:txBody>
      </p:sp>
      <p:sp>
        <p:nvSpPr>
          <p:cNvPr id="29" name="Oval 28"/>
          <p:cNvSpPr/>
          <p:nvPr/>
        </p:nvSpPr>
        <p:spPr>
          <a:xfrm>
            <a:off x="6492240" y="5349240"/>
            <a:ext cx="457200" cy="457200"/>
          </a:xfrm>
          <a:prstGeom prst="ellipse">
            <a:avLst/>
          </a:prstGeom>
          <a:solidFill>
            <a:srgbClr val="E88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400" b="1" i="0">
                <a:solidFill>
                  <a:srgbClr val="FFFFFF"/>
                </a:solidFill>
                <a:latin typeface="Segoe UI"/>
              </a:rPr>
              <a:t>12</a:t>
            </a:r>
          </a:p>
        </p:txBody>
      </p:sp>
      <p:sp>
        <p:nvSpPr>
          <p:cNvPr id="30" name="TextBox 29"/>
          <p:cNvSpPr txBox="1"/>
          <p:nvPr/>
        </p:nvSpPr>
        <p:spPr>
          <a:xfrm>
            <a:off x="7132320" y="5367527"/>
            <a:ext cx="4754880" cy="457200"/>
          </a:xfrm>
          <a:prstGeom prst="rect">
            <a:avLst/>
          </a:prstGeom>
          <a:noFill/>
        </p:spPr>
        <p:txBody>
          <a:bodyPr wrap="square" anchor="ctr" lIns="36576" rIns="36576" tIns="36576" bIns="36576">
            <a:spAutoFit/>
          </a:bodyPr>
          <a:lstStyle/>
          <a:p>
            <a:pPr algn="l"/>
            <a:r>
              <a:rPr sz="1900" b="0" i="0">
                <a:solidFill>
                  <a:srgbClr val="1F2A44"/>
                </a:solidFill>
                <a:latin typeface="Segoe UI"/>
              </a:rPr>
              <a:t>Summary &amp; Q&amp;A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 name="Rectangle 2"/>
          <p:cNvSpPr/>
          <p:nvPr/>
        </p:nvSpPr>
        <p:spPr>
          <a:xfrm>
            <a:off x="0" y="914400"/>
            <a:ext cx="12191695" cy="54864"/>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4" name="TextBox 3"/>
          <p:cNvSpPr txBox="1"/>
          <p:nvPr/>
        </p:nvSpPr>
        <p:spPr>
          <a:xfrm>
            <a:off x="457200" y="91440"/>
            <a:ext cx="11247120" cy="502920"/>
          </a:xfrm>
          <a:prstGeom prst="rect">
            <a:avLst/>
          </a:prstGeom>
          <a:noFill/>
        </p:spPr>
        <p:txBody>
          <a:bodyPr wrap="square" anchor="ctr" lIns="36576" rIns="36576" tIns="36576" bIns="36576">
            <a:spAutoFit/>
          </a:bodyPr>
          <a:lstStyle/>
          <a:p>
            <a:pPr algn="l"/>
            <a:r>
              <a:rPr sz="2600" b="1" i="0">
                <a:solidFill>
                  <a:srgbClr val="FFFFFF"/>
                </a:solidFill>
                <a:latin typeface="Segoe UI"/>
              </a:rPr>
              <a:t>Scality RING at a Glance</a:t>
            </a:r>
          </a:p>
        </p:txBody>
      </p:sp>
      <p:sp>
        <p:nvSpPr>
          <p:cNvPr id="5" name="TextBox 4"/>
          <p:cNvSpPr txBox="1"/>
          <p:nvPr/>
        </p:nvSpPr>
        <p:spPr>
          <a:xfrm>
            <a:off x="457200" y="548640"/>
            <a:ext cx="11247120" cy="320040"/>
          </a:xfrm>
          <a:prstGeom prst="rect">
            <a:avLst/>
          </a:prstGeom>
          <a:noFill/>
        </p:spPr>
        <p:txBody>
          <a:bodyPr wrap="square" anchor="t" lIns="36576" rIns="36576" tIns="36576" bIns="36576">
            <a:spAutoFit/>
          </a:bodyPr>
          <a:lstStyle/>
          <a:p>
            <a:pPr algn="l"/>
            <a:r>
              <a:rPr sz="1300" b="0" i="0">
                <a:solidFill>
                  <a:srgbClr val="C9D3E3"/>
                </a:solidFill>
                <a:latin typeface="Segoe UI"/>
              </a:rPr>
              <a:t>Enterprise storage built from standard servers</a:t>
            </a:r>
          </a:p>
        </p:txBody>
      </p:sp>
      <p:sp>
        <p:nvSpPr>
          <p:cNvPr id="6" name="TextBox 5"/>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i="0">
                <a:solidFill>
                  <a:srgbClr val="5B6577"/>
                </a:solidFill>
                <a:latin typeface="Segoe UI"/>
              </a:rPr>
              <a:t>Scality RING  |  Architecture, Deployment &amp; Operations</a:t>
            </a:r>
          </a:p>
        </p:txBody>
      </p:sp>
      <p:sp>
        <p:nvSpPr>
          <p:cNvPr id="7" name="TextBox 6"/>
          <p:cNvSpPr txBox="1"/>
          <p:nvPr/>
        </p:nvSpPr>
        <p:spPr>
          <a:xfrm>
            <a:off x="10789920" y="6473952"/>
            <a:ext cx="914400" cy="274320"/>
          </a:xfrm>
          <a:prstGeom prst="rect">
            <a:avLst/>
          </a:prstGeom>
          <a:noFill/>
        </p:spPr>
        <p:txBody>
          <a:bodyPr wrap="square" anchor="t" lIns="36576" rIns="36576" tIns="36576" bIns="36576">
            <a:spAutoFit/>
          </a:bodyPr>
          <a:lstStyle/>
          <a:p>
            <a:pPr algn="r"/>
            <a:r>
              <a:rPr sz="1000" b="0" i="0">
                <a:solidFill>
                  <a:srgbClr val="5B6577"/>
                </a:solidFill>
                <a:latin typeface="Segoe UI"/>
              </a:rPr>
              <a:t>3</a:t>
            </a:r>
          </a:p>
        </p:txBody>
      </p:sp>
      <p:sp>
        <p:nvSpPr>
          <p:cNvPr id="8" name="Rounded Rectangle 7"/>
          <p:cNvSpPr/>
          <p:nvPr/>
        </p:nvSpPr>
        <p:spPr>
          <a:xfrm>
            <a:off x="457200" y="1325880"/>
            <a:ext cx="3639312" cy="164592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54864" bIns="54864"/>
          <a:lstStyle/>
          <a:p>
            <a:pPr algn="l">
              <a:spcAft>
                <a:spcPts val="800"/>
              </a:spcAft>
            </a:pPr>
            <a:r>
              <a:rPr sz="1800" b="1" i="0">
                <a:solidFill>
                  <a:srgbClr val="0F7C8C"/>
                </a:solidFill>
                <a:latin typeface="Segoe UI"/>
              </a:rPr>
              <a:t>Software-defined</a:t>
            </a:r>
          </a:p>
          <a:p>
            <a:pPr algn="l"/>
            <a:r>
              <a:rPr sz="1500" b="0" i="0">
                <a:solidFill>
                  <a:srgbClr val="2B2F36"/>
                </a:solidFill>
                <a:latin typeface="Segoe UI"/>
              </a:rPr>
              <a:t>Runs on standard x86 servers. No proprietary hardware, no vendor lock-in.</a:t>
            </a:r>
          </a:p>
        </p:txBody>
      </p:sp>
      <p:sp>
        <p:nvSpPr>
          <p:cNvPr id="9" name="Rectangle 8"/>
          <p:cNvSpPr/>
          <p:nvPr/>
        </p:nvSpPr>
        <p:spPr>
          <a:xfrm>
            <a:off x="457200" y="1325880"/>
            <a:ext cx="73152" cy="16459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0" name="Rounded Rectangle 9"/>
          <p:cNvSpPr/>
          <p:nvPr/>
        </p:nvSpPr>
        <p:spPr>
          <a:xfrm>
            <a:off x="4279392" y="1325880"/>
            <a:ext cx="3639312" cy="164592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54864" bIns="54864"/>
          <a:lstStyle/>
          <a:p>
            <a:pPr algn="l">
              <a:spcAft>
                <a:spcPts val="800"/>
              </a:spcAft>
            </a:pPr>
            <a:r>
              <a:rPr sz="1800" b="1" i="0">
                <a:solidFill>
                  <a:srgbClr val="0F7C8C"/>
                </a:solidFill>
                <a:latin typeface="Segoe UI"/>
              </a:rPr>
              <a:t>No single point of failure</a:t>
            </a:r>
          </a:p>
          <a:p>
            <a:pPr algn="l"/>
            <a:r>
              <a:rPr sz="1500" b="0" i="0">
                <a:solidFill>
                  <a:srgbClr val="2B2F36"/>
                </a:solidFill>
                <a:latin typeface="Segoe UI"/>
              </a:rPr>
              <a:t>Peer-to-peer design. Every component is redundant.</a:t>
            </a:r>
          </a:p>
        </p:txBody>
      </p:sp>
      <p:sp>
        <p:nvSpPr>
          <p:cNvPr id="11" name="Rectangle 10"/>
          <p:cNvSpPr/>
          <p:nvPr/>
        </p:nvSpPr>
        <p:spPr>
          <a:xfrm>
            <a:off x="4279392" y="1325880"/>
            <a:ext cx="73152" cy="16459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2" name="Rounded Rectangle 11"/>
          <p:cNvSpPr/>
          <p:nvPr/>
        </p:nvSpPr>
        <p:spPr>
          <a:xfrm>
            <a:off x="8101583" y="1325880"/>
            <a:ext cx="3639312" cy="164592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54864" bIns="54864"/>
          <a:lstStyle/>
          <a:p>
            <a:pPr algn="l">
              <a:spcAft>
                <a:spcPts val="800"/>
              </a:spcAft>
            </a:pPr>
            <a:r>
              <a:rPr sz="1800" b="1" i="0">
                <a:solidFill>
                  <a:srgbClr val="0F7C8C"/>
                </a:solidFill>
                <a:latin typeface="Segoe UI"/>
              </a:rPr>
              <a:t>Policy-based protection</a:t>
            </a:r>
          </a:p>
          <a:p>
            <a:pPr algn="l"/>
            <a:r>
              <a:rPr sz="1500" b="0" i="0">
                <a:solidFill>
                  <a:srgbClr val="2B2F36"/>
                </a:solidFill>
                <a:latin typeface="Segoe UI"/>
              </a:rPr>
              <a:t>Replication for small objects, erasure coding for large objects.</a:t>
            </a:r>
          </a:p>
        </p:txBody>
      </p:sp>
      <p:sp>
        <p:nvSpPr>
          <p:cNvPr id="13" name="Rectangle 12"/>
          <p:cNvSpPr/>
          <p:nvPr/>
        </p:nvSpPr>
        <p:spPr>
          <a:xfrm>
            <a:off x="8101583" y="1325880"/>
            <a:ext cx="73152" cy="16459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4" name="Rounded Rectangle 13"/>
          <p:cNvSpPr/>
          <p:nvPr/>
        </p:nvSpPr>
        <p:spPr>
          <a:xfrm>
            <a:off x="457200" y="3200400"/>
            <a:ext cx="3639312" cy="164592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54864" bIns="54864"/>
          <a:lstStyle/>
          <a:p>
            <a:pPr algn="l">
              <a:spcAft>
                <a:spcPts val="800"/>
              </a:spcAft>
            </a:pPr>
            <a:r>
              <a:rPr sz="1800" b="1" i="0">
                <a:solidFill>
                  <a:srgbClr val="0F7C8C"/>
                </a:solidFill>
                <a:latin typeface="Segoe UI"/>
              </a:rPr>
              <a:t>Self-healing</a:t>
            </a:r>
          </a:p>
          <a:p>
            <a:pPr algn="l"/>
            <a:r>
              <a:rPr sz="1500" b="0" i="0">
                <a:solidFill>
                  <a:srgbClr val="2B2F36"/>
                </a:solidFill>
                <a:latin typeface="Segoe UI"/>
              </a:rPr>
              <a:t>Failed disks and servers are rebuilt automatically, without client impact.</a:t>
            </a:r>
          </a:p>
        </p:txBody>
      </p:sp>
      <p:sp>
        <p:nvSpPr>
          <p:cNvPr id="15" name="Rectangle 14"/>
          <p:cNvSpPr/>
          <p:nvPr/>
        </p:nvSpPr>
        <p:spPr>
          <a:xfrm>
            <a:off x="457200" y="3200400"/>
            <a:ext cx="73152" cy="16459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 name="Rounded Rectangle 15"/>
          <p:cNvSpPr/>
          <p:nvPr/>
        </p:nvSpPr>
        <p:spPr>
          <a:xfrm>
            <a:off x="4279392" y="3200400"/>
            <a:ext cx="3639312" cy="164592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54864" bIns="54864"/>
          <a:lstStyle/>
          <a:p>
            <a:pPr algn="l">
              <a:spcAft>
                <a:spcPts val="800"/>
              </a:spcAft>
            </a:pPr>
            <a:r>
              <a:rPr sz="1800" b="1" i="0">
                <a:solidFill>
                  <a:srgbClr val="0F7C8C"/>
                </a:solidFill>
                <a:latin typeface="Segoe UI"/>
              </a:rPr>
              <a:t>Linear scale-out</a:t>
            </a:r>
          </a:p>
          <a:p>
            <a:pPr algn="l"/>
            <a:r>
              <a:rPr sz="1500" b="0" i="0">
                <a:solidFill>
                  <a:srgbClr val="2B2F36"/>
                </a:solidFill>
                <a:latin typeface="Segoe UI"/>
              </a:rPr>
              <a:t>Add servers to grow capacity and performance, without downtime.</a:t>
            </a:r>
          </a:p>
        </p:txBody>
      </p:sp>
      <p:sp>
        <p:nvSpPr>
          <p:cNvPr id="17" name="Rectangle 16"/>
          <p:cNvSpPr/>
          <p:nvPr/>
        </p:nvSpPr>
        <p:spPr>
          <a:xfrm>
            <a:off x="4279392" y="3200400"/>
            <a:ext cx="73152" cy="16459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8" name="Rounded Rectangle 17"/>
          <p:cNvSpPr/>
          <p:nvPr/>
        </p:nvSpPr>
        <p:spPr>
          <a:xfrm>
            <a:off x="8101583" y="3200400"/>
            <a:ext cx="3639312" cy="164592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54864" bIns="54864"/>
          <a:lstStyle/>
          <a:p>
            <a:pPr algn="l">
              <a:spcAft>
                <a:spcPts val="800"/>
              </a:spcAft>
            </a:pPr>
            <a:r>
              <a:rPr sz="1800" b="1" i="0">
                <a:solidFill>
                  <a:srgbClr val="0F7C8C"/>
                </a:solidFill>
                <a:latin typeface="Segoe UI"/>
              </a:rPr>
              <a:t>Multi-protocol</a:t>
            </a:r>
          </a:p>
          <a:p>
            <a:pPr algn="l"/>
            <a:r>
              <a:rPr sz="1500" b="0" i="0">
                <a:solidFill>
                  <a:srgbClr val="2B2F36"/>
                </a:solidFill>
                <a:latin typeface="Segoe UI"/>
              </a:rPr>
              <a:t>S3 object, NFS and SMB file, and native REST on one platform.</a:t>
            </a:r>
          </a:p>
        </p:txBody>
      </p:sp>
      <p:sp>
        <p:nvSpPr>
          <p:cNvPr id="19" name="Rectangle 18"/>
          <p:cNvSpPr/>
          <p:nvPr/>
        </p:nvSpPr>
        <p:spPr>
          <a:xfrm>
            <a:off x="8101583" y="3200400"/>
            <a:ext cx="73152" cy="16459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20" name="Rounded Rectangle 19"/>
          <p:cNvSpPr/>
          <p:nvPr/>
        </p:nvSpPr>
        <p:spPr>
          <a:xfrm>
            <a:off x="457200" y="5257800"/>
            <a:ext cx="11292840" cy="86868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C9D3E3"/>
                </a:solidFill>
                <a:latin typeface="Segoe UI"/>
              </a:rPr>
              <a:t>Typical use cases</a:t>
            </a:r>
          </a:p>
          <a:p>
            <a:pPr algn="ctr"/>
            <a:r>
              <a:rPr sz="1400" b="0" i="0">
                <a:solidFill>
                  <a:srgbClr val="FFFFFF"/>
                </a:solidFill>
                <a:latin typeface="Segoe UI"/>
              </a:rPr>
              <a:t>Backup &amp; ransomware-resilient recovery   •   Media &amp; archive   •   Medical imaging   •   Data lakes &amp; analytics   •   Private cloud storage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 name="Rectangle 2"/>
          <p:cNvSpPr/>
          <p:nvPr/>
        </p:nvSpPr>
        <p:spPr>
          <a:xfrm>
            <a:off x="0" y="914400"/>
            <a:ext cx="12191695" cy="54864"/>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4" name="TextBox 3"/>
          <p:cNvSpPr txBox="1"/>
          <p:nvPr/>
        </p:nvSpPr>
        <p:spPr>
          <a:xfrm>
            <a:off x="457200" y="91440"/>
            <a:ext cx="11247120" cy="502920"/>
          </a:xfrm>
          <a:prstGeom prst="rect">
            <a:avLst/>
          </a:prstGeom>
          <a:noFill/>
        </p:spPr>
        <p:txBody>
          <a:bodyPr wrap="square" anchor="ctr" lIns="36576" rIns="36576" tIns="36576" bIns="36576">
            <a:spAutoFit/>
          </a:bodyPr>
          <a:lstStyle/>
          <a:p>
            <a:pPr algn="l"/>
            <a:r>
              <a:rPr sz="2600" b="1" i="0">
                <a:solidFill>
                  <a:srgbClr val="FFFFFF"/>
                </a:solidFill>
                <a:latin typeface="Segoe UI"/>
              </a:rPr>
              <a:t>Architecture Overview</a:t>
            </a:r>
          </a:p>
        </p:txBody>
      </p:sp>
      <p:sp>
        <p:nvSpPr>
          <p:cNvPr id="5" name="TextBox 4"/>
          <p:cNvSpPr txBox="1"/>
          <p:nvPr/>
        </p:nvSpPr>
        <p:spPr>
          <a:xfrm>
            <a:off x="457200" y="548640"/>
            <a:ext cx="11247120" cy="320040"/>
          </a:xfrm>
          <a:prstGeom prst="rect">
            <a:avLst/>
          </a:prstGeom>
          <a:noFill/>
        </p:spPr>
        <p:txBody>
          <a:bodyPr wrap="square" anchor="t" lIns="36576" rIns="36576" tIns="36576" bIns="36576">
            <a:spAutoFit/>
          </a:bodyPr>
          <a:lstStyle/>
          <a:p>
            <a:pPr algn="l"/>
            <a:r>
              <a:rPr sz="1300" b="0" i="0">
                <a:solidFill>
                  <a:srgbClr val="C9D3E3"/>
                </a:solidFill>
                <a:latin typeface="Segoe UI"/>
              </a:rPr>
              <a:t>Three layers: access, storage and management</a:t>
            </a:r>
          </a:p>
        </p:txBody>
      </p:sp>
      <p:sp>
        <p:nvSpPr>
          <p:cNvPr id="6" name="TextBox 5"/>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i="0">
                <a:solidFill>
                  <a:srgbClr val="5B6577"/>
                </a:solidFill>
                <a:latin typeface="Segoe UI"/>
              </a:rPr>
              <a:t>Scality RING  |  Architecture, Deployment &amp; Operations</a:t>
            </a:r>
          </a:p>
        </p:txBody>
      </p:sp>
      <p:sp>
        <p:nvSpPr>
          <p:cNvPr id="7" name="TextBox 6"/>
          <p:cNvSpPr txBox="1"/>
          <p:nvPr/>
        </p:nvSpPr>
        <p:spPr>
          <a:xfrm>
            <a:off x="10789920" y="6473952"/>
            <a:ext cx="914400" cy="274320"/>
          </a:xfrm>
          <a:prstGeom prst="rect">
            <a:avLst/>
          </a:prstGeom>
          <a:noFill/>
        </p:spPr>
        <p:txBody>
          <a:bodyPr wrap="square" anchor="t" lIns="36576" rIns="36576" tIns="36576" bIns="36576">
            <a:spAutoFit/>
          </a:bodyPr>
          <a:lstStyle/>
          <a:p>
            <a:pPr algn="r"/>
            <a:r>
              <a:rPr sz="1000" b="0" i="0">
                <a:solidFill>
                  <a:srgbClr val="5B6577"/>
                </a:solidFill>
                <a:latin typeface="Segoe UI"/>
              </a:rPr>
              <a:t>4</a:t>
            </a:r>
          </a:p>
        </p:txBody>
      </p:sp>
      <p:sp>
        <p:nvSpPr>
          <p:cNvPr id="8" name="Rounded Rectangle 7"/>
          <p:cNvSpPr/>
          <p:nvPr/>
        </p:nvSpPr>
        <p:spPr>
          <a:xfrm>
            <a:off x="548640" y="1234440"/>
            <a:ext cx="1920240" cy="59436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0" i="0">
                <a:solidFill>
                  <a:srgbClr val="1F2A44"/>
                </a:solidFill>
                <a:latin typeface="Segoe UI"/>
              </a:rPr>
              <a:t>Backup software</a:t>
            </a:r>
          </a:p>
        </p:txBody>
      </p:sp>
      <p:cxnSp>
        <p:nvCxnSpPr>
          <p:cNvPr id="9" name="Connector 8"/>
          <p:cNvCxnSpPr/>
          <p:nvPr/>
        </p:nvCxnSpPr>
        <p:spPr>
          <a:xfrm>
            <a:off x="1508760" y="1828800"/>
            <a:ext cx="0" cy="228600"/>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651760" y="1234440"/>
            <a:ext cx="1920240" cy="59436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0" i="0">
                <a:solidFill>
                  <a:srgbClr val="1F2A44"/>
                </a:solidFill>
                <a:latin typeface="Segoe UI"/>
              </a:rPr>
              <a:t>Business applications</a:t>
            </a:r>
          </a:p>
        </p:txBody>
      </p:sp>
      <p:cxnSp>
        <p:nvCxnSpPr>
          <p:cNvPr id="11" name="Connector 10"/>
          <p:cNvCxnSpPr/>
          <p:nvPr/>
        </p:nvCxnSpPr>
        <p:spPr>
          <a:xfrm>
            <a:off x="3611880" y="1828800"/>
            <a:ext cx="0" cy="228600"/>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754879" y="1234440"/>
            <a:ext cx="1920240" cy="59436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0" i="0">
                <a:solidFill>
                  <a:srgbClr val="1F2A44"/>
                </a:solidFill>
                <a:latin typeface="Segoe UI"/>
              </a:rPr>
              <a:t>Analytics / data lake</a:t>
            </a:r>
          </a:p>
        </p:txBody>
      </p:sp>
      <p:cxnSp>
        <p:nvCxnSpPr>
          <p:cNvPr id="13" name="Connector 12"/>
          <p:cNvCxnSpPr/>
          <p:nvPr/>
        </p:nvCxnSpPr>
        <p:spPr>
          <a:xfrm>
            <a:off x="5714999" y="1828800"/>
            <a:ext cx="0" cy="228600"/>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857999" y="1234440"/>
            <a:ext cx="1920240" cy="59436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0" i="0">
                <a:solidFill>
                  <a:srgbClr val="1F2A44"/>
                </a:solidFill>
                <a:latin typeface="Segoe UI"/>
              </a:rPr>
              <a:t>File users (NFS / SMB)</a:t>
            </a:r>
          </a:p>
        </p:txBody>
      </p:sp>
      <p:cxnSp>
        <p:nvCxnSpPr>
          <p:cNvPr id="15" name="Connector 14"/>
          <p:cNvCxnSpPr/>
          <p:nvPr/>
        </p:nvCxnSpPr>
        <p:spPr>
          <a:xfrm>
            <a:off x="7818119" y="1828800"/>
            <a:ext cx="0" cy="228600"/>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48640" y="2057400"/>
            <a:ext cx="8229600" cy="457200"/>
          </a:xfrm>
          <a:prstGeom prst="roundRect">
            <a:avLst>
              <a:gd name="adj" fmla="val 10000"/>
            </a:avLst>
          </a:prstGeom>
          <a:solidFill>
            <a:srgbClr val="E3E8EF"/>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Load balancers  ·  HA pair with virtual IP  ·  TLS</a:t>
            </a:r>
          </a:p>
        </p:txBody>
      </p:sp>
      <p:cxnSp>
        <p:nvCxnSpPr>
          <p:cNvPr id="17" name="Connector 16"/>
          <p:cNvCxnSpPr/>
          <p:nvPr/>
        </p:nvCxnSpPr>
        <p:spPr>
          <a:xfrm>
            <a:off x="4663440" y="2514600"/>
            <a:ext cx="0" cy="274320"/>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 y="2788920"/>
            <a:ext cx="8229600" cy="1417320"/>
          </a:xfrm>
          <a:prstGeom prst="roundRect">
            <a:avLst>
              <a:gd name="adj" fmla="val 10000"/>
            </a:avLst>
          </a:prstGeom>
          <a:solidFill>
            <a:srgbClr val="EAF5F6"/>
          </a:solidFill>
          <a:ln w="15875">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9" name="TextBox 18"/>
          <p:cNvSpPr txBox="1"/>
          <p:nvPr/>
        </p:nvSpPr>
        <p:spPr>
          <a:xfrm>
            <a:off x="685800" y="2816352"/>
            <a:ext cx="7315200" cy="274320"/>
          </a:xfrm>
          <a:prstGeom prst="rect">
            <a:avLst/>
          </a:prstGeom>
          <a:noFill/>
        </p:spPr>
        <p:txBody>
          <a:bodyPr wrap="square" anchor="t" lIns="36576" rIns="36576" tIns="36576" bIns="36576">
            <a:spAutoFit/>
          </a:bodyPr>
          <a:lstStyle/>
          <a:p>
            <a:pPr algn="l"/>
            <a:r>
              <a:rPr sz="1100" b="1" i="0">
                <a:solidFill>
                  <a:srgbClr val="0F7C8C"/>
                </a:solidFill>
                <a:latin typeface="Segoe UI"/>
              </a:rPr>
              <a:t>ACCESS LAYER  ·  stateless connectors</a:t>
            </a:r>
          </a:p>
        </p:txBody>
      </p:sp>
      <p:sp>
        <p:nvSpPr>
          <p:cNvPr id="20" name="Rounded Rectangle 19"/>
          <p:cNvSpPr/>
          <p:nvPr/>
        </p:nvSpPr>
        <p:spPr>
          <a:xfrm>
            <a:off x="731520" y="3154680"/>
            <a:ext cx="1874519" cy="914400"/>
          </a:xfrm>
          <a:prstGeom prst="roundRect">
            <a:avLst>
              <a:gd name="adj" fmla="val 10000"/>
            </a:avLst>
          </a:prstGeom>
          <a:solidFill>
            <a:srgbClr val="FFFFFF"/>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1F2A44"/>
                </a:solidFill>
                <a:latin typeface="Segoe UI"/>
              </a:rPr>
              <a:t>S3 Connector</a:t>
            </a:r>
          </a:p>
          <a:p>
            <a:pPr algn="ctr"/>
            <a:r>
              <a:rPr sz="1100" b="0" i="0">
                <a:solidFill>
                  <a:srgbClr val="5B6577"/>
                </a:solidFill>
                <a:latin typeface="Segoe UI"/>
              </a:rPr>
              <a:t>S3 API · IAM</a:t>
            </a:r>
          </a:p>
        </p:txBody>
      </p:sp>
      <p:sp>
        <p:nvSpPr>
          <p:cNvPr id="21" name="Rounded Rectangle 20"/>
          <p:cNvSpPr/>
          <p:nvPr/>
        </p:nvSpPr>
        <p:spPr>
          <a:xfrm>
            <a:off x="2743200" y="3154680"/>
            <a:ext cx="1874519" cy="914400"/>
          </a:xfrm>
          <a:prstGeom prst="roundRect">
            <a:avLst>
              <a:gd name="adj" fmla="val 10000"/>
            </a:avLst>
          </a:prstGeom>
          <a:solidFill>
            <a:srgbClr val="FFFFFF"/>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1F2A44"/>
                </a:solidFill>
                <a:latin typeface="Segoe UI"/>
              </a:rPr>
              <a:t>File Connectors</a:t>
            </a:r>
          </a:p>
          <a:p>
            <a:pPr algn="ctr"/>
            <a:r>
              <a:rPr sz="1100" b="0" i="0">
                <a:solidFill>
                  <a:srgbClr val="5B6577"/>
                </a:solidFill>
                <a:latin typeface="Segoe UI"/>
              </a:rPr>
              <a:t>NFS · SMB</a:t>
            </a:r>
          </a:p>
        </p:txBody>
      </p:sp>
      <p:sp>
        <p:nvSpPr>
          <p:cNvPr id="22" name="Rounded Rectangle 21"/>
          <p:cNvSpPr/>
          <p:nvPr/>
        </p:nvSpPr>
        <p:spPr>
          <a:xfrm>
            <a:off x="4754880" y="3154680"/>
            <a:ext cx="1874519" cy="914400"/>
          </a:xfrm>
          <a:prstGeom prst="roundRect">
            <a:avLst>
              <a:gd name="adj" fmla="val 10000"/>
            </a:avLst>
          </a:prstGeom>
          <a:solidFill>
            <a:srgbClr val="FFFFFF"/>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1F2A44"/>
                </a:solidFill>
                <a:latin typeface="Segoe UI"/>
              </a:rPr>
              <a:t>REST Connector</a:t>
            </a:r>
          </a:p>
          <a:p>
            <a:pPr algn="ctr"/>
            <a:r>
              <a:rPr sz="1100" b="0" i="0">
                <a:solidFill>
                  <a:srgbClr val="5B6577"/>
                </a:solidFill>
                <a:latin typeface="Segoe UI"/>
              </a:rPr>
              <a:t>Native key/value API</a:t>
            </a:r>
          </a:p>
        </p:txBody>
      </p:sp>
      <p:sp>
        <p:nvSpPr>
          <p:cNvPr id="23" name="Rounded Rectangle 22"/>
          <p:cNvSpPr/>
          <p:nvPr/>
        </p:nvSpPr>
        <p:spPr>
          <a:xfrm>
            <a:off x="6766560" y="3154680"/>
            <a:ext cx="1874519" cy="914400"/>
          </a:xfrm>
          <a:prstGeom prst="roundRect">
            <a:avLst>
              <a:gd name="adj" fmla="val 10000"/>
            </a:avLst>
          </a:prstGeom>
          <a:solidFill>
            <a:srgbClr val="E8E1F3"/>
          </a:solidFill>
          <a:ln w="12700">
            <a:solidFill>
              <a:srgbClr val="6B4FA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1F2A44"/>
                </a:solidFill>
                <a:latin typeface="Segoe UI"/>
              </a:rPr>
              <a:t>Metadata Service</a:t>
            </a:r>
          </a:p>
          <a:p>
            <a:pPr algn="ctr"/>
            <a:r>
              <a:rPr sz="1100" b="0" i="0">
                <a:solidFill>
                  <a:srgbClr val="5B6577"/>
                </a:solidFill>
                <a:latin typeface="Segoe UI"/>
              </a:rPr>
              <a:t>Raft-replicated · NVMe</a:t>
            </a:r>
          </a:p>
        </p:txBody>
      </p:sp>
      <p:cxnSp>
        <p:nvCxnSpPr>
          <p:cNvPr id="24" name="Connector 23"/>
          <p:cNvCxnSpPr/>
          <p:nvPr/>
        </p:nvCxnSpPr>
        <p:spPr>
          <a:xfrm>
            <a:off x="4663440" y="4206240"/>
            <a:ext cx="0" cy="274320"/>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754880" y="4206240"/>
            <a:ext cx="1828800" cy="274320"/>
          </a:xfrm>
          <a:prstGeom prst="rect">
            <a:avLst/>
          </a:prstGeom>
          <a:noFill/>
        </p:spPr>
        <p:txBody>
          <a:bodyPr wrap="square" anchor="t" lIns="36576" rIns="36576" tIns="36576" bIns="36576">
            <a:spAutoFit/>
          </a:bodyPr>
          <a:lstStyle/>
          <a:p>
            <a:pPr algn="l"/>
            <a:r>
              <a:rPr sz="1000" b="0" i="0">
                <a:solidFill>
                  <a:srgbClr val="5B6577"/>
                </a:solidFill>
                <a:latin typeface="Segoe UI"/>
              </a:rPr>
              <a:t>fragment I/O</a:t>
            </a:r>
          </a:p>
        </p:txBody>
      </p:sp>
      <p:sp>
        <p:nvSpPr>
          <p:cNvPr id="26" name="Rounded Rectangle 25"/>
          <p:cNvSpPr/>
          <p:nvPr/>
        </p:nvSpPr>
        <p:spPr>
          <a:xfrm>
            <a:off x="548640" y="4480560"/>
            <a:ext cx="8229600" cy="1691640"/>
          </a:xfrm>
          <a:prstGeom prst="roundRect">
            <a:avLst>
              <a:gd name="adj" fmla="val 10000"/>
            </a:avLst>
          </a:prstGeom>
          <a:solidFill>
            <a:srgbClr val="FDF3E7"/>
          </a:solidFill>
          <a:ln w="15875">
            <a:solidFill>
              <a:srgbClr val="E8892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27" name="TextBox 26"/>
          <p:cNvSpPr txBox="1"/>
          <p:nvPr/>
        </p:nvSpPr>
        <p:spPr>
          <a:xfrm>
            <a:off x="685800" y="4507992"/>
            <a:ext cx="7772400" cy="274320"/>
          </a:xfrm>
          <a:prstGeom prst="rect">
            <a:avLst/>
          </a:prstGeom>
          <a:noFill/>
        </p:spPr>
        <p:txBody>
          <a:bodyPr wrap="square" anchor="t" lIns="36576" rIns="36576" tIns="36576" bIns="36576">
            <a:spAutoFit/>
          </a:bodyPr>
          <a:lstStyle/>
          <a:p>
            <a:pPr algn="l"/>
            <a:r>
              <a:rPr sz="1100" b="1" i="0">
                <a:solidFill>
                  <a:srgbClr val="E8892B"/>
                </a:solidFill>
                <a:latin typeface="Segoe UI"/>
              </a:rPr>
              <a:t>STORAGE LAYER  ·  the RING (peer-to-peer, no single point of failure)</a:t>
            </a:r>
          </a:p>
        </p:txBody>
      </p:sp>
      <p:sp>
        <p:nvSpPr>
          <p:cNvPr id="28" name="Rounded Rectangle 27"/>
          <p:cNvSpPr/>
          <p:nvPr/>
        </p:nvSpPr>
        <p:spPr>
          <a:xfrm>
            <a:off x="731520" y="4846320"/>
            <a:ext cx="1463040" cy="1143000"/>
          </a:xfrm>
          <a:prstGeom prst="roundRect">
            <a:avLst>
              <a:gd name="adj" fmla="val 10000"/>
            </a:avLst>
          </a:prstGeom>
          <a:solidFill>
            <a:srgbClr val="FFFFFF"/>
          </a:solidFill>
          <a:ln w="12700">
            <a:solidFill>
              <a:srgbClr val="E8892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1F2A44"/>
                </a:solidFill>
                <a:latin typeface="Segoe UI"/>
              </a:rPr>
              <a:t>Storage server 1</a:t>
            </a:r>
          </a:p>
          <a:p>
            <a:pPr algn="ctr"/>
            <a:r>
              <a:rPr sz="1000" b="0" i="0">
                <a:solidFill>
                  <a:srgbClr val="5B6577"/>
                </a:solidFill>
                <a:latin typeface="Segoe UI"/>
              </a:rPr>
              <a:t>Storage nodes</a:t>
            </a:r>
          </a:p>
          <a:p>
            <a:pPr algn="ctr"/>
            <a:r>
              <a:rPr sz="1000" b="0" i="0">
                <a:solidFill>
                  <a:srgbClr val="5B6577"/>
                </a:solidFill>
                <a:latin typeface="Segoe UI"/>
              </a:rPr>
              <a:t>HDD + SSD</a:t>
            </a:r>
          </a:p>
        </p:txBody>
      </p:sp>
      <p:sp>
        <p:nvSpPr>
          <p:cNvPr id="29" name="Rounded Rectangle 28"/>
          <p:cNvSpPr/>
          <p:nvPr/>
        </p:nvSpPr>
        <p:spPr>
          <a:xfrm>
            <a:off x="2313432" y="4846320"/>
            <a:ext cx="1463040" cy="1143000"/>
          </a:xfrm>
          <a:prstGeom prst="roundRect">
            <a:avLst>
              <a:gd name="adj" fmla="val 10000"/>
            </a:avLst>
          </a:prstGeom>
          <a:solidFill>
            <a:srgbClr val="FFFFFF"/>
          </a:solidFill>
          <a:ln w="12700">
            <a:solidFill>
              <a:srgbClr val="E8892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1F2A44"/>
                </a:solidFill>
                <a:latin typeface="Segoe UI"/>
              </a:rPr>
              <a:t>Storage server 2</a:t>
            </a:r>
          </a:p>
          <a:p>
            <a:pPr algn="ctr"/>
            <a:r>
              <a:rPr sz="1000" b="0" i="0">
                <a:solidFill>
                  <a:srgbClr val="5B6577"/>
                </a:solidFill>
                <a:latin typeface="Segoe UI"/>
              </a:rPr>
              <a:t>Storage nodes</a:t>
            </a:r>
          </a:p>
          <a:p>
            <a:pPr algn="ctr"/>
            <a:r>
              <a:rPr sz="1000" b="0" i="0">
                <a:solidFill>
                  <a:srgbClr val="5B6577"/>
                </a:solidFill>
                <a:latin typeface="Segoe UI"/>
              </a:rPr>
              <a:t>HDD + SSD</a:t>
            </a:r>
          </a:p>
        </p:txBody>
      </p:sp>
      <p:sp>
        <p:nvSpPr>
          <p:cNvPr id="30" name="Rounded Rectangle 29"/>
          <p:cNvSpPr/>
          <p:nvPr/>
        </p:nvSpPr>
        <p:spPr>
          <a:xfrm>
            <a:off x="3895344" y="4846320"/>
            <a:ext cx="1463040" cy="1143000"/>
          </a:xfrm>
          <a:prstGeom prst="roundRect">
            <a:avLst>
              <a:gd name="adj" fmla="val 10000"/>
            </a:avLst>
          </a:prstGeom>
          <a:solidFill>
            <a:srgbClr val="FFFFFF"/>
          </a:solidFill>
          <a:ln w="12700">
            <a:solidFill>
              <a:srgbClr val="E8892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1F2A44"/>
                </a:solidFill>
                <a:latin typeface="Segoe UI"/>
              </a:rPr>
              <a:t>Storage server 3</a:t>
            </a:r>
          </a:p>
          <a:p>
            <a:pPr algn="ctr"/>
            <a:r>
              <a:rPr sz="1000" b="0" i="0">
                <a:solidFill>
                  <a:srgbClr val="5B6577"/>
                </a:solidFill>
                <a:latin typeface="Segoe UI"/>
              </a:rPr>
              <a:t>Storage nodes</a:t>
            </a:r>
          </a:p>
          <a:p>
            <a:pPr algn="ctr"/>
            <a:r>
              <a:rPr sz="1000" b="0" i="0">
                <a:solidFill>
                  <a:srgbClr val="5B6577"/>
                </a:solidFill>
                <a:latin typeface="Segoe UI"/>
              </a:rPr>
              <a:t>HDD + SSD</a:t>
            </a:r>
          </a:p>
        </p:txBody>
      </p:sp>
      <p:sp>
        <p:nvSpPr>
          <p:cNvPr id="31" name="Rounded Rectangle 30"/>
          <p:cNvSpPr/>
          <p:nvPr/>
        </p:nvSpPr>
        <p:spPr>
          <a:xfrm>
            <a:off x="5477255" y="4846320"/>
            <a:ext cx="1463040" cy="1143000"/>
          </a:xfrm>
          <a:prstGeom prst="roundRect">
            <a:avLst>
              <a:gd name="adj" fmla="val 10000"/>
            </a:avLst>
          </a:prstGeom>
          <a:solidFill>
            <a:srgbClr val="FFFFFF"/>
          </a:solidFill>
          <a:ln w="12700">
            <a:solidFill>
              <a:srgbClr val="E8892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1F2A44"/>
                </a:solidFill>
                <a:latin typeface="Segoe UI"/>
              </a:rPr>
              <a:t>Storage server 4</a:t>
            </a:r>
          </a:p>
          <a:p>
            <a:pPr algn="ctr"/>
            <a:r>
              <a:rPr sz="1000" b="0" i="0">
                <a:solidFill>
                  <a:srgbClr val="5B6577"/>
                </a:solidFill>
                <a:latin typeface="Segoe UI"/>
              </a:rPr>
              <a:t>Storage nodes</a:t>
            </a:r>
          </a:p>
          <a:p>
            <a:pPr algn="ctr"/>
            <a:r>
              <a:rPr sz="1000" b="0" i="0">
                <a:solidFill>
                  <a:srgbClr val="5B6577"/>
                </a:solidFill>
                <a:latin typeface="Segoe UI"/>
              </a:rPr>
              <a:t>HDD + SSD</a:t>
            </a:r>
          </a:p>
        </p:txBody>
      </p:sp>
      <p:sp>
        <p:nvSpPr>
          <p:cNvPr id="32" name="Rounded Rectangle 31"/>
          <p:cNvSpPr/>
          <p:nvPr/>
        </p:nvSpPr>
        <p:spPr>
          <a:xfrm>
            <a:off x="7059168" y="4846320"/>
            <a:ext cx="1463040" cy="1143000"/>
          </a:xfrm>
          <a:prstGeom prst="roundRect">
            <a:avLst>
              <a:gd name="adj" fmla="val 10000"/>
            </a:avLst>
          </a:prstGeom>
          <a:solidFill>
            <a:srgbClr val="FFFFFF"/>
          </a:solidFill>
          <a:ln w="12700">
            <a:solidFill>
              <a:srgbClr val="E8892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1F2A44"/>
                </a:solidFill>
                <a:latin typeface="Segoe UI"/>
              </a:rPr>
              <a:t>Storage server N</a:t>
            </a:r>
          </a:p>
          <a:p>
            <a:pPr algn="ctr"/>
            <a:r>
              <a:rPr sz="1000" b="0" i="0">
                <a:solidFill>
                  <a:srgbClr val="5B6577"/>
                </a:solidFill>
                <a:latin typeface="Segoe UI"/>
              </a:rPr>
              <a:t>Storage nodes</a:t>
            </a:r>
          </a:p>
          <a:p>
            <a:pPr algn="ctr"/>
            <a:r>
              <a:rPr sz="1000" b="0" i="0">
                <a:solidFill>
                  <a:srgbClr val="5B6577"/>
                </a:solidFill>
                <a:latin typeface="Segoe UI"/>
              </a:rPr>
              <a:t>HDD + SSD</a:t>
            </a:r>
          </a:p>
        </p:txBody>
      </p:sp>
      <p:sp>
        <p:nvSpPr>
          <p:cNvPr id="33" name="Rounded Rectangle 32"/>
          <p:cNvSpPr/>
          <p:nvPr/>
        </p:nvSpPr>
        <p:spPr>
          <a:xfrm>
            <a:off x="9144000" y="2788920"/>
            <a:ext cx="2606040" cy="3383280"/>
          </a:xfrm>
          <a:prstGeom prst="roundRect">
            <a:avLst>
              <a:gd name="adj" fmla="val 10000"/>
            </a:avLst>
          </a:prstGeom>
          <a:solidFill>
            <a:srgbClr val="F2F4F7"/>
          </a:solidFill>
          <a:ln w="12700">
            <a:solidFill>
              <a:srgbClr val="5B657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4" name="TextBox 33"/>
          <p:cNvSpPr txBox="1"/>
          <p:nvPr/>
        </p:nvSpPr>
        <p:spPr>
          <a:xfrm>
            <a:off x="9253728" y="2816352"/>
            <a:ext cx="2468880" cy="274320"/>
          </a:xfrm>
          <a:prstGeom prst="rect">
            <a:avLst/>
          </a:prstGeom>
          <a:noFill/>
        </p:spPr>
        <p:txBody>
          <a:bodyPr wrap="square" anchor="t" lIns="36576" rIns="36576" tIns="36576" bIns="36576">
            <a:spAutoFit/>
          </a:bodyPr>
          <a:lstStyle/>
          <a:p>
            <a:pPr algn="l"/>
            <a:r>
              <a:rPr sz="1100" b="1" i="0">
                <a:solidFill>
                  <a:srgbClr val="5B6577"/>
                </a:solidFill>
                <a:latin typeface="Segoe UI"/>
              </a:rPr>
              <a:t>MANAGEMENT (out-of-band)</a:t>
            </a:r>
          </a:p>
        </p:txBody>
      </p:sp>
      <p:sp>
        <p:nvSpPr>
          <p:cNvPr id="35" name="Rounded Rectangle 34"/>
          <p:cNvSpPr/>
          <p:nvPr/>
        </p:nvSpPr>
        <p:spPr>
          <a:xfrm>
            <a:off x="9281160" y="3200400"/>
            <a:ext cx="2331720" cy="822960"/>
          </a:xfrm>
          <a:prstGeom prst="roundRect">
            <a:avLst>
              <a:gd name="adj" fmla="val 10000"/>
            </a:avLst>
          </a:prstGeom>
          <a:solidFill>
            <a:srgbClr val="FFFFFF"/>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Supervisor</a:t>
            </a:r>
          </a:p>
          <a:p>
            <a:pPr algn="ctr"/>
            <a:r>
              <a:rPr sz="1000" b="0" i="0">
                <a:solidFill>
                  <a:srgbClr val="5B6577"/>
                </a:solidFill>
                <a:latin typeface="Segoe UI"/>
              </a:rPr>
              <a:t>UI · CLI · configuration</a:t>
            </a:r>
          </a:p>
        </p:txBody>
      </p:sp>
      <p:sp>
        <p:nvSpPr>
          <p:cNvPr id="36" name="Rounded Rectangle 35"/>
          <p:cNvSpPr/>
          <p:nvPr/>
        </p:nvSpPr>
        <p:spPr>
          <a:xfrm>
            <a:off x="9281160" y="4160520"/>
            <a:ext cx="2331720" cy="822960"/>
          </a:xfrm>
          <a:prstGeom prst="roundRect">
            <a:avLst>
              <a:gd name="adj" fmla="val 10000"/>
            </a:avLst>
          </a:prstGeom>
          <a:solidFill>
            <a:srgbClr val="FFFFFF"/>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Monitoring</a:t>
            </a:r>
          </a:p>
          <a:p>
            <a:pPr algn="ctr"/>
            <a:r>
              <a:rPr sz="1000" b="0" i="0">
                <a:solidFill>
                  <a:srgbClr val="5B6577"/>
                </a:solidFill>
                <a:latin typeface="Segoe UI"/>
              </a:rPr>
              <a:t>Metrics · dashboards · alerts</a:t>
            </a:r>
          </a:p>
        </p:txBody>
      </p:sp>
      <p:sp>
        <p:nvSpPr>
          <p:cNvPr id="37" name="Rounded Rectangle 36"/>
          <p:cNvSpPr/>
          <p:nvPr/>
        </p:nvSpPr>
        <p:spPr>
          <a:xfrm>
            <a:off x="9281160" y="5120640"/>
            <a:ext cx="2331720" cy="822960"/>
          </a:xfrm>
          <a:prstGeom prst="roundRect">
            <a:avLst>
              <a:gd name="adj" fmla="val 10000"/>
            </a:avLst>
          </a:prstGeom>
          <a:solidFill>
            <a:srgbClr val="FFFFFF"/>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Lifecycle tooling</a:t>
            </a:r>
          </a:p>
          <a:p>
            <a:pPr algn="ctr"/>
            <a:r>
              <a:rPr sz="1000" b="0" i="0">
                <a:solidFill>
                  <a:srgbClr val="5B6577"/>
                </a:solidFill>
                <a:latin typeface="Segoe UI"/>
              </a:rPr>
              <a:t>Install · upgrade · expand</a:t>
            </a:r>
          </a:p>
        </p:txBody>
      </p:sp>
      <p:cxnSp>
        <p:nvCxnSpPr>
          <p:cNvPr id="38" name="Connector 37"/>
          <p:cNvCxnSpPr/>
          <p:nvPr/>
        </p:nvCxnSpPr>
        <p:spPr>
          <a:xfrm flipH="1">
            <a:off x="8778240" y="3520440"/>
            <a:ext cx="365760" cy="0"/>
          </a:xfrm>
          <a:prstGeom prst="line">
            <a:avLst/>
          </a:prstGeom>
          <a:ln w="19050">
            <a:solidFill>
              <a:srgbClr val="5B6577"/>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8778240" y="5303520"/>
            <a:ext cx="365760" cy="0"/>
          </a:xfrm>
          <a:prstGeom prst="line">
            <a:avLst/>
          </a:prstGeom>
          <a:ln w="19050">
            <a:solidFill>
              <a:srgbClr val="5B6577"/>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9144000" y="1234440"/>
            <a:ext cx="2606040" cy="1371600"/>
          </a:xfrm>
          <a:prstGeom prst="rect">
            <a:avLst/>
          </a:prstGeom>
          <a:noFill/>
        </p:spPr>
        <p:txBody>
          <a:bodyPr wrap="square" anchor="t" lIns="36576" rIns="36576" tIns="36576" bIns="36576">
            <a:spAutoFit/>
          </a:bodyPr>
          <a:lstStyle/>
          <a:p>
            <a:pPr algn="l"/>
            <a:r>
              <a:rPr sz="1200" b="0" i="0">
                <a:solidFill>
                  <a:srgbClr val="5B6577"/>
                </a:solidFill>
                <a:latin typeface="Segoe UI"/>
              </a:rPr>
              <a:t>Clients see only the access layer.</a:t>
            </a:r>
          </a:p>
          <a:p>
            <a:pPr algn="l"/>
            <a:r>
              <a:rPr sz="1200" b="0" i="0">
                <a:solidFill>
                  <a:srgbClr val="5B6577"/>
                </a:solidFill>
                <a:latin typeface="Segoe UI"/>
              </a:rPr>
              <a:t>Data lives in the storage layer.</a:t>
            </a:r>
          </a:p>
          <a:p>
            <a:pPr algn="l"/>
            <a:r>
              <a:rPr sz="1200" b="0" i="0">
                <a:solidFill>
                  <a:srgbClr val="5B6577"/>
                </a:solidFill>
                <a:latin typeface="Segoe UI"/>
              </a:rPr>
              <a:t>Management is outside the data path.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 name="Rectangle 2"/>
          <p:cNvSpPr/>
          <p:nvPr/>
        </p:nvSpPr>
        <p:spPr>
          <a:xfrm>
            <a:off x="0" y="914400"/>
            <a:ext cx="12191695" cy="54864"/>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4" name="TextBox 3"/>
          <p:cNvSpPr txBox="1"/>
          <p:nvPr/>
        </p:nvSpPr>
        <p:spPr>
          <a:xfrm>
            <a:off x="457200" y="91440"/>
            <a:ext cx="11247120" cy="502920"/>
          </a:xfrm>
          <a:prstGeom prst="rect">
            <a:avLst/>
          </a:prstGeom>
          <a:noFill/>
        </p:spPr>
        <p:txBody>
          <a:bodyPr wrap="square" anchor="ctr" lIns="36576" rIns="36576" tIns="36576" bIns="36576">
            <a:spAutoFit/>
          </a:bodyPr>
          <a:lstStyle/>
          <a:p>
            <a:pPr algn="l"/>
            <a:r>
              <a:rPr sz="2600" b="1" i="0">
                <a:solidFill>
                  <a:srgbClr val="FFFFFF"/>
                </a:solidFill>
                <a:latin typeface="Segoe UI"/>
              </a:rPr>
              <a:t>S3 Service Architecture</a:t>
            </a:r>
          </a:p>
        </p:txBody>
      </p:sp>
      <p:sp>
        <p:nvSpPr>
          <p:cNvPr id="5" name="TextBox 4"/>
          <p:cNvSpPr txBox="1"/>
          <p:nvPr/>
        </p:nvSpPr>
        <p:spPr>
          <a:xfrm>
            <a:off x="457200" y="548640"/>
            <a:ext cx="11247120" cy="320040"/>
          </a:xfrm>
          <a:prstGeom prst="rect">
            <a:avLst/>
          </a:prstGeom>
          <a:noFill/>
        </p:spPr>
        <p:txBody>
          <a:bodyPr wrap="square" anchor="t" lIns="36576" rIns="36576" tIns="36576" bIns="36576">
            <a:spAutoFit/>
          </a:bodyPr>
          <a:lstStyle/>
          <a:p>
            <a:pPr algn="l"/>
            <a:r>
              <a:rPr sz="1300" b="0" i="0">
                <a:solidFill>
                  <a:srgbClr val="C9D3E3"/>
                </a:solidFill>
                <a:latin typeface="Segoe UI"/>
              </a:rPr>
              <a:t>How the S3 connector is built</a:t>
            </a:r>
          </a:p>
        </p:txBody>
      </p:sp>
      <p:sp>
        <p:nvSpPr>
          <p:cNvPr id="6" name="TextBox 5"/>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i="0">
                <a:solidFill>
                  <a:srgbClr val="5B6577"/>
                </a:solidFill>
                <a:latin typeface="Segoe UI"/>
              </a:rPr>
              <a:t>Scality RING  |  Architecture, Deployment &amp; Operations</a:t>
            </a:r>
          </a:p>
        </p:txBody>
      </p:sp>
      <p:sp>
        <p:nvSpPr>
          <p:cNvPr id="7" name="TextBox 6"/>
          <p:cNvSpPr txBox="1"/>
          <p:nvPr/>
        </p:nvSpPr>
        <p:spPr>
          <a:xfrm>
            <a:off x="10789920" y="6473952"/>
            <a:ext cx="914400" cy="274320"/>
          </a:xfrm>
          <a:prstGeom prst="rect">
            <a:avLst/>
          </a:prstGeom>
          <a:noFill/>
        </p:spPr>
        <p:txBody>
          <a:bodyPr wrap="square" anchor="t" lIns="36576" rIns="36576" tIns="36576" bIns="36576">
            <a:spAutoFit/>
          </a:bodyPr>
          <a:lstStyle/>
          <a:p>
            <a:pPr algn="r"/>
            <a:r>
              <a:rPr sz="1000" b="0" i="0">
                <a:solidFill>
                  <a:srgbClr val="5B6577"/>
                </a:solidFill>
                <a:latin typeface="Segoe UI"/>
              </a:rPr>
              <a:t>5</a:t>
            </a:r>
          </a:p>
        </p:txBody>
      </p:sp>
      <p:sp>
        <p:nvSpPr>
          <p:cNvPr id="8" name="Rounded Rectangle 7"/>
          <p:cNvSpPr/>
          <p:nvPr/>
        </p:nvSpPr>
        <p:spPr>
          <a:xfrm>
            <a:off x="457200" y="3063240"/>
            <a:ext cx="1417320" cy="82296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S3 clients</a:t>
            </a:r>
          </a:p>
          <a:p>
            <a:pPr algn="ctr"/>
            <a:r>
              <a:rPr sz="1000" b="0" i="0">
                <a:solidFill>
                  <a:srgbClr val="5B6577"/>
                </a:solidFill>
                <a:latin typeface="Segoe UI"/>
              </a:rPr>
              <a:t>Backup · Apps</a:t>
            </a:r>
          </a:p>
        </p:txBody>
      </p:sp>
      <p:sp>
        <p:nvSpPr>
          <p:cNvPr id="9" name="Rounded Rectangle 8"/>
          <p:cNvSpPr/>
          <p:nvPr/>
        </p:nvSpPr>
        <p:spPr>
          <a:xfrm>
            <a:off x="2148840" y="3063240"/>
            <a:ext cx="1417320" cy="82296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Load balancer</a:t>
            </a:r>
          </a:p>
          <a:p>
            <a:pPr algn="ctr"/>
            <a:r>
              <a:rPr sz="1000" b="0" i="0">
                <a:solidFill>
                  <a:srgbClr val="5B6577"/>
                </a:solidFill>
                <a:latin typeface="Segoe UI"/>
              </a:rPr>
              <a:t>VIP · TLS</a:t>
            </a:r>
          </a:p>
        </p:txBody>
      </p:sp>
      <p:cxnSp>
        <p:nvCxnSpPr>
          <p:cNvPr id="10" name="Connector 9"/>
          <p:cNvCxnSpPr/>
          <p:nvPr/>
        </p:nvCxnSpPr>
        <p:spPr>
          <a:xfrm>
            <a:off x="1874519" y="3474720"/>
            <a:ext cx="274321" cy="0"/>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566160" y="3474720"/>
            <a:ext cx="274320" cy="0"/>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840480" y="2697480"/>
            <a:ext cx="2286000" cy="1554480"/>
          </a:xfrm>
          <a:prstGeom prst="roundRect">
            <a:avLst>
              <a:gd name="adj" fmla="val 10000"/>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500" b="1" i="0">
                <a:solidFill>
                  <a:srgbClr val="FFFFFF"/>
                </a:solidFill>
                <a:latin typeface="Segoe UI"/>
              </a:rPr>
              <a:t>S3 API Service</a:t>
            </a:r>
          </a:p>
          <a:p>
            <a:pPr algn="ctr"/>
            <a:r>
              <a:rPr sz="1050" b="0" i="0">
                <a:solidFill>
                  <a:srgbClr val="FFFFFF"/>
                </a:solidFill>
                <a:latin typeface="Segoe UI"/>
              </a:rPr>
              <a:t>Request handling, signature check, versioning, multipart, Object Lock</a:t>
            </a:r>
          </a:p>
        </p:txBody>
      </p:sp>
      <p:sp>
        <p:nvSpPr>
          <p:cNvPr id="13" name="Rounded Rectangle 12"/>
          <p:cNvSpPr/>
          <p:nvPr/>
        </p:nvSpPr>
        <p:spPr>
          <a:xfrm>
            <a:off x="6766560" y="1234440"/>
            <a:ext cx="2468880" cy="868680"/>
          </a:xfrm>
          <a:prstGeom prst="roundRect">
            <a:avLst>
              <a:gd name="adj" fmla="val 10000"/>
            </a:avLst>
          </a:prstGeom>
          <a:solidFill>
            <a:srgbClr val="FFFFFF"/>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50" b="1" i="0">
                <a:solidFill>
                  <a:srgbClr val="1F2A44"/>
                </a:solidFill>
                <a:latin typeface="Segoe UI"/>
              </a:rPr>
              <a:t>Identity &amp; Access</a:t>
            </a:r>
          </a:p>
          <a:p>
            <a:pPr algn="ctr"/>
            <a:r>
              <a:rPr sz="1050" b="0" i="0">
                <a:solidFill>
                  <a:srgbClr val="5B6577"/>
                </a:solidFill>
                <a:latin typeface="Segoe UI"/>
              </a:rPr>
              <a:t>Accounts, users, keys, policies</a:t>
            </a:r>
          </a:p>
        </p:txBody>
      </p:sp>
      <p:cxnSp>
        <p:nvCxnSpPr>
          <p:cNvPr id="14" name="Connector 13"/>
          <p:cNvCxnSpPr/>
          <p:nvPr/>
        </p:nvCxnSpPr>
        <p:spPr>
          <a:xfrm flipV="1">
            <a:off x="6126480" y="1668780"/>
            <a:ext cx="640080" cy="1805940"/>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766560" y="2331720"/>
            <a:ext cx="2468880" cy="868680"/>
          </a:xfrm>
          <a:prstGeom prst="roundRect">
            <a:avLst>
              <a:gd name="adj" fmla="val 10000"/>
            </a:avLst>
          </a:prstGeom>
          <a:solidFill>
            <a:srgbClr val="E8E1F3"/>
          </a:solidFill>
          <a:ln w="12700">
            <a:solidFill>
              <a:srgbClr val="6B4FA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50" b="1" i="0">
                <a:solidFill>
                  <a:srgbClr val="1F2A44"/>
                </a:solidFill>
                <a:latin typeface="Segoe UI"/>
              </a:rPr>
              <a:t>Metadata Service</a:t>
            </a:r>
          </a:p>
          <a:p>
            <a:pPr algn="ctr"/>
            <a:r>
              <a:rPr sz="1050" b="0" i="0">
                <a:solidFill>
                  <a:srgbClr val="5B6577"/>
                </a:solidFill>
                <a:latin typeface="Segoe UI"/>
              </a:rPr>
              <a:t>Raft, 5 members, NVMe</a:t>
            </a:r>
          </a:p>
        </p:txBody>
      </p:sp>
      <p:cxnSp>
        <p:nvCxnSpPr>
          <p:cNvPr id="16" name="Connector 15"/>
          <p:cNvCxnSpPr/>
          <p:nvPr/>
        </p:nvCxnSpPr>
        <p:spPr>
          <a:xfrm flipV="1">
            <a:off x="6126480" y="2766060"/>
            <a:ext cx="640080" cy="708660"/>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766560" y="3429000"/>
            <a:ext cx="2468880" cy="868680"/>
          </a:xfrm>
          <a:prstGeom prst="roundRect">
            <a:avLst>
              <a:gd name="adj" fmla="val 10000"/>
            </a:avLst>
          </a:prstGeom>
          <a:solidFill>
            <a:srgbClr val="FFFFFF"/>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50" b="1" i="0">
                <a:solidFill>
                  <a:srgbClr val="1F2A44"/>
                </a:solidFill>
                <a:latin typeface="Segoe UI"/>
              </a:rPr>
              <a:t>Usage Metering</a:t>
            </a:r>
          </a:p>
          <a:p>
            <a:pPr algn="ctr"/>
            <a:r>
              <a:rPr sz="1050" b="0" i="0">
                <a:solidFill>
                  <a:srgbClr val="5B6577"/>
                </a:solidFill>
                <a:latin typeface="Segoe UI"/>
              </a:rPr>
              <a:t>Usage per account and bucket</a:t>
            </a:r>
          </a:p>
        </p:txBody>
      </p:sp>
      <p:cxnSp>
        <p:nvCxnSpPr>
          <p:cNvPr id="18" name="Connector 17"/>
          <p:cNvCxnSpPr/>
          <p:nvPr/>
        </p:nvCxnSpPr>
        <p:spPr>
          <a:xfrm>
            <a:off x="6126480" y="3474720"/>
            <a:ext cx="640080" cy="388619"/>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766560" y="4526279"/>
            <a:ext cx="2468880" cy="868680"/>
          </a:xfrm>
          <a:prstGeom prst="roundRect">
            <a:avLst>
              <a:gd name="adj" fmla="val 10000"/>
            </a:avLst>
          </a:prstGeom>
          <a:solidFill>
            <a:srgbClr val="D7EEF1"/>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50" b="1" i="0">
                <a:solidFill>
                  <a:srgbClr val="1F2A44"/>
                </a:solidFill>
                <a:latin typeface="Segoe UI"/>
              </a:rPr>
              <a:t>Data Routing</a:t>
            </a:r>
          </a:p>
          <a:p>
            <a:pPr algn="ctr"/>
            <a:r>
              <a:rPr sz="1050" b="0" i="0">
                <a:solidFill>
                  <a:srgbClr val="5B6577"/>
                </a:solidFill>
                <a:latin typeface="Segoe UI"/>
              </a:rPr>
              <a:t>Fragmenting, erasure coding, placement</a:t>
            </a:r>
          </a:p>
        </p:txBody>
      </p:sp>
      <p:cxnSp>
        <p:nvCxnSpPr>
          <p:cNvPr id="20" name="Connector 19"/>
          <p:cNvCxnSpPr/>
          <p:nvPr/>
        </p:nvCxnSpPr>
        <p:spPr>
          <a:xfrm>
            <a:off x="6126480" y="3474720"/>
            <a:ext cx="640080" cy="1485899"/>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692640" y="1234440"/>
            <a:ext cx="2057400" cy="86868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DR site</a:t>
            </a:r>
          </a:p>
          <a:p>
            <a:pPr algn="ctr"/>
            <a:r>
              <a:rPr sz="1050" b="0" i="0">
                <a:solidFill>
                  <a:srgbClr val="5B6577"/>
                </a:solidFill>
                <a:latin typeface="Segoe UI"/>
              </a:rPr>
              <a:t>Remote RING cluster</a:t>
            </a:r>
          </a:p>
        </p:txBody>
      </p:sp>
      <p:sp>
        <p:nvSpPr>
          <p:cNvPr id="22" name="Rounded Rectangle 21"/>
          <p:cNvSpPr/>
          <p:nvPr/>
        </p:nvSpPr>
        <p:spPr>
          <a:xfrm>
            <a:off x="9692640" y="2331720"/>
            <a:ext cx="2057400" cy="868680"/>
          </a:xfrm>
          <a:prstGeom prst="roundRect">
            <a:avLst>
              <a:gd name="adj" fmla="val 10000"/>
            </a:avLst>
          </a:prstGeom>
          <a:solidFill>
            <a:srgbClr val="FFFFFF"/>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Replication &amp; Lifecycle</a:t>
            </a:r>
          </a:p>
          <a:p>
            <a:pPr algn="ctr"/>
            <a:r>
              <a:rPr sz="1050" b="0" i="0">
                <a:solidFill>
                  <a:srgbClr val="5B6577"/>
                </a:solidFill>
                <a:latin typeface="Segoe UI"/>
              </a:rPr>
              <a:t>Async copy · expiry</a:t>
            </a:r>
          </a:p>
        </p:txBody>
      </p:sp>
      <p:sp>
        <p:nvSpPr>
          <p:cNvPr id="23" name="Rounded Rectangle 22"/>
          <p:cNvSpPr/>
          <p:nvPr/>
        </p:nvSpPr>
        <p:spPr>
          <a:xfrm>
            <a:off x="9692640" y="4526280"/>
            <a:ext cx="2057400" cy="868680"/>
          </a:xfrm>
          <a:prstGeom prst="roundRect">
            <a:avLst>
              <a:gd name="adj" fmla="val 10000"/>
            </a:avLst>
          </a:prstGeom>
          <a:solidFill>
            <a:srgbClr val="FBE6CF"/>
          </a:solidFill>
          <a:ln w="12700">
            <a:solidFill>
              <a:srgbClr val="E8892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RING storage nodes</a:t>
            </a:r>
          </a:p>
          <a:p>
            <a:pPr algn="ctr"/>
            <a:r>
              <a:rPr sz="1050" b="0" i="0">
                <a:solidFill>
                  <a:srgbClr val="5B6577"/>
                </a:solidFill>
                <a:latin typeface="Segoe UI"/>
              </a:rPr>
              <a:t>Fragments on disk</a:t>
            </a:r>
          </a:p>
        </p:txBody>
      </p:sp>
      <p:cxnSp>
        <p:nvCxnSpPr>
          <p:cNvPr id="24" name="Connector 23"/>
          <p:cNvCxnSpPr/>
          <p:nvPr/>
        </p:nvCxnSpPr>
        <p:spPr>
          <a:xfrm>
            <a:off x="9235440" y="2761488"/>
            <a:ext cx="457200" cy="0"/>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0716768" y="2103120"/>
            <a:ext cx="0" cy="228600"/>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235440" y="4956048"/>
            <a:ext cx="457200" cy="0"/>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57200" y="5623560"/>
            <a:ext cx="11292840" cy="68580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l"/>
            <a:r>
              <a:rPr sz="1200" b="0" i="0">
                <a:solidFill>
                  <a:srgbClr val="1F2A44"/>
                </a:solidFill>
                <a:latin typeface="Segoe UI"/>
              </a:rPr>
              <a:t>Key design point: object data and object metadata are separated. Data is distributed across the RING; metadata is held in a strongly consistent, replicated cluster, giving fast listings and independent scaling.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 name="Rectangle 2"/>
          <p:cNvSpPr/>
          <p:nvPr/>
        </p:nvSpPr>
        <p:spPr>
          <a:xfrm>
            <a:off x="0" y="914400"/>
            <a:ext cx="12191695" cy="54864"/>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4" name="TextBox 3"/>
          <p:cNvSpPr txBox="1"/>
          <p:nvPr/>
        </p:nvSpPr>
        <p:spPr>
          <a:xfrm>
            <a:off x="457200" y="91440"/>
            <a:ext cx="11247120" cy="502920"/>
          </a:xfrm>
          <a:prstGeom prst="rect">
            <a:avLst/>
          </a:prstGeom>
          <a:noFill/>
        </p:spPr>
        <p:txBody>
          <a:bodyPr wrap="square" anchor="ctr" lIns="36576" rIns="36576" tIns="36576" bIns="36576">
            <a:spAutoFit/>
          </a:bodyPr>
          <a:lstStyle/>
          <a:p>
            <a:pPr algn="l"/>
            <a:r>
              <a:rPr sz="2600" b="1" i="0">
                <a:solidFill>
                  <a:srgbClr val="FFFFFF"/>
                </a:solidFill>
                <a:latin typeface="Segoe UI"/>
              </a:rPr>
              <a:t>Inside a Storage Server</a:t>
            </a:r>
          </a:p>
        </p:txBody>
      </p:sp>
      <p:sp>
        <p:nvSpPr>
          <p:cNvPr id="5" name="TextBox 4"/>
          <p:cNvSpPr txBox="1"/>
          <p:nvPr/>
        </p:nvSpPr>
        <p:spPr>
          <a:xfrm>
            <a:off x="457200" y="548640"/>
            <a:ext cx="11247120" cy="320040"/>
          </a:xfrm>
          <a:prstGeom prst="rect">
            <a:avLst/>
          </a:prstGeom>
          <a:noFill/>
        </p:spPr>
        <p:txBody>
          <a:bodyPr wrap="square" anchor="t" lIns="36576" rIns="36576" tIns="36576" bIns="36576">
            <a:spAutoFit/>
          </a:bodyPr>
          <a:lstStyle/>
          <a:p>
            <a:pPr algn="l"/>
            <a:r>
              <a:rPr sz="1300" b="0" i="0">
                <a:solidFill>
                  <a:srgbClr val="C9D3E3"/>
                </a:solidFill>
                <a:latin typeface="Segoe UI"/>
              </a:rPr>
              <a:t>Storage nodes, IO daemons and disks</a:t>
            </a:r>
          </a:p>
        </p:txBody>
      </p:sp>
      <p:sp>
        <p:nvSpPr>
          <p:cNvPr id="6" name="TextBox 5"/>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i="0">
                <a:solidFill>
                  <a:srgbClr val="5B6577"/>
                </a:solidFill>
                <a:latin typeface="Segoe UI"/>
              </a:rPr>
              <a:t>Scality RING  |  Architecture, Deployment &amp; Operations</a:t>
            </a:r>
          </a:p>
        </p:txBody>
      </p:sp>
      <p:sp>
        <p:nvSpPr>
          <p:cNvPr id="7" name="TextBox 6"/>
          <p:cNvSpPr txBox="1"/>
          <p:nvPr/>
        </p:nvSpPr>
        <p:spPr>
          <a:xfrm>
            <a:off x="10789920" y="6473952"/>
            <a:ext cx="914400" cy="274320"/>
          </a:xfrm>
          <a:prstGeom prst="rect">
            <a:avLst/>
          </a:prstGeom>
          <a:noFill/>
        </p:spPr>
        <p:txBody>
          <a:bodyPr wrap="square" anchor="t" lIns="36576" rIns="36576" tIns="36576" bIns="36576">
            <a:spAutoFit/>
          </a:bodyPr>
          <a:lstStyle/>
          <a:p>
            <a:pPr algn="r"/>
            <a:r>
              <a:rPr sz="1000" b="0" i="0">
                <a:solidFill>
                  <a:srgbClr val="5B6577"/>
                </a:solidFill>
                <a:latin typeface="Segoe UI"/>
              </a:rPr>
              <a:t>6</a:t>
            </a:r>
          </a:p>
        </p:txBody>
      </p:sp>
      <p:sp>
        <p:nvSpPr>
          <p:cNvPr id="8" name="Rounded Rectangle 7"/>
          <p:cNvSpPr/>
          <p:nvPr/>
        </p:nvSpPr>
        <p:spPr>
          <a:xfrm>
            <a:off x="457200" y="1234440"/>
            <a:ext cx="6949440" cy="502920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9" name="TextBox 8"/>
          <p:cNvSpPr txBox="1"/>
          <p:nvPr/>
        </p:nvSpPr>
        <p:spPr>
          <a:xfrm>
            <a:off x="640080" y="1298448"/>
            <a:ext cx="6675120" cy="320040"/>
          </a:xfrm>
          <a:prstGeom prst="rect">
            <a:avLst/>
          </a:prstGeom>
          <a:noFill/>
        </p:spPr>
        <p:txBody>
          <a:bodyPr wrap="square" anchor="t" lIns="36576" rIns="36576" tIns="36576" bIns="36576">
            <a:spAutoFit/>
          </a:bodyPr>
          <a:lstStyle/>
          <a:p>
            <a:pPr algn="l"/>
            <a:r>
              <a:rPr sz="1100" b="1" i="0">
                <a:solidFill>
                  <a:srgbClr val="5B6577"/>
                </a:solidFill>
                <a:latin typeface="Segoe UI"/>
              </a:rPr>
              <a:t>Storage server  (typical: 12–90 HDD, 2–4 SSD/NVMe, 2× 25/100 GbE)</a:t>
            </a:r>
          </a:p>
        </p:txBody>
      </p:sp>
      <p:sp>
        <p:nvSpPr>
          <p:cNvPr id="10" name="Rounded Rectangle 9"/>
          <p:cNvSpPr/>
          <p:nvPr/>
        </p:nvSpPr>
        <p:spPr>
          <a:xfrm>
            <a:off x="685800" y="1737360"/>
            <a:ext cx="1005840" cy="685800"/>
          </a:xfrm>
          <a:prstGeom prst="roundRect">
            <a:avLst>
              <a:gd name="adj" fmla="val 10000"/>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Storage</a:t>
            </a:r>
          </a:p>
          <a:p>
            <a:pPr algn="ctr"/>
            <a:r>
              <a:rPr sz="1100" b="1" i="0">
                <a:solidFill>
                  <a:srgbClr val="FFFFFF"/>
                </a:solidFill>
                <a:latin typeface="Segoe UI"/>
              </a:rPr>
              <a:t>node 1</a:t>
            </a:r>
          </a:p>
        </p:txBody>
      </p:sp>
      <p:cxnSp>
        <p:nvCxnSpPr>
          <p:cNvPr id="11" name="Connector 10"/>
          <p:cNvCxnSpPr/>
          <p:nvPr/>
        </p:nvCxnSpPr>
        <p:spPr>
          <a:xfrm>
            <a:off x="1188720" y="2423160"/>
            <a:ext cx="0" cy="457200"/>
          </a:xfrm>
          <a:prstGeom prst="line">
            <a:avLst/>
          </a:prstGeom>
          <a:ln w="1524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783080" y="1737360"/>
            <a:ext cx="1005840" cy="685800"/>
          </a:xfrm>
          <a:prstGeom prst="roundRect">
            <a:avLst>
              <a:gd name="adj" fmla="val 10000"/>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Storage</a:t>
            </a:r>
          </a:p>
          <a:p>
            <a:pPr algn="ctr"/>
            <a:r>
              <a:rPr sz="1100" b="1" i="0">
                <a:solidFill>
                  <a:srgbClr val="FFFFFF"/>
                </a:solidFill>
                <a:latin typeface="Segoe UI"/>
              </a:rPr>
              <a:t>node 2</a:t>
            </a:r>
          </a:p>
        </p:txBody>
      </p:sp>
      <p:cxnSp>
        <p:nvCxnSpPr>
          <p:cNvPr id="13" name="Connector 12"/>
          <p:cNvCxnSpPr/>
          <p:nvPr/>
        </p:nvCxnSpPr>
        <p:spPr>
          <a:xfrm>
            <a:off x="2286000" y="2423160"/>
            <a:ext cx="0" cy="457200"/>
          </a:xfrm>
          <a:prstGeom prst="line">
            <a:avLst/>
          </a:prstGeom>
          <a:ln w="1524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80360" y="1737360"/>
            <a:ext cx="1005840" cy="685800"/>
          </a:xfrm>
          <a:prstGeom prst="roundRect">
            <a:avLst>
              <a:gd name="adj" fmla="val 10000"/>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Storage</a:t>
            </a:r>
          </a:p>
          <a:p>
            <a:pPr algn="ctr"/>
            <a:r>
              <a:rPr sz="1100" b="1" i="0">
                <a:solidFill>
                  <a:srgbClr val="FFFFFF"/>
                </a:solidFill>
                <a:latin typeface="Segoe UI"/>
              </a:rPr>
              <a:t>node 3</a:t>
            </a:r>
          </a:p>
        </p:txBody>
      </p:sp>
      <p:cxnSp>
        <p:nvCxnSpPr>
          <p:cNvPr id="15" name="Connector 14"/>
          <p:cNvCxnSpPr/>
          <p:nvPr/>
        </p:nvCxnSpPr>
        <p:spPr>
          <a:xfrm>
            <a:off x="3383280" y="2423160"/>
            <a:ext cx="0" cy="457200"/>
          </a:xfrm>
          <a:prstGeom prst="line">
            <a:avLst/>
          </a:prstGeom>
          <a:ln w="1524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977639" y="1737360"/>
            <a:ext cx="1005840" cy="685800"/>
          </a:xfrm>
          <a:prstGeom prst="roundRect">
            <a:avLst>
              <a:gd name="adj" fmla="val 10000"/>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Storage</a:t>
            </a:r>
          </a:p>
          <a:p>
            <a:pPr algn="ctr"/>
            <a:r>
              <a:rPr sz="1100" b="1" i="0">
                <a:solidFill>
                  <a:srgbClr val="FFFFFF"/>
                </a:solidFill>
                <a:latin typeface="Segoe UI"/>
              </a:rPr>
              <a:t>node 4</a:t>
            </a:r>
          </a:p>
        </p:txBody>
      </p:sp>
      <p:cxnSp>
        <p:nvCxnSpPr>
          <p:cNvPr id="17" name="Connector 16"/>
          <p:cNvCxnSpPr/>
          <p:nvPr/>
        </p:nvCxnSpPr>
        <p:spPr>
          <a:xfrm>
            <a:off x="4480559" y="2423160"/>
            <a:ext cx="0" cy="457200"/>
          </a:xfrm>
          <a:prstGeom prst="line">
            <a:avLst/>
          </a:prstGeom>
          <a:ln w="1524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74920" y="1737360"/>
            <a:ext cx="1005840" cy="685800"/>
          </a:xfrm>
          <a:prstGeom prst="roundRect">
            <a:avLst>
              <a:gd name="adj" fmla="val 10000"/>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Storage</a:t>
            </a:r>
          </a:p>
          <a:p>
            <a:pPr algn="ctr"/>
            <a:r>
              <a:rPr sz="1100" b="1" i="0">
                <a:solidFill>
                  <a:srgbClr val="FFFFFF"/>
                </a:solidFill>
                <a:latin typeface="Segoe UI"/>
              </a:rPr>
              <a:t>node 5</a:t>
            </a:r>
          </a:p>
        </p:txBody>
      </p:sp>
      <p:cxnSp>
        <p:nvCxnSpPr>
          <p:cNvPr id="19" name="Connector 18"/>
          <p:cNvCxnSpPr/>
          <p:nvPr/>
        </p:nvCxnSpPr>
        <p:spPr>
          <a:xfrm>
            <a:off x="5577840" y="2423160"/>
            <a:ext cx="0" cy="457200"/>
          </a:xfrm>
          <a:prstGeom prst="line">
            <a:avLst/>
          </a:prstGeom>
          <a:ln w="1524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72200" y="1737360"/>
            <a:ext cx="1005840" cy="685800"/>
          </a:xfrm>
          <a:prstGeom prst="roundRect">
            <a:avLst>
              <a:gd name="adj" fmla="val 10000"/>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Storage</a:t>
            </a:r>
          </a:p>
          <a:p>
            <a:pPr algn="ctr"/>
            <a:r>
              <a:rPr sz="1100" b="1" i="0">
                <a:solidFill>
                  <a:srgbClr val="FFFFFF"/>
                </a:solidFill>
                <a:latin typeface="Segoe UI"/>
              </a:rPr>
              <a:t>node 6</a:t>
            </a:r>
          </a:p>
        </p:txBody>
      </p:sp>
      <p:cxnSp>
        <p:nvCxnSpPr>
          <p:cNvPr id="21" name="Connector 20"/>
          <p:cNvCxnSpPr/>
          <p:nvPr/>
        </p:nvCxnSpPr>
        <p:spPr>
          <a:xfrm>
            <a:off x="6675120" y="2423160"/>
            <a:ext cx="0" cy="457200"/>
          </a:xfrm>
          <a:prstGeom prst="line">
            <a:avLst/>
          </a:prstGeom>
          <a:ln w="1524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85800" y="2880360"/>
            <a:ext cx="6492240" cy="54864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Segoe UI"/>
              </a:rPr>
              <a:t>IO daemons  ·  one per physical disk</a:t>
            </a:r>
          </a:p>
        </p:txBody>
      </p:sp>
      <p:cxnSp>
        <p:nvCxnSpPr>
          <p:cNvPr id="23" name="Connector 22"/>
          <p:cNvCxnSpPr/>
          <p:nvPr/>
        </p:nvCxnSpPr>
        <p:spPr>
          <a:xfrm>
            <a:off x="1828800" y="3429000"/>
            <a:ext cx="0" cy="411480"/>
          </a:xfrm>
          <a:prstGeom prst="line">
            <a:avLst/>
          </a:prstGeom>
          <a:ln w="1524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931920" y="3429000"/>
            <a:ext cx="0" cy="411480"/>
          </a:xfrm>
          <a:prstGeom prst="line">
            <a:avLst/>
          </a:prstGeom>
          <a:ln w="1524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035040" y="3429000"/>
            <a:ext cx="0" cy="411480"/>
          </a:xfrm>
          <a:prstGeom prst="line">
            <a:avLst/>
          </a:prstGeom>
          <a:ln w="1524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Can 25"/>
          <p:cNvSpPr/>
          <p:nvPr/>
        </p:nvSpPr>
        <p:spPr>
          <a:xfrm>
            <a:off x="685800" y="3840480"/>
            <a:ext cx="548640" cy="822960"/>
          </a:xfrm>
          <a:prstGeom prst="can">
            <a:avLst/>
          </a:prstGeom>
          <a:solidFill>
            <a:srgbClr val="FFFFFF"/>
          </a:solidFill>
          <a:ln w="12700">
            <a:solidFill>
              <a:srgbClr val="4A556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1F2A44"/>
                </a:solidFill>
                <a:latin typeface="Segoe UI"/>
              </a:rPr>
              <a:t>HDD</a:t>
            </a:r>
          </a:p>
        </p:txBody>
      </p:sp>
      <p:sp>
        <p:nvSpPr>
          <p:cNvPr id="27" name="Can 26"/>
          <p:cNvSpPr/>
          <p:nvPr/>
        </p:nvSpPr>
        <p:spPr>
          <a:xfrm>
            <a:off x="1335024" y="3840480"/>
            <a:ext cx="548640" cy="822960"/>
          </a:xfrm>
          <a:prstGeom prst="can">
            <a:avLst/>
          </a:prstGeom>
          <a:solidFill>
            <a:srgbClr val="FFFFFF"/>
          </a:solidFill>
          <a:ln w="12700">
            <a:solidFill>
              <a:srgbClr val="4A556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1F2A44"/>
                </a:solidFill>
                <a:latin typeface="Segoe UI"/>
              </a:rPr>
              <a:t>HDD</a:t>
            </a:r>
          </a:p>
        </p:txBody>
      </p:sp>
      <p:sp>
        <p:nvSpPr>
          <p:cNvPr id="28" name="Can 27"/>
          <p:cNvSpPr/>
          <p:nvPr/>
        </p:nvSpPr>
        <p:spPr>
          <a:xfrm>
            <a:off x="1984248" y="3840480"/>
            <a:ext cx="548640" cy="822960"/>
          </a:xfrm>
          <a:prstGeom prst="can">
            <a:avLst/>
          </a:prstGeom>
          <a:solidFill>
            <a:srgbClr val="FFFFFF"/>
          </a:solidFill>
          <a:ln w="12700">
            <a:solidFill>
              <a:srgbClr val="4A556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1F2A44"/>
                </a:solidFill>
                <a:latin typeface="Segoe UI"/>
              </a:rPr>
              <a:t>HDD</a:t>
            </a:r>
          </a:p>
        </p:txBody>
      </p:sp>
      <p:sp>
        <p:nvSpPr>
          <p:cNvPr id="29" name="Can 28"/>
          <p:cNvSpPr/>
          <p:nvPr/>
        </p:nvSpPr>
        <p:spPr>
          <a:xfrm>
            <a:off x="2633472" y="3840480"/>
            <a:ext cx="548640" cy="822960"/>
          </a:xfrm>
          <a:prstGeom prst="can">
            <a:avLst/>
          </a:prstGeom>
          <a:solidFill>
            <a:srgbClr val="FFFFFF"/>
          </a:solidFill>
          <a:ln w="12700">
            <a:solidFill>
              <a:srgbClr val="4A556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1F2A44"/>
                </a:solidFill>
                <a:latin typeface="Segoe UI"/>
              </a:rPr>
              <a:t>HDD</a:t>
            </a:r>
          </a:p>
        </p:txBody>
      </p:sp>
      <p:sp>
        <p:nvSpPr>
          <p:cNvPr id="30" name="Can 29"/>
          <p:cNvSpPr/>
          <p:nvPr/>
        </p:nvSpPr>
        <p:spPr>
          <a:xfrm>
            <a:off x="3282696" y="3840480"/>
            <a:ext cx="548640" cy="822960"/>
          </a:xfrm>
          <a:prstGeom prst="can">
            <a:avLst/>
          </a:prstGeom>
          <a:solidFill>
            <a:srgbClr val="FFFFFF"/>
          </a:solidFill>
          <a:ln w="12700">
            <a:solidFill>
              <a:srgbClr val="4A556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1F2A44"/>
                </a:solidFill>
                <a:latin typeface="Segoe UI"/>
              </a:rPr>
              <a:t>HDD</a:t>
            </a:r>
          </a:p>
        </p:txBody>
      </p:sp>
      <p:sp>
        <p:nvSpPr>
          <p:cNvPr id="31" name="Can 30"/>
          <p:cNvSpPr/>
          <p:nvPr/>
        </p:nvSpPr>
        <p:spPr>
          <a:xfrm>
            <a:off x="3931920" y="3840480"/>
            <a:ext cx="548640" cy="822960"/>
          </a:xfrm>
          <a:prstGeom prst="can">
            <a:avLst/>
          </a:prstGeom>
          <a:solidFill>
            <a:srgbClr val="FFFFFF"/>
          </a:solidFill>
          <a:ln w="12700">
            <a:solidFill>
              <a:srgbClr val="4A556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1F2A44"/>
                </a:solidFill>
                <a:latin typeface="Segoe UI"/>
              </a:rPr>
              <a:t>HDD</a:t>
            </a:r>
          </a:p>
        </p:txBody>
      </p:sp>
      <p:sp>
        <p:nvSpPr>
          <p:cNvPr id="32" name="Can 31"/>
          <p:cNvSpPr/>
          <p:nvPr/>
        </p:nvSpPr>
        <p:spPr>
          <a:xfrm>
            <a:off x="4581144" y="3840480"/>
            <a:ext cx="548640" cy="822960"/>
          </a:xfrm>
          <a:prstGeom prst="can">
            <a:avLst/>
          </a:prstGeom>
          <a:solidFill>
            <a:srgbClr val="FFFFFF"/>
          </a:solidFill>
          <a:ln w="12700">
            <a:solidFill>
              <a:srgbClr val="4A556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1F2A44"/>
                </a:solidFill>
                <a:latin typeface="Segoe UI"/>
              </a:rPr>
              <a:t>HDD</a:t>
            </a:r>
          </a:p>
        </p:txBody>
      </p:sp>
      <p:sp>
        <p:nvSpPr>
          <p:cNvPr id="33" name="Can 32"/>
          <p:cNvSpPr/>
          <p:nvPr/>
        </p:nvSpPr>
        <p:spPr>
          <a:xfrm>
            <a:off x="5230368" y="3840480"/>
            <a:ext cx="548640" cy="822960"/>
          </a:xfrm>
          <a:prstGeom prst="can">
            <a:avLst/>
          </a:prstGeom>
          <a:solidFill>
            <a:srgbClr val="FFFFFF"/>
          </a:solidFill>
          <a:ln w="12700">
            <a:solidFill>
              <a:srgbClr val="4A556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1F2A44"/>
                </a:solidFill>
                <a:latin typeface="Segoe UI"/>
              </a:rPr>
              <a:t>HDD</a:t>
            </a:r>
          </a:p>
        </p:txBody>
      </p:sp>
      <p:sp>
        <p:nvSpPr>
          <p:cNvPr id="34" name="Can 33"/>
          <p:cNvSpPr/>
          <p:nvPr/>
        </p:nvSpPr>
        <p:spPr>
          <a:xfrm>
            <a:off x="5879592" y="3840480"/>
            <a:ext cx="548640" cy="822960"/>
          </a:xfrm>
          <a:prstGeom prst="can">
            <a:avLst/>
          </a:prstGeom>
          <a:solidFill>
            <a:srgbClr val="FFFFFF"/>
          </a:solidFill>
          <a:ln w="12700">
            <a:solidFill>
              <a:srgbClr val="4A556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1F2A44"/>
                </a:solidFill>
                <a:latin typeface="Segoe UI"/>
              </a:rPr>
              <a:t>HDD</a:t>
            </a:r>
          </a:p>
        </p:txBody>
      </p:sp>
      <p:sp>
        <p:nvSpPr>
          <p:cNvPr id="35" name="Rectangle 34"/>
          <p:cNvSpPr/>
          <p:nvPr/>
        </p:nvSpPr>
        <p:spPr>
          <a:xfrm>
            <a:off x="6528816" y="3840480"/>
            <a:ext cx="548640" cy="822960"/>
          </a:xfrm>
          <a:prstGeom prst="rect">
            <a:avLst/>
          </a:prstGeom>
          <a:solidFill>
            <a:srgbClr val="FFFFFF"/>
          </a:solidFill>
          <a:ln w="12700">
            <a:solidFill>
              <a:srgbClr val="4A556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1F2A44"/>
                </a:solidFill>
                <a:latin typeface="Segoe UI"/>
              </a:rPr>
              <a:t>…</a:t>
            </a:r>
          </a:p>
        </p:txBody>
      </p:sp>
      <p:sp>
        <p:nvSpPr>
          <p:cNvPr id="36" name="TextBox 35"/>
          <p:cNvSpPr txBox="1"/>
          <p:nvPr/>
        </p:nvSpPr>
        <p:spPr>
          <a:xfrm>
            <a:off x="685800" y="4681728"/>
            <a:ext cx="6492240" cy="274320"/>
          </a:xfrm>
          <a:prstGeom prst="rect">
            <a:avLst/>
          </a:prstGeom>
          <a:noFill/>
        </p:spPr>
        <p:txBody>
          <a:bodyPr wrap="square" anchor="t" lIns="36576" rIns="36576" tIns="36576" bIns="36576">
            <a:spAutoFit/>
          </a:bodyPr>
          <a:lstStyle/>
          <a:p>
            <a:pPr algn="l"/>
            <a:r>
              <a:rPr sz="1050" b="0" i="0">
                <a:solidFill>
                  <a:srgbClr val="5B6577"/>
                </a:solidFill>
                <a:latin typeface="Segoe UI"/>
              </a:rPr>
              <a:t>Data disks: fragments packed into large container files</a:t>
            </a:r>
          </a:p>
        </p:txBody>
      </p:sp>
      <p:sp>
        <p:nvSpPr>
          <p:cNvPr id="37" name="Rounded Rectangle 36"/>
          <p:cNvSpPr/>
          <p:nvPr/>
        </p:nvSpPr>
        <p:spPr>
          <a:xfrm>
            <a:off x="685800" y="5029200"/>
            <a:ext cx="3154680" cy="566928"/>
          </a:xfrm>
          <a:prstGeom prst="roundRect">
            <a:avLst>
              <a:gd name="adj" fmla="val 10000"/>
            </a:avLst>
          </a:prstGeom>
          <a:solidFill>
            <a:srgbClr val="E8E1F3"/>
          </a:solidFill>
          <a:ln w="12700">
            <a:solidFill>
              <a:srgbClr val="6B4FA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1F2A44"/>
                </a:solidFill>
                <a:latin typeface="Segoe UI"/>
              </a:rPr>
              <a:t>SSD / NVMe  ·  fragment index</a:t>
            </a:r>
          </a:p>
        </p:txBody>
      </p:sp>
      <p:sp>
        <p:nvSpPr>
          <p:cNvPr id="38" name="Rounded Rectangle 37"/>
          <p:cNvSpPr/>
          <p:nvPr/>
        </p:nvSpPr>
        <p:spPr>
          <a:xfrm>
            <a:off x="4023360" y="5029200"/>
            <a:ext cx="3154680" cy="566928"/>
          </a:xfrm>
          <a:prstGeom prst="roundRect">
            <a:avLst>
              <a:gd name="adj" fmla="val 10000"/>
            </a:avLst>
          </a:prstGeom>
          <a:solidFill>
            <a:srgbClr val="E8E1F3"/>
          </a:solidFill>
          <a:ln w="12700">
            <a:solidFill>
              <a:srgbClr val="6B4FA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1F2A44"/>
                </a:solidFill>
                <a:latin typeface="Segoe UI"/>
              </a:rPr>
              <a:t>SSD / NVMe  ·  metadata &amp; journals</a:t>
            </a:r>
          </a:p>
        </p:txBody>
      </p:sp>
      <p:sp>
        <p:nvSpPr>
          <p:cNvPr id="39" name="TextBox 38"/>
          <p:cNvSpPr txBox="1"/>
          <p:nvPr/>
        </p:nvSpPr>
        <p:spPr>
          <a:xfrm>
            <a:off x="685800" y="5669280"/>
            <a:ext cx="6492240" cy="274320"/>
          </a:xfrm>
          <a:prstGeom prst="rect">
            <a:avLst/>
          </a:prstGeom>
          <a:noFill/>
        </p:spPr>
        <p:txBody>
          <a:bodyPr wrap="square" anchor="t" lIns="36576" rIns="36576" tIns="36576" bIns="36576">
            <a:spAutoFit/>
          </a:bodyPr>
          <a:lstStyle/>
          <a:p>
            <a:pPr algn="l"/>
            <a:r>
              <a:rPr sz="1050" b="0" i="0">
                <a:solidFill>
                  <a:srgbClr val="5B6577"/>
                </a:solidFill>
                <a:latin typeface="Segoe UI"/>
              </a:rPr>
              <a:t>Index locates any fragment in a single disk access</a:t>
            </a:r>
          </a:p>
        </p:txBody>
      </p:sp>
      <p:graphicFrame>
        <p:nvGraphicFramePr>
          <p:cNvPr id="40" name="Table 39"/>
          <p:cNvGraphicFramePr>
            <a:graphicFrameLocks noGrp="1"/>
          </p:cNvGraphicFramePr>
          <p:nvPr/>
        </p:nvGraphicFramePr>
        <p:xfrm>
          <a:off x="7680960" y="1234440"/>
          <a:ext cx="4069080" cy="4224528"/>
        </p:xfrm>
        <a:graphic>
          <a:graphicData uri="http://schemas.openxmlformats.org/drawingml/2006/table">
            <a:tbl>
              <a:tblPr firstRow="1" bandRow="1">
                <a:tableStyleId>{5C22544A-7EE6-4342-B048-85BDC9FD1C3A}</a:tableStyleId>
              </a:tblPr>
              <a:tblGrid>
                <a:gridCol w="1417320"/>
                <a:gridCol w="2651760"/>
              </a:tblGrid>
              <a:tr h="603504">
                <a:tc>
                  <a:txBody>
                    <a:bodyPr wrap="square"/>
                    <a:lstStyle/>
                    <a:p>
                      <a:r>
                        <a:rPr sz="1100" b="1" i="0">
                          <a:solidFill>
                            <a:srgbClr val="FFFFFF"/>
                          </a:solidFill>
                          <a:latin typeface="Segoe UI"/>
                        </a:rPr>
                        <a:t>Component</a:t>
                      </a:r>
                    </a:p>
                  </a:txBody>
                  <a:tcPr marL="73152" marR="73152" marT="27432" marB="27432" anchor="ctr">
                    <a:solidFill>
                      <a:srgbClr val="1F2A44"/>
                    </a:solidFill>
                  </a:tcPr>
                </a:tc>
                <a:tc>
                  <a:txBody>
                    <a:bodyPr wrap="square"/>
                    <a:lstStyle/>
                    <a:p>
                      <a:r>
                        <a:rPr sz="1100" b="1" i="0">
                          <a:solidFill>
                            <a:srgbClr val="FFFFFF"/>
                          </a:solidFill>
                          <a:latin typeface="Segoe UI"/>
                        </a:rPr>
                        <a:t>Role</a:t>
                      </a:r>
                    </a:p>
                  </a:txBody>
                  <a:tcPr marL="73152" marR="73152" marT="27432" marB="27432" anchor="ctr">
                    <a:solidFill>
                      <a:srgbClr val="1F2A44"/>
                    </a:solidFill>
                  </a:tcPr>
                </a:tc>
              </a:tr>
              <a:tr h="603504">
                <a:tc>
                  <a:txBody>
                    <a:bodyPr wrap="square"/>
                    <a:lstStyle/>
                    <a:p>
                      <a:r>
                        <a:rPr sz="1100" b="1" i="0">
                          <a:solidFill>
                            <a:srgbClr val="2B2F36"/>
                          </a:solidFill>
                          <a:latin typeface="Segoe UI"/>
                        </a:rPr>
                        <a:t>Storage node</a:t>
                      </a:r>
                    </a:p>
                  </a:txBody>
                  <a:tcPr marL="73152" marR="73152" marT="27432" marB="27432" anchor="ctr">
                    <a:solidFill>
                      <a:srgbClr val="FFFFFF"/>
                    </a:solidFill>
                  </a:tcPr>
                </a:tc>
                <a:tc>
                  <a:txBody>
                    <a:bodyPr wrap="square"/>
                    <a:lstStyle/>
                    <a:p>
                      <a:r>
                        <a:rPr sz="1100" b="0" i="0">
                          <a:solidFill>
                            <a:srgbClr val="2B2F36"/>
                          </a:solidFill>
                          <a:latin typeface="Segoe UI"/>
                        </a:rPr>
                        <a:t>Peer on the ring; owns key ranges; serves fragment requests</a:t>
                      </a:r>
                    </a:p>
                  </a:txBody>
                  <a:tcPr marL="73152" marR="73152" marT="27432" marB="27432" anchor="ctr">
                    <a:solidFill>
                      <a:srgbClr val="FFFFFF"/>
                    </a:solidFill>
                  </a:tcPr>
                </a:tc>
              </a:tr>
              <a:tr h="603504">
                <a:tc>
                  <a:txBody>
                    <a:bodyPr wrap="square"/>
                    <a:lstStyle/>
                    <a:p>
                      <a:r>
                        <a:rPr sz="1100" b="1" i="0">
                          <a:solidFill>
                            <a:srgbClr val="2B2F36"/>
                          </a:solidFill>
                          <a:latin typeface="Segoe UI"/>
                        </a:rPr>
                        <a:t>IO daemon</a:t>
                      </a:r>
                    </a:p>
                  </a:txBody>
                  <a:tcPr marL="73152" marR="73152" marT="27432" marB="27432" anchor="ctr">
                    <a:solidFill>
                      <a:srgbClr val="F2F4F7"/>
                    </a:solidFill>
                  </a:tcPr>
                </a:tc>
                <a:tc>
                  <a:txBody>
                    <a:bodyPr wrap="square"/>
                    <a:lstStyle/>
                    <a:p>
                      <a:r>
                        <a:rPr sz="1100" b="0" i="0">
                          <a:solidFill>
                            <a:srgbClr val="2B2F36"/>
                          </a:solidFill>
                          <a:latin typeface="Segoe UI"/>
                        </a:rPr>
                        <a:t>One per disk; reads and writes fragments</a:t>
                      </a:r>
                    </a:p>
                  </a:txBody>
                  <a:tcPr marL="73152" marR="73152" marT="27432" marB="27432" anchor="ctr">
                    <a:solidFill>
                      <a:srgbClr val="F2F4F7"/>
                    </a:solidFill>
                  </a:tcPr>
                </a:tc>
              </a:tr>
              <a:tr h="603504">
                <a:tc>
                  <a:txBody>
                    <a:bodyPr wrap="square"/>
                    <a:lstStyle/>
                    <a:p>
                      <a:r>
                        <a:rPr sz="1100" b="1" i="0">
                          <a:solidFill>
                            <a:srgbClr val="2B2F36"/>
                          </a:solidFill>
                          <a:latin typeface="Segoe UI"/>
                        </a:rPr>
                        <a:t>Containers</a:t>
                      </a:r>
                    </a:p>
                  </a:txBody>
                  <a:tcPr marL="73152" marR="73152" marT="27432" marB="27432" anchor="ctr">
                    <a:solidFill>
                      <a:srgbClr val="FFFFFF"/>
                    </a:solidFill>
                  </a:tcPr>
                </a:tc>
                <a:tc>
                  <a:txBody>
                    <a:bodyPr wrap="square"/>
                    <a:lstStyle/>
                    <a:p>
                      <a:r>
                        <a:rPr sz="1100" b="0" i="0">
                          <a:solidFill>
                            <a:srgbClr val="2B2F36"/>
                          </a:solidFill>
                          <a:latin typeface="Segoe UI"/>
                        </a:rPr>
                        <a:t>Pack many fragments per file for efficient disk use</a:t>
                      </a:r>
                    </a:p>
                  </a:txBody>
                  <a:tcPr marL="73152" marR="73152" marT="27432" marB="27432" anchor="ctr">
                    <a:solidFill>
                      <a:srgbClr val="FFFFFF"/>
                    </a:solidFill>
                  </a:tcPr>
                </a:tc>
              </a:tr>
              <a:tr h="603504">
                <a:tc>
                  <a:txBody>
                    <a:bodyPr wrap="square"/>
                    <a:lstStyle/>
                    <a:p>
                      <a:r>
                        <a:rPr sz="1100" b="1" i="0">
                          <a:solidFill>
                            <a:srgbClr val="2B2F36"/>
                          </a:solidFill>
                          <a:latin typeface="Segoe UI"/>
                        </a:rPr>
                        <a:t>SSD index</a:t>
                      </a:r>
                    </a:p>
                  </a:txBody>
                  <a:tcPr marL="73152" marR="73152" marT="27432" marB="27432" anchor="ctr">
                    <a:solidFill>
                      <a:srgbClr val="F2F4F7"/>
                    </a:solidFill>
                  </a:tcPr>
                </a:tc>
                <a:tc>
                  <a:txBody>
                    <a:bodyPr wrap="square"/>
                    <a:lstStyle/>
                    <a:p>
                      <a:r>
                        <a:rPr sz="1100" b="0" i="0">
                          <a:solidFill>
                            <a:srgbClr val="2B2F36"/>
                          </a:solidFill>
                          <a:latin typeface="Segoe UI"/>
                        </a:rPr>
                        <a:t>Locates any fragment in one disk access</a:t>
                      </a:r>
                    </a:p>
                  </a:txBody>
                  <a:tcPr marL="73152" marR="73152" marT="27432" marB="27432" anchor="ctr">
                    <a:solidFill>
                      <a:srgbClr val="F2F4F7"/>
                    </a:solidFill>
                  </a:tcPr>
                </a:tc>
              </a:tr>
              <a:tr h="603504">
                <a:tc>
                  <a:txBody>
                    <a:bodyPr wrap="square"/>
                    <a:lstStyle/>
                    <a:p>
                      <a:r>
                        <a:rPr sz="1100" b="1" i="0">
                          <a:solidFill>
                            <a:srgbClr val="2B2F36"/>
                          </a:solidFill>
                          <a:latin typeface="Segoe UI"/>
                        </a:rPr>
                        <a:t>Checksums</a:t>
                      </a:r>
                    </a:p>
                  </a:txBody>
                  <a:tcPr marL="73152" marR="73152" marT="27432" marB="27432" anchor="ctr">
                    <a:solidFill>
                      <a:srgbClr val="FFFFFF"/>
                    </a:solidFill>
                  </a:tcPr>
                </a:tc>
                <a:tc>
                  <a:txBody>
                    <a:bodyPr wrap="square"/>
                    <a:lstStyle/>
                    <a:p>
                      <a:r>
                        <a:rPr sz="1100" b="0" i="0">
                          <a:solidFill>
                            <a:srgbClr val="2B2F36"/>
                          </a:solidFill>
                          <a:latin typeface="Segoe UI"/>
                        </a:rPr>
                        <a:t>Detect silent corruption; background scrub repairs it</a:t>
                      </a:r>
                    </a:p>
                  </a:txBody>
                  <a:tcPr marL="73152" marR="73152" marT="27432" marB="27432" anchor="ctr">
                    <a:solidFill>
                      <a:srgbClr val="FFFFFF"/>
                    </a:solidFill>
                  </a:tcPr>
                </a:tc>
              </a:tr>
              <a:tr h="603504">
                <a:tc>
                  <a:txBody>
                    <a:bodyPr wrap="square"/>
                    <a:lstStyle/>
                    <a:p>
                      <a:r>
                        <a:rPr sz="1100" b="1" i="0">
                          <a:solidFill>
                            <a:srgbClr val="2B2F36"/>
                          </a:solidFill>
                          <a:latin typeface="Segoe UI"/>
                        </a:rPr>
                        <a:t>Several nodes per server</a:t>
                      </a:r>
                    </a:p>
                  </a:txBody>
                  <a:tcPr marL="73152" marR="73152" marT="27432" marB="27432" anchor="ctr">
                    <a:solidFill>
                      <a:srgbClr val="F2F4F7"/>
                    </a:solidFill>
                  </a:tcPr>
                </a:tc>
                <a:tc>
                  <a:txBody>
                    <a:bodyPr wrap="square"/>
                    <a:lstStyle/>
                    <a:p>
                      <a:r>
                        <a:rPr sz="1100" b="0" i="0">
                          <a:solidFill>
                            <a:srgbClr val="2B2F36"/>
                          </a:solidFill>
                          <a:latin typeface="Segoe UI"/>
                        </a:rPr>
                        <a:t>Even load; rebuild work shared by all peers</a:t>
                      </a:r>
                    </a:p>
                  </a:txBody>
                  <a:tcPr marL="73152" marR="73152" marT="27432" marB="27432" anchor="ctr">
                    <a:solidFill>
                      <a:srgbClr val="F2F4F7"/>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 name="Rectangle 2"/>
          <p:cNvSpPr/>
          <p:nvPr/>
        </p:nvSpPr>
        <p:spPr>
          <a:xfrm>
            <a:off x="0" y="914400"/>
            <a:ext cx="12191695" cy="54864"/>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4" name="TextBox 3"/>
          <p:cNvSpPr txBox="1"/>
          <p:nvPr/>
        </p:nvSpPr>
        <p:spPr>
          <a:xfrm>
            <a:off x="457200" y="91440"/>
            <a:ext cx="11247120" cy="502920"/>
          </a:xfrm>
          <a:prstGeom prst="rect">
            <a:avLst/>
          </a:prstGeom>
          <a:noFill/>
        </p:spPr>
        <p:txBody>
          <a:bodyPr wrap="square" anchor="ctr" lIns="36576" rIns="36576" tIns="36576" bIns="36576">
            <a:spAutoFit/>
          </a:bodyPr>
          <a:lstStyle/>
          <a:p>
            <a:pPr algn="l"/>
            <a:r>
              <a:rPr sz="2600" b="1" i="0">
                <a:solidFill>
                  <a:srgbClr val="FFFFFF"/>
                </a:solidFill>
                <a:latin typeface="Segoe UI"/>
              </a:rPr>
              <a:t>Data Placement: the Distributed Key Ring</a:t>
            </a:r>
          </a:p>
        </p:txBody>
      </p:sp>
      <p:sp>
        <p:nvSpPr>
          <p:cNvPr id="5" name="TextBox 4"/>
          <p:cNvSpPr txBox="1"/>
          <p:nvPr/>
        </p:nvSpPr>
        <p:spPr>
          <a:xfrm>
            <a:off x="457200" y="548640"/>
            <a:ext cx="11247120" cy="320040"/>
          </a:xfrm>
          <a:prstGeom prst="rect">
            <a:avLst/>
          </a:prstGeom>
          <a:noFill/>
        </p:spPr>
        <p:txBody>
          <a:bodyPr wrap="square" anchor="t" lIns="36576" rIns="36576" tIns="36576" bIns="36576">
            <a:spAutoFit/>
          </a:bodyPr>
          <a:lstStyle/>
          <a:p>
            <a:pPr algn="l"/>
            <a:r>
              <a:rPr sz="1300" b="0" i="0">
                <a:solidFill>
                  <a:srgbClr val="C9D3E3"/>
                </a:solidFill>
                <a:latin typeface="Segoe UI"/>
              </a:rPr>
              <a:t>Location is computed, not looked up</a:t>
            </a:r>
          </a:p>
        </p:txBody>
      </p:sp>
      <p:sp>
        <p:nvSpPr>
          <p:cNvPr id="6" name="TextBox 5"/>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i="0">
                <a:solidFill>
                  <a:srgbClr val="5B6577"/>
                </a:solidFill>
                <a:latin typeface="Segoe UI"/>
              </a:rPr>
              <a:t>Scality RING  |  Architecture, Deployment &amp; Operations</a:t>
            </a:r>
          </a:p>
        </p:txBody>
      </p:sp>
      <p:sp>
        <p:nvSpPr>
          <p:cNvPr id="7" name="TextBox 6"/>
          <p:cNvSpPr txBox="1"/>
          <p:nvPr/>
        </p:nvSpPr>
        <p:spPr>
          <a:xfrm>
            <a:off x="10789920" y="6473952"/>
            <a:ext cx="914400" cy="274320"/>
          </a:xfrm>
          <a:prstGeom prst="rect">
            <a:avLst/>
          </a:prstGeom>
          <a:noFill/>
        </p:spPr>
        <p:txBody>
          <a:bodyPr wrap="square" anchor="t" lIns="36576" rIns="36576" tIns="36576" bIns="36576">
            <a:spAutoFit/>
          </a:bodyPr>
          <a:lstStyle/>
          <a:p>
            <a:pPr algn="r"/>
            <a:r>
              <a:rPr sz="1000" b="0" i="0">
                <a:solidFill>
                  <a:srgbClr val="5B6577"/>
                </a:solidFill>
                <a:latin typeface="Segoe UI"/>
              </a:rPr>
              <a:t>7</a:t>
            </a:r>
          </a:p>
        </p:txBody>
      </p:sp>
      <p:sp>
        <p:nvSpPr>
          <p:cNvPr id="8" name="Oval 7"/>
          <p:cNvSpPr/>
          <p:nvPr/>
        </p:nvSpPr>
        <p:spPr>
          <a:xfrm>
            <a:off x="1097279" y="1737359"/>
            <a:ext cx="4023360" cy="4023360"/>
          </a:xfrm>
          <a:prstGeom prst="ellipse">
            <a:avLst/>
          </a:prstGeom>
          <a:noFill/>
          <a:ln w="3175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9" name="Oval 8"/>
          <p:cNvSpPr/>
          <p:nvPr/>
        </p:nvSpPr>
        <p:spPr>
          <a:xfrm>
            <a:off x="3886200" y="1778274"/>
            <a:ext cx="457200" cy="457200"/>
          </a:xfrm>
          <a:prstGeom prst="ellipse">
            <a:avLst/>
          </a:prstGeom>
          <a:solidFill>
            <a:srgbClr val="0F7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S1</a:t>
            </a:r>
          </a:p>
        </p:txBody>
      </p:sp>
      <p:sp>
        <p:nvSpPr>
          <p:cNvPr id="10" name="Oval 9"/>
          <p:cNvSpPr/>
          <p:nvPr/>
        </p:nvSpPr>
        <p:spPr>
          <a:xfrm>
            <a:off x="4622525" y="2514600"/>
            <a:ext cx="457200" cy="457200"/>
          </a:xfrm>
          <a:prstGeom prst="ellipse">
            <a:avLst/>
          </a:prstGeom>
          <a:solidFill>
            <a:srgbClr val="E8892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S2</a:t>
            </a:r>
          </a:p>
        </p:txBody>
      </p:sp>
      <p:sp>
        <p:nvSpPr>
          <p:cNvPr id="11" name="Oval 10"/>
          <p:cNvSpPr/>
          <p:nvPr/>
        </p:nvSpPr>
        <p:spPr>
          <a:xfrm>
            <a:off x="4892040" y="3520439"/>
            <a:ext cx="457200" cy="457200"/>
          </a:xfrm>
          <a:prstGeom prst="ellipse">
            <a:avLst/>
          </a:prstGeom>
          <a:solidFill>
            <a:srgbClr val="6B4FA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S3</a:t>
            </a:r>
          </a:p>
        </p:txBody>
      </p:sp>
      <p:sp>
        <p:nvSpPr>
          <p:cNvPr id="12" name="Oval 11"/>
          <p:cNvSpPr/>
          <p:nvPr/>
        </p:nvSpPr>
        <p:spPr>
          <a:xfrm>
            <a:off x="4622525" y="4526279"/>
            <a:ext cx="457200" cy="457200"/>
          </a:xfrm>
          <a:prstGeom prst="ellipse">
            <a:avLst/>
          </a:prstGeom>
          <a:solidFill>
            <a:srgbClr val="2E9E5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S4</a:t>
            </a:r>
          </a:p>
        </p:txBody>
      </p:sp>
      <p:sp>
        <p:nvSpPr>
          <p:cNvPr id="13" name="Oval 12"/>
          <p:cNvSpPr/>
          <p:nvPr/>
        </p:nvSpPr>
        <p:spPr>
          <a:xfrm>
            <a:off x="3886200" y="5262605"/>
            <a:ext cx="457200" cy="457200"/>
          </a:xfrm>
          <a:prstGeom prst="ellipse">
            <a:avLst/>
          </a:prstGeom>
          <a:solidFill>
            <a:srgbClr val="2F6FD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S5</a:t>
            </a:r>
          </a:p>
        </p:txBody>
      </p:sp>
      <p:sp>
        <p:nvSpPr>
          <p:cNvPr id="14" name="Oval 13"/>
          <p:cNvSpPr/>
          <p:nvPr/>
        </p:nvSpPr>
        <p:spPr>
          <a:xfrm>
            <a:off x="2880360" y="5532120"/>
            <a:ext cx="457200" cy="457200"/>
          </a:xfrm>
          <a:prstGeom prst="ellipse">
            <a:avLst/>
          </a:prstGeom>
          <a:solidFill>
            <a:srgbClr val="C2477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S6</a:t>
            </a:r>
          </a:p>
        </p:txBody>
      </p:sp>
      <p:sp>
        <p:nvSpPr>
          <p:cNvPr id="15" name="Oval 14"/>
          <p:cNvSpPr/>
          <p:nvPr/>
        </p:nvSpPr>
        <p:spPr>
          <a:xfrm>
            <a:off x="1874520" y="5262605"/>
            <a:ext cx="457200" cy="457200"/>
          </a:xfrm>
          <a:prstGeom prst="ellipse">
            <a:avLst/>
          </a:prstGeom>
          <a:solidFill>
            <a:srgbClr val="0F7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S1</a:t>
            </a:r>
          </a:p>
        </p:txBody>
      </p:sp>
      <p:sp>
        <p:nvSpPr>
          <p:cNvPr id="16" name="Oval 15"/>
          <p:cNvSpPr/>
          <p:nvPr/>
        </p:nvSpPr>
        <p:spPr>
          <a:xfrm>
            <a:off x="1138194" y="4526279"/>
            <a:ext cx="457200" cy="457200"/>
          </a:xfrm>
          <a:prstGeom prst="ellipse">
            <a:avLst/>
          </a:prstGeom>
          <a:solidFill>
            <a:srgbClr val="E8892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S2</a:t>
            </a:r>
          </a:p>
        </p:txBody>
      </p:sp>
      <p:sp>
        <p:nvSpPr>
          <p:cNvPr id="17" name="Oval 16"/>
          <p:cNvSpPr/>
          <p:nvPr/>
        </p:nvSpPr>
        <p:spPr>
          <a:xfrm>
            <a:off x="868679" y="3520439"/>
            <a:ext cx="457200" cy="457200"/>
          </a:xfrm>
          <a:prstGeom prst="ellipse">
            <a:avLst/>
          </a:prstGeom>
          <a:solidFill>
            <a:srgbClr val="6B4FA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S3</a:t>
            </a:r>
          </a:p>
        </p:txBody>
      </p:sp>
      <p:sp>
        <p:nvSpPr>
          <p:cNvPr id="18" name="Oval 17"/>
          <p:cNvSpPr/>
          <p:nvPr/>
        </p:nvSpPr>
        <p:spPr>
          <a:xfrm>
            <a:off x="1138194" y="2514599"/>
            <a:ext cx="457200" cy="457200"/>
          </a:xfrm>
          <a:prstGeom prst="ellipse">
            <a:avLst/>
          </a:prstGeom>
          <a:solidFill>
            <a:srgbClr val="2E9E5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S4</a:t>
            </a:r>
          </a:p>
        </p:txBody>
      </p:sp>
      <p:sp>
        <p:nvSpPr>
          <p:cNvPr id="19" name="Oval 18"/>
          <p:cNvSpPr/>
          <p:nvPr/>
        </p:nvSpPr>
        <p:spPr>
          <a:xfrm>
            <a:off x="1874519" y="1778274"/>
            <a:ext cx="457200" cy="457200"/>
          </a:xfrm>
          <a:prstGeom prst="ellipse">
            <a:avLst/>
          </a:prstGeom>
          <a:solidFill>
            <a:srgbClr val="2F6FD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S5</a:t>
            </a:r>
          </a:p>
        </p:txBody>
      </p:sp>
      <p:sp>
        <p:nvSpPr>
          <p:cNvPr id="20" name="Oval 19"/>
          <p:cNvSpPr/>
          <p:nvPr/>
        </p:nvSpPr>
        <p:spPr>
          <a:xfrm>
            <a:off x="2880359" y="1508759"/>
            <a:ext cx="457200" cy="457200"/>
          </a:xfrm>
          <a:prstGeom prst="ellipse">
            <a:avLst/>
          </a:prstGeom>
          <a:solidFill>
            <a:srgbClr val="C2477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S6</a:t>
            </a:r>
          </a:p>
        </p:txBody>
      </p:sp>
      <p:sp>
        <p:nvSpPr>
          <p:cNvPr id="21" name="TextBox 20"/>
          <p:cNvSpPr txBox="1"/>
          <p:nvPr/>
        </p:nvSpPr>
        <p:spPr>
          <a:xfrm>
            <a:off x="2103120" y="3337559"/>
            <a:ext cx="2011680" cy="822960"/>
          </a:xfrm>
          <a:prstGeom prst="rect">
            <a:avLst/>
          </a:prstGeom>
          <a:noFill/>
        </p:spPr>
        <p:txBody>
          <a:bodyPr wrap="square" anchor="ctr" lIns="36576" rIns="36576" tIns="36576" bIns="36576">
            <a:spAutoFit/>
          </a:bodyPr>
          <a:lstStyle/>
          <a:p>
            <a:pPr algn="ctr"/>
            <a:r>
              <a:rPr sz="1400" b="1" i="0">
                <a:solidFill>
                  <a:srgbClr val="5B6577"/>
                </a:solidFill>
                <a:latin typeface="Segoe UI"/>
              </a:rPr>
              <a:t>Distributed</a:t>
            </a:r>
          </a:p>
          <a:p>
            <a:pPr algn="ctr"/>
            <a:r>
              <a:rPr sz="1400" b="1" i="0">
                <a:solidFill>
                  <a:srgbClr val="5B6577"/>
                </a:solidFill>
                <a:latin typeface="Segoe UI"/>
              </a:rPr>
              <a:t>key space</a:t>
            </a:r>
          </a:p>
        </p:txBody>
      </p:sp>
      <p:sp>
        <p:nvSpPr>
          <p:cNvPr id="22" name="Diamond 21"/>
          <p:cNvSpPr/>
          <p:nvPr/>
        </p:nvSpPr>
        <p:spPr>
          <a:xfrm>
            <a:off x="4868153" y="4351089"/>
            <a:ext cx="237744" cy="237744"/>
          </a:xfrm>
          <a:prstGeom prst="diamond">
            <a:avLst/>
          </a:prstGeom>
          <a:solidFill>
            <a:srgbClr val="E8892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23" name="Diamond 22"/>
          <p:cNvSpPr/>
          <p:nvPr/>
        </p:nvSpPr>
        <p:spPr>
          <a:xfrm>
            <a:off x="1426719" y="4896159"/>
            <a:ext cx="237744" cy="237744"/>
          </a:xfrm>
          <a:prstGeom prst="diamond">
            <a:avLst/>
          </a:prstGeom>
          <a:solidFill>
            <a:srgbClr val="E8892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24" name="Diamond 23"/>
          <p:cNvSpPr/>
          <p:nvPr/>
        </p:nvSpPr>
        <p:spPr>
          <a:xfrm>
            <a:off x="2675391" y="1643255"/>
            <a:ext cx="237744" cy="237744"/>
          </a:xfrm>
          <a:prstGeom prst="diamond">
            <a:avLst/>
          </a:prstGeom>
          <a:solidFill>
            <a:srgbClr val="E8892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25" name="TextBox 24"/>
          <p:cNvSpPr txBox="1"/>
          <p:nvPr/>
        </p:nvSpPr>
        <p:spPr>
          <a:xfrm>
            <a:off x="6035040" y="1234440"/>
            <a:ext cx="5715000" cy="411480"/>
          </a:xfrm>
          <a:prstGeom prst="rect">
            <a:avLst/>
          </a:prstGeom>
          <a:noFill/>
        </p:spPr>
        <p:txBody>
          <a:bodyPr wrap="square" anchor="t" lIns="36576" rIns="36576" tIns="36576" bIns="36576">
            <a:spAutoFit/>
          </a:bodyPr>
          <a:lstStyle/>
          <a:p>
            <a:pPr algn="l"/>
            <a:r>
              <a:rPr sz="1800" b="1" i="0">
                <a:solidFill>
                  <a:srgbClr val="0F7C8C"/>
                </a:solidFill>
                <a:latin typeface="Segoe UI"/>
              </a:rPr>
              <a:t>How placement works</a:t>
            </a:r>
          </a:p>
        </p:txBody>
      </p:sp>
      <p:sp>
        <p:nvSpPr>
          <p:cNvPr id="26" name="TextBox 25"/>
          <p:cNvSpPr txBox="1"/>
          <p:nvPr/>
        </p:nvSpPr>
        <p:spPr>
          <a:xfrm>
            <a:off x="6035040" y="1691640"/>
            <a:ext cx="5715000" cy="3566160"/>
          </a:xfrm>
          <a:prstGeom prst="rect">
            <a:avLst/>
          </a:prstGeom>
          <a:noFill/>
        </p:spPr>
        <p:txBody>
          <a:bodyPr wrap="square" anchor="t" lIns="36576" rIns="36576" tIns="36576" bIns="36576">
            <a:spAutoFit/>
          </a:bodyPr>
          <a:lstStyle/>
          <a:p>
            <a:pPr algn="l">
              <a:spcAft>
                <a:spcPts val="700"/>
              </a:spcAft>
            </a:pPr>
            <a:r>
              <a:rPr sz="1400" b="0" i="0">
                <a:solidFill>
                  <a:srgbClr val="2B2F36"/>
                </a:solidFill>
                <a:latin typeface="Segoe UI"/>
              </a:rPr>
              <a:t>•  Every fragment receives a 160-bit key; the key space forms a ring</a:t>
            </a:r>
          </a:p>
          <a:p>
            <a:pPr algn="l">
              <a:spcAft>
                <a:spcPts val="700"/>
              </a:spcAft>
            </a:pPr>
            <a:r>
              <a:rPr sz="1400" b="0" i="0">
                <a:solidFill>
                  <a:srgbClr val="2B2F36"/>
                </a:solidFill>
                <a:latin typeface="Segoe UI"/>
              </a:rPr>
              <a:t>•  Each storage node owns ranges of keys; a fragment is stored on the node that owns its key</a:t>
            </a:r>
          </a:p>
          <a:p>
            <a:pPr algn="l">
              <a:spcAft>
                <a:spcPts val="700"/>
              </a:spcAft>
            </a:pPr>
            <a:r>
              <a:rPr sz="1400" b="0" i="0">
                <a:solidFill>
                  <a:srgbClr val="2B2F36"/>
                </a:solidFill>
                <a:latin typeface="Segoe UI"/>
              </a:rPr>
              <a:t>•  Location is computed, not looked up: no central bottleneck</a:t>
            </a:r>
          </a:p>
          <a:p>
            <a:pPr algn="l">
              <a:spcAft>
                <a:spcPts val="700"/>
              </a:spcAft>
            </a:pPr>
            <a:r>
              <a:rPr sz="1400" b="0" i="0">
                <a:solidFill>
                  <a:srgbClr val="2B2F36"/>
                </a:solidFill>
                <a:latin typeface="Segoe UI"/>
              </a:rPr>
              <a:t>•  Each server owns several ranges spread around the ring: even load and faster rebuild</a:t>
            </a:r>
          </a:p>
          <a:p>
            <a:pPr algn="l">
              <a:spcAft>
                <a:spcPts val="700"/>
              </a:spcAft>
            </a:pPr>
            <a:r>
              <a:rPr sz="1400" b="0" i="0">
                <a:solidFill>
                  <a:srgbClr val="2B2F36"/>
                </a:solidFill>
                <a:latin typeface="Segoe UI"/>
              </a:rPr>
              <a:t>•  Copies and fragments are spaced around the ring with a topology-aware key plan: always on different servers, racks and sites</a:t>
            </a:r>
          </a:p>
          <a:p>
            <a:pPr algn="l">
              <a:spcAft>
                <a:spcPts val="700"/>
              </a:spcAft>
            </a:pPr>
            <a:r>
              <a:rPr sz="1400" b="0" i="0">
                <a:solidFill>
                  <a:srgbClr val="2B2F36"/>
                </a:solidFill>
                <a:latin typeface="Segoe UI"/>
              </a:rPr>
              <a:t>•  Connectors cache the ring map: each request reaches its node in a single hop</a:t>
            </a:r>
          </a:p>
        </p:txBody>
      </p:sp>
      <p:sp>
        <p:nvSpPr>
          <p:cNvPr id="27" name="Oval 26"/>
          <p:cNvSpPr/>
          <p:nvPr/>
        </p:nvSpPr>
        <p:spPr>
          <a:xfrm>
            <a:off x="6035040" y="5486400"/>
            <a:ext cx="274320" cy="274320"/>
          </a:xfrm>
          <a:prstGeom prst="ellipse">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28" name="TextBox 27"/>
          <p:cNvSpPr txBox="1"/>
          <p:nvPr/>
        </p:nvSpPr>
        <p:spPr>
          <a:xfrm>
            <a:off x="6327648" y="5468112"/>
            <a:ext cx="365760" cy="320040"/>
          </a:xfrm>
          <a:prstGeom prst="rect">
            <a:avLst/>
          </a:prstGeom>
          <a:noFill/>
        </p:spPr>
        <p:txBody>
          <a:bodyPr wrap="square" anchor="t" lIns="36576" rIns="36576" tIns="36576" bIns="36576">
            <a:spAutoFit/>
          </a:bodyPr>
          <a:lstStyle/>
          <a:p>
            <a:pPr algn="l"/>
            <a:r>
              <a:rPr sz="1100" b="0" i="0">
                <a:solidFill>
                  <a:srgbClr val="2B2F36"/>
                </a:solidFill>
                <a:latin typeface="Segoe UI"/>
              </a:rPr>
              <a:t>S1</a:t>
            </a:r>
          </a:p>
        </p:txBody>
      </p:sp>
      <p:sp>
        <p:nvSpPr>
          <p:cNvPr id="29" name="Oval 28"/>
          <p:cNvSpPr/>
          <p:nvPr/>
        </p:nvSpPr>
        <p:spPr>
          <a:xfrm>
            <a:off x="6720840" y="5486400"/>
            <a:ext cx="274320" cy="274320"/>
          </a:xfrm>
          <a:prstGeom prst="ellipse">
            <a:avLst/>
          </a:prstGeom>
          <a:solidFill>
            <a:srgbClr val="E88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0" name="TextBox 29"/>
          <p:cNvSpPr txBox="1"/>
          <p:nvPr/>
        </p:nvSpPr>
        <p:spPr>
          <a:xfrm>
            <a:off x="7013448" y="5468112"/>
            <a:ext cx="365760" cy="320040"/>
          </a:xfrm>
          <a:prstGeom prst="rect">
            <a:avLst/>
          </a:prstGeom>
          <a:noFill/>
        </p:spPr>
        <p:txBody>
          <a:bodyPr wrap="square" anchor="t" lIns="36576" rIns="36576" tIns="36576" bIns="36576">
            <a:spAutoFit/>
          </a:bodyPr>
          <a:lstStyle/>
          <a:p>
            <a:pPr algn="l"/>
            <a:r>
              <a:rPr sz="1100" b="0" i="0">
                <a:solidFill>
                  <a:srgbClr val="2B2F36"/>
                </a:solidFill>
                <a:latin typeface="Segoe UI"/>
              </a:rPr>
              <a:t>S2</a:t>
            </a:r>
          </a:p>
        </p:txBody>
      </p:sp>
      <p:sp>
        <p:nvSpPr>
          <p:cNvPr id="31" name="Oval 30"/>
          <p:cNvSpPr/>
          <p:nvPr/>
        </p:nvSpPr>
        <p:spPr>
          <a:xfrm>
            <a:off x="7406640" y="5486400"/>
            <a:ext cx="274320" cy="274320"/>
          </a:xfrm>
          <a:prstGeom prst="ellipse">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2" name="TextBox 31"/>
          <p:cNvSpPr txBox="1"/>
          <p:nvPr/>
        </p:nvSpPr>
        <p:spPr>
          <a:xfrm>
            <a:off x="7699248" y="5468112"/>
            <a:ext cx="365760" cy="320040"/>
          </a:xfrm>
          <a:prstGeom prst="rect">
            <a:avLst/>
          </a:prstGeom>
          <a:noFill/>
        </p:spPr>
        <p:txBody>
          <a:bodyPr wrap="square" anchor="t" lIns="36576" rIns="36576" tIns="36576" bIns="36576">
            <a:spAutoFit/>
          </a:bodyPr>
          <a:lstStyle/>
          <a:p>
            <a:pPr algn="l"/>
            <a:r>
              <a:rPr sz="1100" b="0" i="0">
                <a:solidFill>
                  <a:srgbClr val="2B2F36"/>
                </a:solidFill>
                <a:latin typeface="Segoe UI"/>
              </a:rPr>
              <a:t>S3</a:t>
            </a:r>
          </a:p>
        </p:txBody>
      </p:sp>
      <p:sp>
        <p:nvSpPr>
          <p:cNvPr id="33" name="Oval 32"/>
          <p:cNvSpPr/>
          <p:nvPr/>
        </p:nvSpPr>
        <p:spPr>
          <a:xfrm>
            <a:off x="8092440" y="5486400"/>
            <a:ext cx="274320" cy="27432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4" name="TextBox 33"/>
          <p:cNvSpPr txBox="1"/>
          <p:nvPr/>
        </p:nvSpPr>
        <p:spPr>
          <a:xfrm>
            <a:off x="8385048" y="5468112"/>
            <a:ext cx="365760" cy="320040"/>
          </a:xfrm>
          <a:prstGeom prst="rect">
            <a:avLst/>
          </a:prstGeom>
          <a:noFill/>
        </p:spPr>
        <p:txBody>
          <a:bodyPr wrap="square" anchor="t" lIns="36576" rIns="36576" tIns="36576" bIns="36576">
            <a:spAutoFit/>
          </a:bodyPr>
          <a:lstStyle/>
          <a:p>
            <a:pPr algn="l"/>
            <a:r>
              <a:rPr sz="1100" b="0" i="0">
                <a:solidFill>
                  <a:srgbClr val="2B2F36"/>
                </a:solidFill>
                <a:latin typeface="Segoe UI"/>
              </a:rPr>
              <a:t>S4</a:t>
            </a:r>
          </a:p>
        </p:txBody>
      </p:sp>
      <p:sp>
        <p:nvSpPr>
          <p:cNvPr id="35" name="Oval 34"/>
          <p:cNvSpPr/>
          <p:nvPr/>
        </p:nvSpPr>
        <p:spPr>
          <a:xfrm>
            <a:off x="8778240" y="5486400"/>
            <a:ext cx="274320" cy="274320"/>
          </a:xfrm>
          <a:prstGeom prst="ellipse">
            <a:avLst/>
          </a:prstGeom>
          <a:solidFill>
            <a:srgbClr val="2F6F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6" name="TextBox 35"/>
          <p:cNvSpPr txBox="1"/>
          <p:nvPr/>
        </p:nvSpPr>
        <p:spPr>
          <a:xfrm>
            <a:off x="9070848" y="5468112"/>
            <a:ext cx="365760" cy="320040"/>
          </a:xfrm>
          <a:prstGeom prst="rect">
            <a:avLst/>
          </a:prstGeom>
          <a:noFill/>
        </p:spPr>
        <p:txBody>
          <a:bodyPr wrap="square" anchor="t" lIns="36576" rIns="36576" tIns="36576" bIns="36576">
            <a:spAutoFit/>
          </a:bodyPr>
          <a:lstStyle/>
          <a:p>
            <a:pPr algn="l"/>
            <a:r>
              <a:rPr sz="1100" b="0" i="0">
                <a:solidFill>
                  <a:srgbClr val="2B2F36"/>
                </a:solidFill>
                <a:latin typeface="Segoe UI"/>
              </a:rPr>
              <a:t>S5</a:t>
            </a:r>
          </a:p>
        </p:txBody>
      </p:sp>
      <p:sp>
        <p:nvSpPr>
          <p:cNvPr id="37" name="Oval 36"/>
          <p:cNvSpPr/>
          <p:nvPr/>
        </p:nvSpPr>
        <p:spPr>
          <a:xfrm>
            <a:off x="9464040" y="5486400"/>
            <a:ext cx="274320" cy="274320"/>
          </a:xfrm>
          <a:prstGeom prst="ellipse">
            <a:avLst/>
          </a:prstGeom>
          <a:solidFill>
            <a:srgbClr val="C247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8" name="TextBox 37"/>
          <p:cNvSpPr txBox="1"/>
          <p:nvPr/>
        </p:nvSpPr>
        <p:spPr>
          <a:xfrm>
            <a:off x="9756648" y="5468112"/>
            <a:ext cx="365760" cy="320040"/>
          </a:xfrm>
          <a:prstGeom prst="rect">
            <a:avLst/>
          </a:prstGeom>
          <a:noFill/>
        </p:spPr>
        <p:txBody>
          <a:bodyPr wrap="square" anchor="t" lIns="36576" rIns="36576" tIns="36576" bIns="36576">
            <a:spAutoFit/>
          </a:bodyPr>
          <a:lstStyle/>
          <a:p>
            <a:pPr algn="l"/>
            <a:r>
              <a:rPr sz="1100" b="0" i="0">
                <a:solidFill>
                  <a:srgbClr val="2B2F36"/>
                </a:solidFill>
                <a:latin typeface="Segoe UI"/>
              </a:rPr>
              <a:t>S6</a:t>
            </a:r>
          </a:p>
        </p:txBody>
      </p:sp>
      <p:sp>
        <p:nvSpPr>
          <p:cNvPr id="39" name="Diamond 38"/>
          <p:cNvSpPr/>
          <p:nvPr/>
        </p:nvSpPr>
        <p:spPr>
          <a:xfrm>
            <a:off x="10195560" y="5504688"/>
            <a:ext cx="237744" cy="237744"/>
          </a:xfrm>
          <a:prstGeom prst="diamond">
            <a:avLst/>
          </a:prstGeom>
          <a:solidFill>
            <a:srgbClr val="E88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40" name="TextBox 39"/>
          <p:cNvSpPr txBox="1"/>
          <p:nvPr/>
        </p:nvSpPr>
        <p:spPr>
          <a:xfrm>
            <a:off x="10469880" y="5394960"/>
            <a:ext cx="1325880" cy="502920"/>
          </a:xfrm>
          <a:prstGeom prst="rect">
            <a:avLst/>
          </a:prstGeom>
          <a:noFill/>
        </p:spPr>
        <p:txBody>
          <a:bodyPr wrap="square" anchor="t" lIns="36576" rIns="36576" tIns="36576" bIns="36576">
            <a:spAutoFit/>
          </a:bodyPr>
          <a:lstStyle/>
          <a:p>
            <a:pPr algn="l"/>
            <a:r>
              <a:rPr sz="1050" b="0" i="0">
                <a:solidFill>
                  <a:srgbClr val="2B2F36"/>
                </a:solidFill>
                <a:latin typeface="Segoe UI"/>
              </a:rPr>
              <a:t>3 copies of one object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 name="Rectangle 2"/>
          <p:cNvSpPr/>
          <p:nvPr/>
        </p:nvSpPr>
        <p:spPr>
          <a:xfrm>
            <a:off x="0" y="914400"/>
            <a:ext cx="12191695" cy="54864"/>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4" name="TextBox 3"/>
          <p:cNvSpPr txBox="1"/>
          <p:nvPr/>
        </p:nvSpPr>
        <p:spPr>
          <a:xfrm>
            <a:off x="457200" y="91440"/>
            <a:ext cx="11247120" cy="502920"/>
          </a:xfrm>
          <a:prstGeom prst="rect">
            <a:avLst/>
          </a:prstGeom>
          <a:noFill/>
        </p:spPr>
        <p:txBody>
          <a:bodyPr wrap="square" anchor="ctr" lIns="36576" rIns="36576" tIns="36576" bIns="36576">
            <a:spAutoFit/>
          </a:bodyPr>
          <a:lstStyle/>
          <a:p>
            <a:pPr algn="l"/>
            <a:r>
              <a:rPr sz="2600" b="1" i="0">
                <a:solidFill>
                  <a:srgbClr val="FFFFFF"/>
                </a:solidFill>
                <a:latin typeface="Segoe UI"/>
              </a:rPr>
              <a:t>Data Protection: Replication and Erasure Coding</a:t>
            </a:r>
          </a:p>
        </p:txBody>
      </p:sp>
      <p:sp>
        <p:nvSpPr>
          <p:cNvPr id="5" name="TextBox 4"/>
          <p:cNvSpPr txBox="1"/>
          <p:nvPr/>
        </p:nvSpPr>
        <p:spPr>
          <a:xfrm>
            <a:off x="457200" y="548640"/>
            <a:ext cx="11247120" cy="320040"/>
          </a:xfrm>
          <a:prstGeom prst="rect">
            <a:avLst/>
          </a:prstGeom>
          <a:noFill/>
        </p:spPr>
        <p:txBody>
          <a:bodyPr wrap="square" anchor="t" lIns="36576" rIns="36576" tIns="36576" bIns="36576">
            <a:spAutoFit/>
          </a:bodyPr>
          <a:lstStyle/>
          <a:p>
            <a:pPr algn="l"/>
            <a:r>
              <a:rPr sz="1300" b="0" i="0">
                <a:solidFill>
                  <a:srgbClr val="C9D3E3"/>
                </a:solidFill>
                <a:latin typeface="Segoe UI"/>
              </a:rPr>
              <a:t>Chosen automatically per object, by size</a:t>
            </a:r>
          </a:p>
        </p:txBody>
      </p:sp>
      <p:sp>
        <p:nvSpPr>
          <p:cNvPr id="6" name="TextBox 5"/>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i="0">
                <a:solidFill>
                  <a:srgbClr val="5B6577"/>
                </a:solidFill>
                <a:latin typeface="Segoe UI"/>
              </a:rPr>
              <a:t>Scality RING  |  Architecture, Deployment &amp; Operations</a:t>
            </a:r>
          </a:p>
        </p:txBody>
      </p:sp>
      <p:sp>
        <p:nvSpPr>
          <p:cNvPr id="7" name="TextBox 6"/>
          <p:cNvSpPr txBox="1"/>
          <p:nvPr/>
        </p:nvSpPr>
        <p:spPr>
          <a:xfrm>
            <a:off x="10789920" y="6473952"/>
            <a:ext cx="914400" cy="274320"/>
          </a:xfrm>
          <a:prstGeom prst="rect">
            <a:avLst/>
          </a:prstGeom>
          <a:noFill/>
        </p:spPr>
        <p:txBody>
          <a:bodyPr wrap="square" anchor="t" lIns="36576" rIns="36576" tIns="36576" bIns="36576">
            <a:spAutoFit/>
          </a:bodyPr>
          <a:lstStyle/>
          <a:p>
            <a:pPr algn="r"/>
            <a:r>
              <a:rPr sz="1000" b="0" i="0">
                <a:solidFill>
                  <a:srgbClr val="5B6577"/>
                </a:solidFill>
                <a:latin typeface="Segoe UI"/>
              </a:rPr>
              <a:t>8</a:t>
            </a:r>
          </a:p>
        </p:txBody>
      </p:sp>
      <p:sp>
        <p:nvSpPr>
          <p:cNvPr id="8" name="Rounded Rectangle 7"/>
          <p:cNvSpPr/>
          <p:nvPr/>
        </p:nvSpPr>
        <p:spPr>
          <a:xfrm>
            <a:off x="457200" y="1234440"/>
            <a:ext cx="5120640" cy="306324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9" name="TextBox 8"/>
          <p:cNvSpPr txBox="1"/>
          <p:nvPr/>
        </p:nvSpPr>
        <p:spPr>
          <a:xfrm>
            <a:off x="640080" y="1298448"/>
            <a:ext cx="4846320" cy="320040"/>
          </a:xfrm>
          <a:prstGeom prst="rect">
            <a:avLst/>
          </a:prstGeom>
          <a:noFill/>
        </p:spPr>
        <p:txBody>
          <a:bodyPr wrap="square" anchor="t" lIns="36576" rIns="36576" tIns="36576" bIns="36576">
            <a:spAutoFit/>
          </a:bodyPr>
          <a:lstStyle/>
          <a:p>
            <a:pPr algn="l"/>
            <a:r>
              <a:rPr sz="1400" b="1" i="0">
                <a:solidFill>
                  <a:srgbClr val="0F7C8C"/>
                </a:solidFill>
                <a:latin typeface="Segoe UI"/>
              </a:rPr>
              <a:t>Replication: small objects &amp; metadata</a:t>
            </a:r>
          </a:p>
        </p:txBody>
      </p:sp>
      <p:sp>
        <p:nvSpPr>
          <p:cNvPr id="10" name="Rounded Rectangle 9"/>
          <p:cNvSpPr/>
          <p:nvPr/>
        </p:nvSpPr>
        <p:spPr>
          <a:xfrm>
            <a:off x="731520" y="2377440"/>
            <a:ext cx="1188720" cy="73152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FFFFFF"/>
                </a:solidFill>
                <a:latin typeface="Segoe UI"/>
              </a:rPr>
              <a:t>Object</a:t>
            </a:r>
          </a:p>
        </p:txBody>
      </p:sp>
      <p:sp>
        <p:nvSpPr>
          <p:cNvPr id="11" name="Rounded Rectangle 10"/>
          <p:cNvSpPr/>
          <p:nvPr/>
        </p:nvSpPr>
        <p:spPr>
          <a:xfrm>
            <a:off x="3108960" y="1783080"/>
            <a:ext cx="2194560" cy="548640"/>
          </a:xfrm>
          <a:prstGeom prst="roundRect">
            <a:avLst>
              <a:gd name="adj" fmla="val 10000"/>
            </a:avLst>
          </a:prstGeom>
          <a:solidFill>
            <a:srgbClr val="D7EEF1"/>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0" i="0">
                <a:solidFill>
                  <a:srgbClr val="1F2A44"/>
                </a:solidFill>
                <a:latin typeface="Segoe UI"/>
              </a:rPr>
              <a:t>Copy 1  ·  Server A</a:t>
            </a:r>
          </a:p>
        </p:txBody>
      </p:sp>
      <p:cxnSp>
        <p:nvCxnSpPr>
          <p:cNvPr id="12" name="Connector 11"/>
          <p:cNvCxnSpPr/>
          <p:nvPr/>
        </p:nvCxnSpPr>
        <p:spPr>
          <a:xfrm flipV="1">
            <a:off x="1920240" y="2057400"/>
            <a:ext cx="1188720" cy="685800"/>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108960" y="2514600"/>
            <a:ext cx="2194560" cy="548640"/>
          </a:xfrm>
          <a:prstGeom prst="roundRect">
            <a:avLst>
              <a:gd name="adj" fmla="val 10000"/>
            </a:avLst>
          </a:prstGeom>
          <a:solidFill>
            <a:srgbClr val="D7EEF1"/>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0" i="0">
                <a:solidFill>
                  <a:srgbClr val="1F2A44"/>
                </a:solidFill>
                <a:latin typeface="Segoe UI"/>
              </a:rPr>
              <a:t>Copy 2  ·  Server B</a:t>
            </a:r>
          </a:p>
        </p:txBody>
      </p:sp>
      <p:cxnSp>
        <p:nvCxnSpPr>
          <p:cNvPr id="14" name="Connector 13"/>
          <p:cNvCxnSpPr/>
          <p:nvPr/>
        </p:nvCxnSpPr>
        <p:spPr>
          <a:xfrm>
            <a:off x="1920240" y="2743200"/>
            <a:ext cx="1188720" cy="45720"/>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108960" y="3246120"/>
            <a:ext cx="2194560" cy="548640"/>
          </a:xfrm>
          <a:prstGeom prst="roundRect">
            <a:avLst>
              <a:gd name="adj" fmla="val 10000"/>
            </a:avLst>
          </a:prstGeom>
          <a:solidFill>
            <a:srgbClr val="D7EEF1"/>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0" i="0">
                <a:solidFill>
                  <a:srgbClr val="1F2A44"/>
                </a:solidFill>
                <a:latin typeface="Segoe UI"/>
              </a:rPr>
              <a:t>Copy 3  ·  Server C</a:t>
            </a:r>
          </a:p>
        </p:txBody>
      </p:sp>
      <p:cxnSp>
        <p:nvCxnSpPr>
          <p:cNvPr id="16" name="Connector 15"/>
          <p:cNvCxnSpPr/>
          <p:nvPr/>
        </p:nvCxnSpPr>
        <p:spPr>
          <a:xfrm>
            <a:off x="1920240" y="2743200"/>
            <a:ext cx="1188720" cy="777239"/>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0080" y="3886200"/>
            <a:ext cx="4846320" cy="365760"/>
          </a:xfrm>
          <a:prstGeom prst="rect">
            <a:avLst/>
          </a:prstGeom>
          <a:noFill/>
        </p:spPr>
        <p:txBody>
          <a:bodyPr wrap="square" anchor="t" lIns="36576" rIns="36576" tIns="36576" bIns="36576">
            <a:spAutoFit/>
          </a:bodyPr>
          <a:lstStyle/>
          <a:p>
            <a:pPr algn="l"/>
            <a:r>
              <a:rPr sz="1200" b="0" i="0">
                <a:solidFill>
                  <a:srgbClr val="2B2F36"/>
                </a:solidFill>
                <a:latin typeface="Segoe UI"/>
              </a:rPr>
              <a:t>3 copies  ·  tolerates 2 failures  ·  3.0× capacity</a:t>
            </a:r>
          </a:p>
        </p:txBody>
      </p:sp>
      <p:sp>
        <p:nvSpPr>
          <p:cNvPr id="18" name="Rounded Rectangle 17"/>
          <p:cNvSpPr/>
          <p:nvPr/>
        </p:nvSpPr>
        <p:spPr>
          <a:xfrm>
            <a:off x="5852160" y="1234440"/>
            <a:ext cx="5897880" cy="306324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9" name="TextBox 18"/>
          <p:cNvSpPr txBox="1"/>
          <p:nvPr/>
        </p:nvSpPr>
        <p:spPr>
          <a:xfrm>
            <a:off x="6035040" y="1298448"/>
            <a:ext cx="5577840" cy="320040"/>
          </a:xfrm>
          <a:prstGeom prst="rect">
            <a:avLst/>
          </a:prstGeom>
          <a:noFill/>
        </p:spPr>
        <p:txBody>
          <a:bodyPr wrap="square" anchor="t" lIns="36576" rIns="36576" tIns="36576" bIns="36576">
            <a:spAutoFit/>
          </a:bodyPr>
          <a:lstStyle/>
          <a:p>
            <a:pPr algn="l"/>
            <a:r>
              <a:rPr sz="1400" b="1" i="0">
                <a:solidFill>
                  <a:srgbClr val="E8892B"/>
                </a:solidFill>
                <a:latin typeface="Segoe UI"/>
              </a:rPr>
              <a:t>Erasure coding (ARC 9+3): large objects</a:t>
            </a:r>
          </a:p>
        </p:txBody>
      </p:sp>
      <p:sp>
        <p:nvSpPr>
          <p:cNvPr id="20" name="Rounded Rectangle 19"/>
          <p:cNvSpPr/>
          <p:nvPr/>
        </p:nvSpPr>
        <p:spPr>
          <a:xfrm>
            <a:off x="6126480" y="1783080"/>
            <a:ext cx="1188720" cy="73152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FFFFFF"/>
                </a:solidFill>
                <a:latin typeface="Segoe UI"/>
              </a:rPr>
              <a:t>Object</a:t>
            </a:r>
          </a:p>
        </p:txBody>
      </p:sp>
      <p:cxnSp>
        <p:nvCxnSpPr>
          <p:cNvPr id="21" name="Connector 20"/>
          <p:cNvCxnSpPr/>
          <p:nvPr/>
        </p:nvCxnSpPr>
        <p:spPr>
          <a:xfrm>
            <a:off x="7315200" y="2148840"/>
            <a:ext cx="365760" cy="0"/>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680960" y="1783080"/>
            <a:ext cx="1463040" cy="731520"/>
          </a:xfrm>
          <a:prstGeom prst="roundRect">
            <a:avLst>
              <a:gd name="adj" fmla="val 10000"/>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FFFFFF"/>
                </a:solidFill>
                <a:latin typeface="Segoe UI"/>
              </a:rPr>
              <a:t>Encode</a:t>
            </a:r>
          </a:p>
        </p:txBody>
      </p:sp>
      <p:cxnSp>
        <p:nvCxnSpPr>
          <p:cNvPr id="23" name="Connector 22"/>
          <p:cNvCxnSpPr/>
          <p:nvPr/>
        </p:nvCxnSpPr>
        <p:spPr>
          <a:xfrm>
            <a:off x="8412480" y="2514600"/>
            <a:ext cx="0" cy="320040"/>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126480" y="2852928"/>
            <a:ext cx="384048" cy="5029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i="0">
                <a:solidFill>
                  <a:srgbClr val="FFFFFF"/>
                </a:solidFill>
                <a:latin typeface="Segoe UI"/>
              </a:rPr>
              <a:t>D1</a:t>
            </a:r>
          </a:p>
        </p:txBody>
      </p:sp>
      <p:sp>
        <p:nvSpPr>
          <p:cNvPr id="25" name="Rectangle 24"/>
          <p:cNvSpPr/>
          <p:nvPr/>
        </p:nvSpPr>
        <p:spPr>
          <a:xfrm>
            <a:off x="6583680" y="2852928"/>
            <a:ext cx="384048" cy="5029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i="0">
                <a:solidFill>
                  <a:srgbClr val="FFFFFF"/>
                </a:solidFill>
                <a:latin typeface="Segoe UI"/>
              </a:rPr>
              <a:t>D2</a:t>
            </a:r>
          </a:p>
        </p:txBody>
      </p:sp>
      <p:sp>
        <p:nvSpPr>
          <p:cNvPr id="26" name="Rectangle 25"/>
          <p:cNvSpPr/>
          <p:nvPr/>
        </p:nvSpPr>
        <p:spPr>
          <a:xfrm>
            <a:off x="7040880" y="2852928"/>
            <a:ext cx="384048" cy="5029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i="0">
                <a:solidFill>
                  <a:srgbClr val="FFFFFF"/>
                </a:solidFill>
                <a:latin typeface="Segoe UI"/>
              </a:rPr>
              <a:t>D3</a:t>
            </a:r>
          </a:p>
        </p:txBody>
      </p:sp>
      <p:sp>
        <p:nvSpPr>
          <p:cNvPr id="27" name="Rectangle 26"/>
          <p:cNvSpPr/>
          <p:nvPr/>
        </p:nvSpPr>
        <p:spPr>
          <a:xfrm>
            <a:off x="7498079" y="2852928"/>
            <a:ext cx="384048" cy="5029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i="0">
                <a:solidFill>
                  <a:srgbClr val="FFFFFF"/>
                </a:solidFill>
                <a:latin typeface="Segoe UI"/>
              </a:rPr>
              <a:t>D4</a:t>
            </a:r>
          </a:p>
        </p:txBody>
      </p:sp>
      <p:sp>
        <p:nvSpPr>
          <p:cNvPr id="28" name="Rectangle 27"/>
          <p:cNvSpPr/>
          <p:nvPr/>
        </p:nvSpPr>
        <p:spPr>
          <a:xfrm>
            <a:off x="7955279" y="2852928"/>
            <a:ext cx="384048" cy="5029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i="0">
                <a:solidFill>
                  <a:srgbClr val="FFFFFF"/>
                </a:solidFill>
                <a:latin typeface="Segoe UI"/>
              </a:rPr>
              <a:t>D5</a:t>
            </a:r>
          </a:p>
        </p:txBody>
      </p:sp>
      <p:sp>
        <p:nvSpPr>
          <p:cNvPr id="29" name="Rectangle 28"/>
          <p:cNvSpPr/>
          <p:nvPr/>
        </p:nvSpPr>
        <p:spPr>
          <a:xfrm>
            <a:off x="8412480" y="2852928"/>
            <a:ext cx="384048" cy="5029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i="0">
                <a:solidFill>
                  <a:srgbClr val="FFFFFF"/>
                </a:solidFill>
                <a:latin typeface="Segoe UI"/>
              </a:rPr>
              <a:t>D6</a:t>
            </a:r>
          </a:p>
        </p:txBody>
      </p:sp>
      <p:sp>
        <p:nvSpPr>
          <p:cNvPr id="30" name="Rectangle 29"/>
          <p:cNvSpPr/>
          <p:nvPr/>
        </p:nvSpPr>
        <p:spPr>
          <a:xfrm>
            <a:off x="8869680" y="2852928"/>
            <a:ext cx="384048" cy="5029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i="0">
                <a:solidFill>
                  <a:srgbClr val="FFFFFF"/>
                </a:solidFill>
                <a:latin typeface="Segoe UI"/>
              </a:rPr>
              <a:t>D7</a:t>
            </a:r>
          </a:p>
        </p:txBody>
      </p:sp>
      <p:sp>
        <p:nvSpPr>
          <p:cNvPr id="31" name="Rectangle 30"/>
          <p:cNvSpPr/>
          <p:nvPr/>
        </p:nvSpPr>
        <p:spPr>
          <a:xfrm>
            <a:off x="9326880" y="2852928"/>
            <a:ext cx="384048" cy="5029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i="0">
                <a:solidFill>
                  <a:srgbClr val="FFFFFF"/>
                </a:solidFill>
                <a:latin typeface="Segoe UI"/>
              </a:rPr>
              <a:t>D8</a:t>
            </a:r>
          </a:p>
        </p:txBody>
      </p:sp>
      <p:sp>
        <p:nvSpPr>
          <p:cNvPr id="32" name="Rectangle 31"/>
          <p:cNvSpPr/>
          <p:nvPr/>
        </p:nvSpPr>
        <p:spPr>
          <a:xfrm>
            <a:off x="9784080" y="2852928"/>
            <a:ext cx="384048" cy="5029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i="0">
                <a:solidFill>
                  <a:srgbClr val="FFFFFF"/>
                </a:solidFill>
                <a:latin typeface="Segoe UI"/>
              </a:rPr>
              <a:t>D9</a:t>
            </a:r>
          </a:p>
        </p:txBody>
      </p:sp>
      <p:sp>
        <p:nvSpPr>
          <p:cNvPr id="33" name="Rectangle 32"/>
          <p:cNvSpPr/>
          <p:nvPr/>
        </p:nvSpPr>
        <p:spPr>
          <a:xfrm>
            <a:off x="10241280" y="2852928"/>
            <a:ext cx="384048" cy="502920"/>
          </a:xfrm>
          <a:prstGeom prst="rect">
            <a:avLst/>
          </a:prstGeom>
          <a:solidFill>
            <a:srgbClr val="E88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i="0">
                <a:solidFill>
                  <a:srgbClr val="FFFFFF"/>
                </a:solidFill>
                <a:latin typeface="Segoe UI"/>
              </a:rPr>
              <a:t>P1</a:t>
            </a:r>
          </a:p>
        </p:txBody>
      </p:sp>
      <p:sp>
        <p:nvSpPr>
          <p:cNvPr id="34" name="Rectangle 33"/>
          <p:cNvSpPr/>
          <p:nvPr/>
        </p:nvSpPr>
        <p:spPr>
          <a:xfrm>
            <a:off x="10698480" y="2852928"/>
            <a:ext cx="384048" cy="502920"/>
          </a:xfrm>
          <a:prstGeom prst="rect">
            <a:avLst/>
          </a:prstGeom>
          <a:solidFill>
            <a:srgbClr val="E88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i="0">
                <a:solidFill>
                  <a:srgbClr val="FFFFFF"/>
                </a:solidFill>
                <a:latin typeface="Segoe UI"/>
              </a:rPr>
              <a:t>P2</a:t>
            </a:r>
          </a:p>
        </p:txBody>
      </p:sp>
      <p:sp>
        <p:nvSpPr>
          <p:cNvPr id="35" name="Rectangle 34"/>
          <p:cNvSpPr/>
          <p:nvPr/>
        </p:nvSpPr>
        <p:spPr>
          <a:xfrm>
            <a:off x="11155680" y="2852928"/>
            <a:ext cx="384048" cy="502920"/>
          </a:xfrm>
          <a:prstGeom prst="rect">
            <a:avLst/>
          </a:prstGeom>
          <a:solidFill>
            <a:srgbClr val="E88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i="0">
                <a:solidFill>
                  <a:srgbClr val="FFFFFF"/>
                </a:solidFill>
                <a:latin typeface="Segoe UI"/>
              </a:rPr>
              <a:t>P3</a:t>
            </a:r>
          </a:p>
        </p:txBody>
      </p:sp>
      <p:sp>
        <p:nvSpPr>
          <p:cNvPr id="36" name="TextBox 35"/>
          <p:cNvSpPr txBox="1"/>
          <p:nvPr/>
        </p:nvSpPr>
        <p:spPr>
          <a:xfrm>
            <a:off x="6035040" y="3474720"/>
            <a:ext cx="5577840" cy="731520"/>
          </a:xfrm>
          <a:prstGeom prst="rect">
            <a:avLst/>
          </a:prstGeom>
          <a:noFill/>
        </p:spPr>
        <p:txBody>
          <a:bodyPr wrap="square" anchor="t" lIns="36576" rIns="36576" tIns="36576" bIns="36576">
            <a:spAutoFit/>
          </a:bodyPr>
          <a:lstStyle/>
          <a:p>
            <a:pPr algn="l"/>
            <a:r>
              <a:rPr sz="1200" b="0" i="0">
                <a:solidFill>
                  <a:srgbClr val="2B2F36"/>
                </a:solidFill>
                <a:latin typeface="Segoe UI"/>
              </a:rPr>
              <a:t>12 fragments on 12 servers  ·  any 9 reconstruct the object</a:t>
            </a:r>
          </a:p>
          <a:p>
            <a:pPr algn="l"/>
            <a:r>
              <a:rPr sz="1200" b="0" i="0">
                <a:solidFill>
                  <a:srgbClr val="2B2F36"/>
                </a:solidFill>
                <a:latin typeface="Segoe UI"/>
              </a:rPr>
              <a:t>Tolerates 3 failures  ·  1.33× capacity</a:t>
            </a:r>
          </a:p>
        </p:txBody>
      </p:sp>
      <p:graphicFrame>
        <p:nvGraphicFramePr>
          <p:cNvPr id="37" name="Table 36"/>
          <p:cNvGraphicFramePr>
            <a:graphicFrameLocks noGrp="1"/>
          </p:cNvGraphicFramePr>
          <p:nvPr/>
        </p:nvGraphicFramePr>
        <p:xfrm>
          <a:off x="457200" y="4480560"/>
          <a:ext cx="11292840" cy="1691640"/>
        </p:xfrm>
        <a:graphic>
          <a:graphicData uri="http://schemas.openxmlformats.org/drawingml/2006/table">
            <a:tbl>
              <a:tblPr firstRow="1" bandRow="1">
                <a:tableStyleId>{5C22544A-7EE6-4342-B048-85BDC9FD1C3A}</a:tableStyleId>
              </a:tblPr>
              <a:tblGrid>
                <a:gridCol w="3291840"/>
                <a:gridCol w="2011680"/>
                <a:gridCol w="2560320"/>
                <a:gridCol w="3429000"/>
              </a:tblGrid>
              <a:tr h="338328">
                <a:tc>
                  <a:txBody>
                    <a:bodyPr wrap="square"/>
                    <a:lstStyle/>
                    <a:p>
                      <a:r>
                        <a:rPr sz="1150" b="1" i="0">
                          <a:solidFill>
                            <a:srgbClr val="FFFFFF"/>
                          </a:solidFill>
                          <a:latin typeface="Segoe UI"/>
                        </a:rPr>
                        <a:t>Protection scheme</a:t>
                      </a:r>
                    </a:p>
                  </a:txBody>
                  <a:tcPr marL="73152" marR="73152" marT="27432" marB="27432" anchor="ctr">
                    <a:solidFill>
                      <a:srgbClr val="1F2A44"/>
                    </a:solidFill>
                  </a:tcPr>
                </a:tc>
                <a:tc>
                  <a:txBody>
                    <a:bodyPr wrap="square"/>
                    <a:lstStyle/>
                    <a:p>
                      <a:r>
                        <a:rPr sz="1150" b="1" i="0">
                          <a:solidFill>
                            <a:srgbClr val="FFFFFF"/>
                          </a:solidFill>
                          <a:latin typeface="Segoe UI"/>
                        </a:rPr>
                        <a:t>Capacity overhead</a:t>
                      </a:r>
                    </a:p>
                  </a:txBody>
                  <a:tcPr marL="73152" marR="73152" marT="27432" marB="27432" anchor="ctr">
                    <a:solidFill>
                      <a:srgbClr val="1F2A44"/>
                    </a:solidFill>
                  </a:tcPr>
                </a:tc>
                <a:tc>
                  <a:txBody>
                    <a:bodyPr wrap="square"/>
                    <a:lstStyle/>
                    <a:p>
                      <a:r>
                        <a:rPr sz="1150" b="1" i="0">
                          <a:solidFill>
                            <a:srgbClr val="FFFFFF"/>
                          </a:solidFill>
                          <a:latin typeface="Segoe UI"/>
                        </a:rPr>
                        <a:t>Failures tolerated</a:t>
                      </a:r>
                    </a:p>
                  </a:txBody>
                  <a:tcPr marL="73152" marR="73152" marT="27432" marB="27432" anchor="ctr">
                    <a:solidFill>
                      <a:srgbClr val="1F2A44"/>
                    </a:solidFill>
                  </a:tcPr>
                </a:tc>
                <a:tc>
                  <a:txBody>
                    <a:bodyPr wrap="square"/>
                    <a:lstStyle/>
                    <a:p>
                      <a:r>
                        <a:rPr sz="1150" b="1" i="0">
                          <a:solidFill>
                            <a:srgbClr val="FFFFFF"/>
                          </a:solidFill>
                          <a:latin typeface="Segoe UI"/>
                        </a:rPr>
                        <a:t>Typical use</a:t>
                      </a:r>
                    </a:p>
                  </a:txBody>
                  <a:tcPr marL="73152" marR="73152" marT="27432" marB="27432" anchor="ctr">
                    <a:solidFill>
                      <a:srgbClr val="1F2A44"/>
                    </a:solidFill>
                  </a:tcPr>
                </a:tc>
              </a:tr>
              <a:tr h="338328">
                <a:tc>
                  <a:txBody>
                    <a:bodyPr wrap="square"/>
                    <a:lstStyle/>
                    <a:p>
                      <a:r>
                        <a:rPr sz="1150" b="1" i="0">
                          <a:solidFill>
                            <a:srgbClr val="2B2F36"/>
                          </a:solidFill>
                          <a:latin typeface="Segoe UI"/>
                        </a:rPr>
                        <a:t>Replication, 3 copies (COS 2)</a:t>
                      </a:r>
                    </a:p>
                  </a:txBody>
                  <a:tcPr marL="73152" marR="73152" marT="27432" marB="27432" anchor="ctr">
                    <a:solidFill>
                      <a:srgbClr val="FFFFFF"/>
                    </a:solidFill>
                  </a:tcPr>
                </a:tc>
                <a:tc>
                  <a:txBody>
                    <a:bodyPr wrap="square"/>
                    <a:lstStyle/>
                    <a:p>
                      <a:r>
                        <a:rPr sz="1150" b="0" i="0">
                          <a:solidFill>
                            <a:srgbClr val="2B2F36"/>
                          </a:solidFill>
                          <a:latin typeface="Segoe UI"/>
                        </a:rPr>
                        <a:t>3.0×</a:t>
                      </a:r>
                    </a:p>
                  </a:txBody>
                  <a:tcPr marL="73152" marR="73152" marT="27432" marB="27432" anchor="ctr">
                    <a:solidFill>
                      <a:srgbClr val="FFFFFF"/>
                    </a:solidFill>
                  </a:tcPr>
                </a:tc>
                <a:tc>
                  <a:txBody>
                    <a:bodyPr wrap="square"/>
                    <a:lstStyle/>
                    <a:p>
                      <a:r>
                        <a:rPr sz="1150" b="0" i="0">
                          <a:solidFill>
                            <a:srgbClr val="2B2F36"/>
                          </a:solidFill>
                          <a:latin typeface="Segoe UI"/>
                        </a:rPr>
                        <a:t>2</a:t>
                      </a:r>
                    </a:p>
                  </a:txBody>
                  <a:tcPr marL="73152" marR="73152" marT="27432" marB="27432" anchor="ctr">
                    <a:solidFill>
                      <a:srgbClr val="FFFFFF"/>
                    </a:solidFill>
                  </a:tcPr>
                </a:tc>
                <a:tc>
                  <a:txBody>
                    <a:bodyPr wrap="square"/>
                    <a:lstStyle/>
                    <a:p>
                      <a:r>
                        <a:rPr sz="1150" b="0" i="0">
                          <a:solidFill>
                            <a:srgbClr val="2B2F36"/>
                          </a:solidFill>
                          <a:latin typeface="Segoe UI"/>
                        </a:rPr>
                        <a:t>Small objects, metadata</a:t>
                      </a:r>
                    </a:p>
                  </a:txBody>
                  <a:tcPr marL="73152" marR="73152" marT="27432" marB="27432" anchor="ctr">
                    <a:solidFill>
                      <a:srgbClr val="FFFFFF"/>
                    </a:solidFill>
                  </a:tcPr>
                </a:tc>
              </a:tr>
              <a:tr h="338328">
                <a:tc>
                  <a:txBody>
                    <a:bodyPr wrap="square"/>
                    <a:lstStyle/>
                    <a:p>
                      <a:r>
                        <a:rPr sz="1150" b="1" i="0">
                          <a:solidFill>
                            <a:srgbClr val="2B2F36"/>
                          </a:solidFill>
                          <a:latin typeface="Segoe UI"/>
                        </a:rPr>
                        <a:t>ARC 4+2</a:t>
                      </a:r>
                    </a:p>
                  </a:txBody>
                  <a:tcPr marL="73152" marR="73152" marT="27432" marB="27432" anchor="ctr">
                    <a:solidFill>
                      <a:srgbClr val="F2F4F7"/>
                    </a:solidFill>
                  </a:tcPr>
                </a:tc>
                <a:tc>
                  <a:txBody>
                    <a:bodyPr wrap="square"/>
                    <a:lstStyle/>
                    <a:p>
                      <a:r>
                        <a:rPr sz="1150" b="0" i="0">
                          <a:solidFill>
                            <a:srgbClr val="2B2F36"/>
                          </a:solidFill>
                          <a:latin typeface="Segoe UI"/>
                        </a:rPr>
                        <a:t>1.5×</a:t>
                      </a:r>
                    </a:p>
                  </a:txBody>
                  <a:tcPr marL="73152" marR="73152" marT="27432" marB="27432" anchor="ctr">
                    <a:solidFill>
                      <a:srgbClr val="F2F4F7"/>
                    </a:solidFill>
                  </a:tcPr>
                </a:tc>
                <a:tc>
                  <a:txBody>
                    <a:bodyPr wrap="square"/>
                    <a:lstStyle/>
                    <a:p>
                      <a:r>
                        <a:rPr sz="1150" b="0" i="0">
                          <a:solidFill>
                            <a:srgbClr val="2B2F36"/>
                          </a:solidFill>
                          <a:latin typeface="Segoe UI"/>
                        </a:rPr>
                        <a:t>2 fragments</a:t>
                      </a:r>
                    </a:p>
                  </a:txBody>
                  <a:tcPr marL="73152" marR="73152" marT="27432" marB="27432" anchor="ctr">
                    <a:solidFill>
                      <a:srgbClr val="F2F4F7"/>
                    </a:solidFill>
                  </a:tcPr>
                </a:tc>
                <a:tc>
                  <a:txBody>
                    <a:bodyPr wrap="square"/>
                    <a:lstStyle/>
                    <a:p>
                      <a:r>
                        <a:rPr sz="1150" b="0" i="0">
                          <a:solidFill>
                            <a:srgbClr val="2B2F36"/>
                          </a:solidFill>
                          <a:latin typeface="Segoe UI"/>
                        </a:rPr>
                        <a:t>Entry clusters (6+ servers)</a:t>
                      </a:r>
                    </a:p>
                  </a:txBody>
                  <a:tcPr marL="73152" marR="73152" marT="27432" marB="27432" anchor="ctr">
                    <a:solidFill>
                      <a:srgbClr val="F2F4F7"/>
                    </a:solidFill>
                  </a:tcPr>
                </a:tc>
              </a:tr>
              <a:tr h="338328">
                <a:tc>
                  <a:txBody>
                    <a:bodyPr wrap="square"/>
                    <a:lstStyle/>
                    <a:p>
                      <a:r>
                        <a:rPr sz="1150" b="1" i="0">
                          <a:solidFill>
                            <a:srgbClr val="2B2F36"/>
                          </a:solidFill>
                          <a:latin typeface="Segoe UI"/>
                        </a:rPr>
                        <a:t>ARC 9+3</a:t>
                      </a:r>
                    </a:p>
                  </a:txBody>
                  <a:tcPr marL="73152" marR="73152" marT="27432" marB="27432" anchor="ctr">
                    <a:solidFill>
                      <a:srgbClr val="FFFFFF"/>
                    </a:solidFill>
                  </a:tcPr>
                </a:tc>
                <a:tc>
                  <a:txBody>
                    <a:bodyPr wrap="square"/>
                    <a:lstStyle/>
                    <a:p>
                      <a:r>
                        <a:rPr sz="1150" b="0" i="0">
                          <a:solidFill>
                            <a:srgbClr val="2B2F36"/>
                          </a:solidFill>
                          <a:latin typeface="Segoe UI"/>
                        </a:rPr>
                        <a:t>1.33×</a:t>
                      </a:r>
                    </a:p>
                  </a:txBody>
                  <a:tcPr marL="73152" marR="73152" marT="27432" marB="27432" anchor="ctr">
                    <a:solidFill>
                      <a:srgbClr val="FFFFFF"/>
                    </a:solidFill>
                  </a:tcPr>
                </a:tc>
                <a:tc>
                  <a:txBody>
                    <a:bodyPr wrap="square"/>
                    <a:lstStyle/>
                    <a:p>
                      <a:r>
                        <a:rPr sz="1150" b="0" i="0">
                          <a:solidFill>
                            <a:srgbClr val="2B2F36"/>
                          </a:solidFill>
                          <a:latin typeface="Segoe UI"/>
                        </a:rPr>
                        <a:t>3 fragments</a:t>
                      </a:r>
                    </a:p>
                  </a:txBody>
                  <a:tcPr marL="73152" marR="73152" marT="27432" marB="27432" anchor="ctr">
                    <a:solidFill>
                      <a:srgbClr val="FFFFFF"/>
                    </a:solidFill>
                  </a:tcPr>
                </a:tc>
                <a:tc>
                  <a:txBody>
                    <a:bodyPr wrap="square"/>
                    <a:lstStyle/>
                    <a:p>
                      <a:r>
                        <a:rPr sz="1150" b="0" i="0">
                          <a:solidFill>
                            <a:srgbClr val="2B2F36"/>
                          </a:solidFill>
                          <a:latin typeface="Segoe UI"/>
                        </a:rPr>
                        <a:t>Mid-to-large single-site clusters</a:t>
                      </a:r>
                    </a:p>
                  </a:txBody>
                  <a:tcPr marL="73152" marR="73152" marT="27432" marB="27432" anchor="ctr">
                    <a:solidFill>
                      <a:srgbClr val="FFFFFF"/>
                    </a:solidFill>
                  </a:tcPr>
                </a:tc>
              </a:tr>
              <a:tr h="338328">
                <a:tc>
                  <a:txBody>
                    <a:bodyPr wrap="square"/>
                    <a:lstStyle/>
                    <a:p>
                      <a:r>
                        <a:rPr sz="1150" b="1" i="0">
                          <a:solidFill>
                            <a:srgbClr val="2B2F36"/>
                          </a:solidFill>
                          <a:latin typeface="Segoe UI"/>
                        </a:rPr>
                        <a:t>ARC 7+5</a:t>
                      </a:r>
                    </a:p>
                  </a:txBody>
                  <a:tcPr marL="73152" marR="73152" marT="27432" marB="27432" anchor="ctr">
                    <a:solidFill>
                      <a:srgbClr val="F2F4F7"/>
                    </a:solidFill>
                  </a:tcPr>
                </a:tc>
                <a:tc>
                  <a:txBody>
                    <a:bodyPr wrap="square"/>
                    <a:lstStyle/>
                    <a:p>
                      <a:r>
                        <a:rPr sz="1150" b="0" i="0">
                          <a:solidFill>
                            <a:srgbClr val="2B2F36"/>
                          </a:solidFill>
                          <a:latin typeface="Segoe UI"/>
                        </a:rPr>
                        <a:t>1.71×</a:t>
                      </a:r>
                    </a:p>
                  </a:txBody>
                  <a:tcPr marL="73152" marR="73152" marT="27432" marB="27432" anchor="ctr">
                    <a:solidFill>
                      <a:srgbClr val="F2F4F7"/>
                    </a:solidFill>
                  </a:tcPr>
                </a:tc>
                <a:tc>
                  <a:txBody>
                    <a:bodyPr wrap="square"/>
                    <a:lstStyle/>
                    <a:p>
                      <a:r>
                        <a:rPr sz="1150" b="0" i="0">
                          <a:solidFill>
                            <a:srgbClr val="2B2F36"/>
                          </a:solidFill>
                          <a:latin typeface="Segoe UI"/>
                        </a:rPr>
                        <a:t>1 full site + 1 fragment</a:t>
                      </a:r>
                    </a:p>
                  </a:txBody>
                  <a:tcPr marL="73152" marR="73152" marT="27432" marB="27432" anchor="ctr">
                    <a:solidFill>
                      <a:srgbClr val="F2F4F7"/>
                    </a:solidFill>
                  </a:tcPr>
                </a:tc>
                <a:tc>
                  <a:txBody>
                    <a:bodyPr wrap="square"/>
                    <a:lstStyle/>
                    <a:p>
                      <a:r>
                        <a:rPr sz="1150" b="0" i="0">
                          <a:solidFill>
                            <a:srgbClr val="2B2F36"/>
                          </a:solidFill>
                          <a:latin typeface="Segoe UI"/>
                        </a:rPr>
                        <a:t>Three-site stretched clusters</a:t>
                      </a:r>
                    </a:p>
                  </a:txBody>
                  <a:tcPr marL="73152" marR="73152" marT="27432" marB="27432" anchor="ctr">
                    <a:solidFill>
                      <a:srgbClr val="F2F4F7"/>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 name="Rectangle 2"/>
          <p:cNvSpPr/>
          <p:nvPr/>
        </p:nvSpPr>
        <p:spPr>
          <a:xfrm>
            <a:off x="0" y="914400"/>
            <a:ext cx="12191695" cy="54864"/>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4" name="TextBox 3"/>
          <p:cNvSpPr txBox="1"/>
          <p:nvPr/>
        </p:nvSpPr>
        <p:spPr>
          <a:xfrm>
            <a:off x="457200" y="91440"/>
            <a:ext cx="11247120" cy="502920"/>
          </a:xfrm>
          <a:prstGeom prst="rect">
            <a:avLst/>
          </a:prstGeom>
          <a:noFill/>
        </p:spPr>
        <p:txBody>
          <a:bodyPr wrap="square" anchor="ctr" lIns="36576" rIns="36576" tIns="36576" bIns="36576">
            <a:spAutoFit/>
          </a:bodyPr>
          <a:lstStyle/>
          <a:p>
            <a:pPr algn="l"/>
            <a:r>
              <a:rPr sz="2600" b="1" i="0">
                <a:solidFill>
                  <a:srgbClr val="FFFFFF"/>
                </a:solidFill>
                <a:latin typeface="Segoe UI"/>
              </a:rPr>
              <a:t>Failure-Domain Design</a:t>
            </a:r>
          </a:p>
        </p:txBody>
      </p:sp>
      <p:sp>
        <p:nvSpPr>
          <p:cNvPr id="5" name="TextBox 4"/>
          <p:cNvSpPr txBox="1"/>
          <p:nvPr/>
        </p:nvSpPr>
        <p:spPr>
          <a:xfrm>
            <a:off x="457200" y="548640"/>
            <a:ext cx="11247120" cy="320040"/>
          </a:xfrm>
          <a:prstGeom prst="rect">
            <a:avLst/>
          </a:prstGeom>
          <a:noFill/>
        </p:spPr>
        <p:txBody>
          <a:bodyPr wrap="square" anchor="t" lIns="36576" rIns="36576" tIns="36576" bIns="36576">
            <a:spAutoFit/>
          </a:bodyPr>
          <a:lstStyle/>
          <a:p>
            <a:pPr algn="l"/>
            <a:r>
              <a:rPr sz="1300" b="0" i="0">
                <a:solidFill>
                  <a:srgbClr val="C9D3E3"/>
                </a:solidFill>
                <a:latin typeface="Segoe UI"/>
              </a:rPr>
              <a:t>Fragments spread across servers and racks</a:t>
            </a:r>
          </a:p>
        </p:txBody>
      </p:sp>
      <p:sp>
        <p:nvSpPr>
          <p:cNvPr id="6" name="TextBox 5"/>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i="0">
                <a:solidFill>
                  <a:srgbClr val="5B6577"/>
                </a:solidFill>
                <a:latin typeface="Segoe UI"/>
              </a:rPr>
              <a:t>Scality RING  |  Architecture, Deployment &amp; Operations</a:t>
            </a:r>
          </a:p>
        </p:txBody>
      </p:sp>
      <p:sp>
        <p:nvSpPr>
          <p:cNvPr id="7" name="TextBox 6"/>
          <p:cNvSpPr txBox="1"/>
          <p:nvPr/>
        </p:nvSpPr>
        <p:spPr>
          <a:xfrm>
            <a:off x="10789920" y="6473952"/>
            <a:ext cx="914400" cy="274320"/>
          </a:xfrm>
          <a:prstGeom prst="rect">
            <a:avLst/>
          </a:prstGeom>
          <a:noFill/>
        </p:spPr>
        <p:txBody>
          <a:bodyPr wrap="square" anchor="t" lIns="36576" rIns="36576" tIns="36576" bIns="36576">
            <a:spAutoFit/>
          </a:bodyPr>
          <a:lstStyle/>
          <a:p>
            <a:pPr algn="r"/>
            <a:r>
              <a:rPr sz="1000" b="0" i="0">
                <a:solidFill>
                  <a:srgbClr val="5B6577"/>
                </a:solidFill>
                <a:latin typeface="Segoe UI"/>
              </a:rPr>
              <a:t>9</a:t>
            </a:r>
          </a:p>
        </p:txBody>
      </p:sp>
      <p:sp>
        <p:nvSpPr>
          <p:cNvPr id="8" name="Rounded Rectangle 7"/>
          <p:cNvSpPr/>
          <p:nvPr/>
        </p:nvSpPr>
        <p:spPr>
          <a:xfrm>
            <a:off x="457200" y="1280160"/>
            <a:ext cx="1874519" cy="406908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9" name="TextBox 8"/>
          <p:cNvSpPr txBox="1"/>
          <p:nvPr/>
        </p:nvSpPr>
        <p:spPr>
          <a:xfrm>
            <a:off x="457200" y="1325880"/>
            <a:ext cx="1874519" cy="320040"/>
          </a:xfrm>
          <a:prstGeom prst="rect">
            <a:avLst/>
          </a:prstGeom>
          <a:noFill/>
        </p:spPr>
        <p:txBody>
          <a:bodyPr wrap="square" anchor="t" lIns="36576" rIns="36576" tIns="36576" bIns="36576">
            <a:spAutoFit/>
          </a:bodyPr>
          <a:lstStyle/>
          <a:p>
            <a:pPr algn="ctr"/>
            <a:r>
              <a:rPr sz="1300" b="1" i="0">
                <a:solidFill>
                  <a:srgbClr val="1F2A44"/>
                </a:solidFill>
                <a:latin typeface="Segoe UI"/>
              </a:rPr>
              <a:t>Rack 1</a:t>
            </a:r>
          </a:p>
        </p:txBody>
      </p:sp>
      <p:sp>
        <p:nvSpPr>
          <p:cNvPr id="10" name="Rectangle 9"/>
          <p:cNvSpPr/>
          <p:nvPr/>
        </p:nvSpPr>
        <p:spPr>
          <a:xfrm>
            <a:off x="594360" y="1691640"/>
            <a:ext cx="1600200" cy="274320"/>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0" i="0">
                <a:solidFill>
                  <a:srgbClr val="FFFFFF"/>
                </a:solidFill>
                <a:latin typeface="Segoe UI"/>
              </a:rPr>
              <a:t>Leaf switches</a:t>
            </a:r>
          </a:p>
        </p:txBody>
      </p:sp>
      <p:sp>
        <p:nvSpPr>
          <p:cNvPr id="11" name="Rounded Rectangle 10"/>
          <p:cNvSpPr/>
          <p:nvPr/>
        </p:nvSpPr>
        <p:spPr>
          <a:xfrm>
            <a:off x="594360" y="2148840"/>
            <a:ext cx="1600200" cy="868680"/>
          </a:xfrm>
          <a:prstGeom prst="roundRect">
            <a:avLst>
              <a:gd name="adj" fmla="val 10000"/>
            </a:avLst>
          </a:prstGeom>
          <a:solidFill>
            <a:srgbClr val="D7EEF1"/>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Server 1</a:t>
            </a:r>
          </a:p>
          <a:p>
            <a:pPr algn="ctr"/>
            <a:r>
              <a:rPr sz="1100" b="0" i="0">
                <a:solidFill>
                  <a:srgbClr val="5B6577"/>
                </a:solidFill>
                <a:latin typeface="Segoe UI"/>
              </a:rPr>
              <a:t>Fragment D1</a:t>
            </a:r>
          </a:p>
        </p:txBody>
      </p:sp>
      <p:sp>
        <p:nvSpPr>
          <p:cNvPr id="12" name="Rounded Rectangle 11"/>
          <p:cNvSpPr/>
          <p:nvPr/>
        </p:nvSpPr>
        <p:spPr>
          <a:xfrm>
            <a:off x="594360" y="3154680"/>
            <a:ext cx="1600200" cy="868680"/>
          </a:xfrm>
          <a:prstGeom prst="roundRect">
            <a:avLst>
              <a:gd name="adj" fmla="val 10000"/>
            </a:avLst>
          </a:prstGeom>
          <a:solidFill>
            <a:srgbClr val="D7EEF1"/>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Server 2</a:t>
            </a:r>
          </a:p>
          <a:p>
            <a:pPr algn="ctr"/>
            <a:r>
              <a:rPr sz="1100" b="0" i="0">
                <a:solidFill>
                  <a:srgbClr val="5B6577"/>
                </a:solidFill>
                <a:latin typeface="Segoe UI"/>
              </a:rPr>
              <a:t>Fragment D2</a:t>
            </a:r>
          </a:p>
        </p:txBody>
      </p:sp>
      <p:sp>
        <p:nvSpPr>
          <p:cNvPr id="13" name="Rounded Rectangle 12"/>
          <p:cNvSpPr/>
          <p:nvPr/>
        </p:nvSpPr>
        <p:spPr>
          <a:xfrm>
            <a:off x="594360" y="4160520"/>
            <a:ext cx="1600200" cy="868680"/>
          </a:xfrm>
          <a:prstGeom prst="roundRect">
            <a:avLst>
              <a:gd name="adj" fmla="val 10000"/>
            </a:avLst>
          </a:prstGeom>
          <a:solidFill>
            <a:srgbClr val="D7EEF1"/>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Server 3</a:t>
            </a:r>
          </a:p>
          <a:p>
            <a:pPr algn="ctr"/>
            <a:r>
              <a:rPr sz="1100" b="0" i="0">
                <a:solidFill>
                  <a:srgbClr val="5B6577"/>
                </a:solidFill>
                <a:latin typeface="Segoe UI"/>
              </a:rPr>
              <a:t>Fragment D3</a:t>
            </a:r>
          </a:p>
        </p:txBody>
      </p:sp>
      <p:sp>
        <p:nvSpPr>
          <p:cNvPr id="14" name="Rounded Rectangle 13"/>
          <p:cNvSpPr/>
          <p:nvPr/>
        </p:nvSpPr>
        <p:spPr>
          <a:xfrm>
            <a:off x="2514600" y="1280160"/>
            <a:ext cx="1874519" cy="4069080"/>
          </a:xfrm>
          <a:prstGeom prst="roundRect">
            <a:avLst>
              <a:gd name="adj" fmla="val 10000"/>
            </a:avLst>
          </a:prstGeom>
          <a:solidFill>
            <a:srgbClr val="F2F4F7"/>
          </a:solidFill>
          <a:ln w="38100">
            <a:solidFill>
              <a:srgbClr val="D6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 name="TextBox 14"/>
          <p:cNvSpPr txBox="1"/>
          <p:nvPr/>
        </p:nvSpPr>
        <p:spPr>
          <a:xfrm>
            <a:off x="2514600" y="1325880"/>
            <a:ext cx="1874519" cy="320040"/>
          </a:xfrm>
          <a:prstGeom prst="rect">
            <a:avLst/>
          </a:prstGeom>
          <a:noFill/>
        </p:spPr>
        <p:txBody>
          <a:bodyPr wrap="square" anchor="t" lIns="36576" rIns="36576" tIns="36576" bIns="36576">
            <a:spAutoFit/>
          </a:bodyPr>
          <a:lstStyle/>
          <a:p>
            <a:pPr algn="ctr"/>
            <a:r>
              <a:rPr sz="1300" b="1" i="0">
                <a:solidFill>
                  <a:srgbClr val="D64545"/>
                </a:solidFill>
                <a:latin typeface="Segoe UI"/>
              </a:rPr>
              <a:t>Rack 2</a:t>
            </a:r>
          </a:p>
        </p:txBody>
      </p:sp>
      <p:sp>
        <p:nvSpPr>
          <p:cNvPr id="16" name="Rectangle 15"/>
          <p:cNvSpPr/>
          <p:nvPr/>
        </p:nvSpPr>
        <p:spPr>
          <a:xfrm>
            <a:off x="2651760" y="1691640"/>
            <a:ext cx="1600200" cy="274320"/>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0" i="0">
                <a:solidFill>
                  <a:srgbClr val="FFFFFF"/>
                </a:solidFill>
                <a:latin typeface="Segoe UI"/>
              </a:rPr>
              <a:t>Leaf switches</a:t>
            </a:r>
          </a:p>
        </p:txBody>
      </p:sp>
      <p:sp>
        <p:nvSpPr>
          <p:cNvPr id="17" name="Rounded Rectangle 16"/>
          <p:cNvSpPr/>
          <p:nvPr/>
        </p:nvSpPr>
        <p:spPr>
          <a:xfrm>
            <a:off x="2651760" y="2148840"/>
            <a:ext cx="1600200" cy="868680"/>
          </a:xfrm>
          <a:prstGeom prst="roundRect">
            <a:avLst>
              <a:gd name="adj" fmla="val 10000"/>
            </a:avLst>
          </a:prstGeom>
          <a:solidFill>
            <a:srgbClr val="F9DEDE"/>
          </a:solidFill>
          <a:ln w="12700">
            <a:solidFill>
              <a:srgbClr val="D6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Server 4</a:t>
            </a:r>
          </a:p>
          <a:p>
            <a:pPr algn="ctr"/>
            <a:r>
              <a:rPr sz="1100" b="0" i="0">
                <a:solidFill>
                  <a:srgbClr val="5B6577"/>
                </a:solidFill>
                <a:latin typeface="Segoe UI"/>
              </a:rPr>
              <a:t>Fragment D4</a:t>
            </a:r>
          </a:p>
        </p:txBody>
      </p:sp>
      <p:sp>
        <p:nvSpPr>
          <p:cNvPr id="18" name="Rounded Rectangle 17"/>
          <p:cNvSpPr/>
          <p:nvPr/>
        </p:nvSpPr>
        <p:spPr>
          <a:xfrm>
            <a:off x="2651760" y="3154680"/>
            <a:ext cx="1600200" cy="868680"/>
          </a:xfrm>
          <a:prstGeom prst="roundRect">
            <a:avLst>
              <a:gd name="adj" fmla="val 10000"/>
            </a:avLst>
          </a:prstGeom>
          <a:solidFill>
            <a:srgbClr val="F9DEDE"/>
          </a:solidFill>
          <a:ln w="12700">
            <a:solidFill>
              <a:srgbClr val="D6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Server 5</a:t>
            </a:r>
          </a:p>
          <a:p>
            <a:pPr algn="ctr"/>
            <a:r>
              <a:rPr sz="1100" b="0" i="0">
                <a:solidFill>
                  <a:srgbClr val="5B6577"/>
                </a:solidFill>
                <a:latin typeface="Segoe UI"/>
              </a:rPr>
              <a:t>Fragment D5</a:t>
            </a:r>
          </a:p>
        </p:txBody>
      </p:sp>
      <p:sp>
        <p:nvSpPr>
          <p:cNvPr id="19" name="Rounded Rectangle 18"/>
          <p:cNvSpPr/>
          <p:nvPr/>
        </p:nvSpPr>
        <p:spPr>
          <a:xfrm>
            <a:off x="2651760" y="4160520"/>
            <a:ext cx="1600200" cy="868680"/>
          </a:xfrm>
          <a:prstGeom prst="roundRect">
            <a:avLst>
              <a:gd name="adj" fmla="val 10000"/>
            </a:avLst>
          </a:prstGeom>
          <a:solidFill>
            <a:srgbClr val="F9DEDE"/>
          </a:solidFill>
          <a:ln w="12700">
            <a:solidFill>
              <a:srgbClr val="D6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Server 6</a:t>
            </a:r>
          </a:p>
          <a:p>
            <a:pPr algn="ctr"/>
            <a:r>
              <a:rPr sz="1100" b="0" i="0">
                <a:solidFill>
                  <a:srgbClr val="5B6577"/>
                </a:solidFill>
                <a:latin typeface="Segoe UI"/>
              </a:rPr>
              <a:t>Fragment D6</a:t>
            </a:r>
          </a:p>
        </p:txBody>
      </p:sp>
      <p:sp>
        <p:nvSpPr>
          <p:cNvPr id="20" name="Rounded Rectangle 19"/>
          <p:cNvSpPr/>
          <p:nvPr/>
        </p:nvSpPr>
        <p:spPr>
          <a:xfrm>
            <a:off x="4572000" y="1280160"/>
            <a:ext cx="1874519" cy="406908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21" name="TextBox 20"/>
          <p:cNvSpPr txBox="1"/>
          <p:nvPr/>
        </p:nvSpPr>
        <p:spPr>
          <a:xfrm>
            <a:off x="4572000" y="1325880"/>
            <a:ext cx="1874519" cy="320040"/>
          </a:xfrm>
          <a:prstGeom prst="rect">
            <a:avLst/>
          </a:prstGeom>
          <a:noFill/>
        </p:spPr>
        <p:txBody>
          <a:bodyPr wrap="square" anchor="t" lIns="36576" rIns="36576" tIns="36576" bIns="36576">
            <a:spAutoFit/>
          </a:bodyPr>
          <a:lstStyle/>
          <a:p>
            <a:pPr algn="ctr"/>
            <a:r>
              <a:rPr sz="1300" b="1" i="0">
                <a:solidFill>
                  <a:srgbClr val="1F2A44"/>
                </a:solidFill>
                <a:latin typeface="Segoe UI"/>
              </a:rPr>
              <a:t>Rack 3</a:t>
            </a:r>
          </a:p>
        </p:txBody>
      </p:sp>
      <p:sp>
        <p:nvSpPr>
          <p:cNvPr id="22" name="Rectangle 21"/>
          <p:cNvSpPr/>
          <p:nvPr/>
        </p:nvSpPr>
        <p:spPr>
          <a:xfrm>
            <a:off x="4709160" y="1691640"/>
            <a:ext cx="1600200" cy="274320"/>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0" i="0">
                <a:solidFill>
                  <a:srgbClr val="FFFFFF"/>
                </a:solidFill>
                <a:latin typeface="Segoe UI"/>
              </a:rPr>
              <a:t>Leaf switches</a:t>
            </a:r>
          </a:p>
        </p:txBody>
      </p:sp>
      <p:sp>
        <p:nvSpPr>
          <p:cNvPr id="23" name="Rounded Rectangle 22"/>
          <p:cNvSpPr/>
          <p:nvPr/>
        </p:nvSpPr>
        <p:spPr>
          <a:xfrm>
            <a:off x="4709160" y="2148840"/>
            <a:ext cx="1600200" cy="868680"/>
          </a:xfrm>
          <a:prstGeom prst="roundRect">
            <a:avLst>
              <a:gd name="adj" fmla="val 10000"/>
            </a:avLst>
          </a:prstGeom>
          <a:solidFill>
            <a:srgbClr val="D7EEF1"/>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Server 7</a:t>
            </a:r>
          </a:p>
          <a:p>
            <a:pPr algn="ctr"/>
            <a:r>
              <a:rPr sz="1100" b="0" i="0">
                <a:solidFill>
                  <a:srgbClr val="5B6577"/>
                </a:solidFill>
                <a:latin typeface="Segoe UI"/>
              </a:rPr>
              <a:t>Fragment D7</a:t>
            </a:r>
          </a:p>
        </p:txBody>
      </p:sp>
      <p:sp>
        <p:nvSpPr>
          <p:cNvPr id="24" name="Rounded Rectangle 23"/>
          <p:cNvSpPr/>
          <p:nvPr/>
        </p:nvSpPr>
        <p:spPr>
          <a:xfrm>
            <a:off x="4709160" y="3154680"/>
            <a:ext cx="1600200" cy="868680"/>
          </a:xfrm>
          <a:prstGeom prst="roundRect">
            <a:avLst>
              <a:gd name="adj" fmla="val 10000"/>
            </a:avLst>
          </a:prstGeom>
          <a:solidFill>
            <a:srgbClr val="D7EEF1"/>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Server 8</a:t>
            </a:r>
          </a:p>
          <a:p>
            <a:pPr algn="ctr"/>
            <a:r>
              <a:rPr sz="1100" b="0" i="0">
                <a:solidFill>
                  <a:srgbClr val="5B6577"/>
                </a:solidFill>
                <a:latin typeface="Segoe UI"/>
              </a:rPr>
              <a:t>Fragment D8</a:t>
            </a:r>
          </a:p>
        </p:txBody>
      </p:sp>
      <p:sp>
        <p:nvSpPr>
          <p:cNvPr id="25" name="Rounded Rectangle 24"/>
          <p:cNvSpPr/>
          <p:nvPr/>
        </p:nvSpPr>
        <p:spPr>
          <a:xfrm>
            <a:off x="4709160" y="4160520"/>
            <a:ext cx="1600200" cy="868680"/>
          </a:xfrm>
          <a:prstGeom prst="roundRect">
            <a:avLst>
              <a:gd name="adj" fmla="val 10000"/>
            </a:avLst>
          </a:prstGeom>
          <a:solidFill>
            <a:srgbClr val="D7EEF1"/>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Server 9</a:t>
            </a:r>
          </a:p>
          <a:p>
            <a:pPr algn="ctr"/>
            <a:r>
              <a:rPr sz="1100" b="0" i="0">
                <a:solidFill>
                  <a:srgbClr val="5B6577"/>
                </a:solidFill>
                <a:latin typeface="Segoe UI"/>
              </a:rPr>
              <a:t>Fragment D9</a:t>
            </a:r>
          </a:p>
        </p:txBody>
      </p:sp>
      <p:sp>
        <p:nvSpPr>
          <p:cNvPr id="26" name="Rounded Rectangle 25"/>
          <p:cNvSpPr/>
          <p:nvPr/>
        </p:nvSpPr>
        <p:spPr>
          <a:xfrm>
            <a:off x="6629400" y="1280160"/>
            <a:ext cx="1874519" cy="406908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27" name="TextBox 26"/>
          <p:cNvSpPr txBox="1"/>
          <p:nvPr/>
        </p:nvSpPr>
        <p:spPr>
          <a:xfrm>
            <a:off x="6629400" y="1325880"/>
            <a:ext cx="1874519" cy="320040"/>
          </a:xfrm>
          <a:prstGeom prst="rect">
            <a:avLst/>
          </a:prstGeom>
          <a:noFill/>
        </p:spPr>
        <p:txBody>
          <a:bodyPr wrap="square" anchor="t" lIns="36576" rIns="36576" tIns="36576" bIns="36576">
            <a:spAutoFit/>
          </a:bodyPr>
          <a:lstStyle/>
          <a:p>
            <a:pPr algn="ctr"/>
            <a:r>
              <a:rPr sz="1300" b="1" i="0">
                <a:solidFill>
                  <a:srgbClr val="1F2A44"/>
                </a:solidFill>
                <a:latin typeface="Segoe UI"/>
              </a:rPr>
              <a:t>Rack 4</a:t>
            </a:r>
          </a:p>
        </p:txBody>
      </p:sp>
      <p:sp>
        <p:nvSpPr>
          <p:cNvPr id="28" name="Rectangle 27"/>
          <p:cNvSpPr/>
          <p:nvPr/>
        </p:nvSpPr>
        <p:spPr>
          <a:xfrm>
            <a:off x="6766560" y="1691640"/>
            <a:ext cx="1600200" cy="274320"/>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0" i="0">
                <a:solidFill>
                  <a:srgbClr val="FFFFFF"/>
                </a:solidFill>
                <a:latin typeface="Segoe UI"/>
              </a:rPr>
              <a:t>Leaf switches</a:t>
            </a:r>
          </a:p>
        </p:txBody>
      </p:sp>
      <p:sp>
        <p:nvSpPr>
          <p:cNvPr id="29" name="Rounded Rectangle 28"/>
          <p:cNvSpPr/>
          <p:nvPr/>
        </p:nvSpPr>
        <p:spPr>
          <a:xfrm>
            <a:off x="6766560" y="2148840"/>
            <a:ext cx="1600200" cy="868680"/>
          </a:xfrm>
          <a:prstGeom prst="roundRect">
            <a:avLst>
              <a:gd name="adj" fmla="val 10000"/>
            </a:avLst>
          </a:prstGeom>
          <a:solidFill>
            <a:srgbClr val="FBE6CF"/>
          </a:solidFill>
          <a:ln w="12700">
            <a:solidFill>
              <a:srgbClr val="E8892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Server 10</a:t>
            </a:r>
          </a:p>
          <a:p>
            <a:pPr algn="ctr"/>
            <a:r>
              <a:rPr sz="1100" b="0" i="0">
                <a:solidFill>
                  <a:srgbClr val="5B6577"/>
                </a:solidFill>
                <a:latin typeface="Segoe UI"/>
              </a:rPr>
              <a:t>Fragment P1</a:t>
            </a:r>
          </a:p>
        </p:txBody>
      </p:sp>
      <p:sp>
        <p:nvSpPr>
          <p:cNvPr id="30" name="Rounded Rectangle 29"/>
          <p:cNvSpPr/>
          <p:nvPr/>
        </p:nvSpPr>
        <p:spPr>
          <a:xfrm>
            <a:off x="6766560" y="3154680"/>
            <a:ext cx="1600200" cy="868680"/>
          </a:xfrm>
          <a:prstGeom prst="roundRect">
            <a:avLst>
              <a:gd name="adj" fmla="val 10000"/>
            </a:avLst>
          </a:prstGeom>
          <a:solidFill>
            <a:srgbClr val="FBE6CF"/>
          </a:solidFill>
          <a:ln w="12700">
            <a:solidFill>
              <a:srgbClr val="E8892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Server 11</a:t>
            </a:r>
          </a:p>
          <a:p>
            <a:pPr algn="ctr"/>
            <a:r>
              <a:rPr sz="1100" b="0" i="0">
                <a:solidFill>
                  <a:srgbClr val="5B6577"/>
                </a:solidFill>
                <a:latin typeface="Segoe UI"/>
              </a:rPr>
              <a:t>Fragment P2</a:t>
            </a:r>
          </a:p>
        </p:txBody>
      </p:sp>
      <p:sp>
        <p:nvSpPr>
          <p:cNvPr id="31" name="Rounded Rectangle 30"/>
          <p:cNvSpPr/>
          <p:nvPr/>
        </p:nvSpPr>
        <p:spPr>
          <a:xfrm>
            <a:off x="6766560" y="4160520"/>
            <a:ext cx="1600200" cy="868680"/>
          </a:xfrm>
          <a:prstGeom prst="roundRect">
            <a:avLst>
              <a:gd name="adj" fmla="val 10000"/>
            </a:avLst>
          </a:prstGeom>
          <a:solidFill>
            <a:srgbClr val="FBE6CF"/>
          </a:solidFill>
          <a:ln w="12700">
            <a:solidFill>
              <a:srgbClr val="E8892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Server 12</a:t>
            </a:r>
          </a:p>
          <a:p>
            <a:pPr algn="ctr"/>
            <a:r>
              <a:rPr sz="1100" b="0" i="0">
                <a:solidFill>
                  <a:srgbClr val="5B6577"/>
                </a:solidFill>
                <a:latin typeface="Segoe UI"/>
              </a:rPr>
              <a:t>Fragment P3</a:t>
            </a:r>
          </a:p>
        </p:txBody>
      </p:sp>
      <p:sp>
        <p:nvSpPr>
          <p:cNvPr id="32" name="TextBox 31"/>
          <p:cNvSpPr txBox="1"/>
          <p:nvPr/>
        </p:nvSpPr>
        <p:spPr>
          <a:xfrm>
            <a:off x="457200" y="5486400"/>
            <a:ext cx="8046720" cy="731520"/>
          </a:xfrm>
          <a:prstGeom prst="rect">
            <a:avLst/>
          </a:prstGeom>
          <a:noFill/>
        </p:spPr>
        <p:txBody>
          <a:bodyPr wrap="square" anchor="t" lIns="36576" rIns="36576" tIns="36576" bIns="36576">
            <a:spAutoFit/>
          </a:bodyPr>
          <a:lstStyle/>
          <a:p>
            <a:pPr algn="l"/>
            <a:r>
              <a:rPr sz="1400" b="1" i="0">
                <a:solidFill>
                  <a:srgbClr val="2E9E5B"/>
                </a:solidFill>
                <a:latin typeface="Segoe UI"/>
              </a:rPr>
              <a:t>Rack 2 offline: 3 fragments lost, 9 of 12 remain, every object still readable</a:t>
            </a:r>
          </a:p>
        </p:txBody>
      </p:sp>
      <p:sp>
        <p:nvSpPr>
          <p:cNvPr id="33" name="TextBox 32"/>
          <p:cNvSpPr txBox="1"/>
          <p:nvPr/>
        </p:nvSpPr>
        <p:spPr>
          <a:xfrm>
            <a:off x="8778240" y="1280160"/>
            <a:ext cx="2971800" cy="365760"/>
          </a:xfrm>
          <a:prstGeom prst="rect">
            <a:avLst/>
          </a:prstGeom>
          <a:noFill/>
        </p:spPr>
        <p:txBody>
          <a:bodyPr wrap="square" anchor="t" lIns="36576" rIns="36576" tIns="36576" bIns="36576">
            <a:spAutoFit/>
          </a:bodyPr>
          <a:lstStyle/>
          <a:p>
            <a:pPr algn="l"/>
            <a:r>
              <a:rPr sz="1600" b="1" i="0">
                <a:solidFill>
                  <a:srgbClr val="0F7C8C"/>
                </a:solidFill>
                <a:latin typeface="Segoe UI"/>
              </a:rPr>
              <a:t>Design rule</a:t>
            </a:r>
          </a:p>
        </p:txBody>
      </p:sp>
      <p:sp>
        <p:nvSpPr>
          <p:cNvPr id="34" name="Rounded Rectangle 33"/>
          <p:cNvSpPr/>
          <p:nvPr/>
        </p:nvSpPr>
        <p:spPr>
          <a:xfrm>
            <a:off x="8778240" y="1691640"/>
            <a:ext cx="2971800" cy="1188720"/>
          </a:xfrm>
          <a:prstGeom prst="roundRect">
            <a:avLst>
              <a:gd name="adj" fmla="val 10000"/>
            </a:avLst>
          </a:prstGeom>
          <a:solidFill>
            <a:srgbClr val="D7EEF1"/>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l"/>
            <a:r>
              <a:rPr sz="1200" b="0" i="0">
                <a:solidFill>
                  <a:srgbClr val="1F2A44"/>
                </a:solidFill>
                <a:latin typeface="Segoe UI"/>
              </a:rPr>
              <a:t>No single failure domain (disk, server, rack, site) may hold more fragments than the parity count.</a:t>
            </a:r>
          </a:p>
        </p:txBody>
      </p:sp>
      <p:graphicFrame>
        <p:nvGraphicFramePr>
          <p:cNvPr id="35" name="Table 34"/>
          <p:cNvGraphicFramePr>
            <a:graphicFrameLocks noGrp="1"/>
          </p:cNvGraphicFramePr>
          <p:nvPr/>
        </p:nvGraphicFramePr>
        <p:xfrm>
          <a:off x="8778240" y="3063240"/>
          <a:ext cx="2971800" cy="1234440"/>
        </p:xfrm>
        <a:graphic>
          <a:graphicData uri="http://schemas.openxmlformats.org/drawingml/2006/table">
            <a:tbl>
              <a:tblPr firstRow="1" bandRow="1">
                <a:tableStyleId>{5C22544A-7EE6-4342-B048-85BDC9FD1C3A}</a:tableStyleId>
              </a:tblPr>
              <a:tblGrid>
                <a:gridCol w="1828800"/>
                <a:gridCol w="1143000"/>
              </a:tblGrid>
              <a:tr h="411480">
                <a:tc>
                  <a:txBody>
                    <a:bodyPr wrap="square"/>
                    <a:lstStyle/>
                    <a:p>
                      <a:r>
                        <a:rPr sz="1100" b="1" i="0">
                          <a:solidFill>
                            <a:srgbClr val="FFFFFF"/>
                          </a:solidFill>
                          <a:latin typeface="Segoe UI"/>
                        </a:rPr>
                        <a:t>Layout (ARC 9+3)</a:t>
                      </a:r>
                    </a:p>
                  </a:txBody>
                  <a:tcPr marL="73152" marR="73152" marT="27432" marB="27432" anchor="ctr">
                    <a:solidFill>
                      <a:srgbClr val="1F2A44"/>
                    </a:solidFill>
                  </a:tcPr>
                </a:tc>
                <a:tc>
                  <a:txBody>
                    <a:bodyPr wrap="square"/>
                    <a:lstStyle/>
                    <a:p>
                      <a:r>
                        <a:rPr sz="1100" b="1" i="0">
                          <a:solidFill>
                            <a:srgbClr val="FFFFFF"/>
                          </a:solidFill>
                          <a:latin typeface="Segoe UI"/>
                        </a:rPr>
                        <a:t>Rack loss</a:t>
                      </a:r>
                    </a:p>
                  </a:txBody>
                  <a:tcPr marL="73152" marR="73152" marT="27432" marB="27432" anchor="ctr">
                    <a:solidFill>
                      <a:srgbClr val="1F2A44"/>
                    </a:solidFill>
                  </a:tcPr>
                </a:tc>
              </a:tr>
              <a:tr h="411480">
                <a:tc>
                  <a:txBody>
                    <a:bodyPr wrap="square"/>
                    <a:lstStyle/>
                    <a:p>
                      <a:r>
                        <a:rPr sz="1100" b="0" i="0">
                          <a:solidFill>
                            <a:srgbClr val="2B2F36"/>
                          </a:solidFill>
                          <a:latin typeface="Segoe UI"/>
                        </a:rPr>
                        <a:t>3 racks × 4 servers</a:t>
                      </a:r>
                    </a:p>
                  </a:txBody>
                  <a:tcPr marL="73152" marR="73152" marT="27432" marB="27432" anchor="ctr">
                    <a:solidFill>
                      <a:srgbClr val="FFFFFF"/>
                    </a:solidFill>
                  </a:tcPr>
                </a:tc>
                <a:tc>
                  <a:txBody>
                    <a:bodyPr wrap="square"/>
                    <a:lstStyle/>
                    <a:p>
                      <a:r>
                        <a:rPr sz="1100" b="0" i="0">
                          <a:solidFill>
                            <a:srgbClr val="2B2F36"/>
                          </a:solidFill>
                          <a:latin typeface="Segoe UI"/>
                        </a:rPr>
                        <a:t>4 lost: ✖</a:t>
                      </a:r>
                    </a:p>
                  </a:txBody>
                  <a:tcPr marL="73152" marR="73152" marT="27432" marB="27432" anchor="ctr">
                    <a:solidFill>
                      <a:srgbClr val="FFFFFF"/>
                    </a:solidFill>
                  </a:tcPr>
                </a:tc>
              </a:tr>
              <a:tr h="411480">
                <a:tc>
                  <a:txBody>
                    <a:bodyPr wrap="square"/>
                    <a:lstStyle/>
                    <a:p>
                      <a:r>
                        <a:rPr sz="1100" b="0" i="0">
                          <a:solidFill>
                            <a:srgbClr val="2B2F36"/>
                          </a:solidFill>
                          <a:latin typeface="Segoe UI"/>
                        </a:rPr>
                        <a:t>4 racks × 3 servers</a:t>
                      </a:r>
                    </a:p>
                  </a:txBody>
                  <a:tcPr marL="73152" marR="73152" marT="27432" marB="27432" anchor="ctr">
                    <a:solidFill>
                      <a:srgbClr val="F2F4F7"/>
                    </a:solidFill>
                  </a:tcPr>
                </a:tc>
                <a:tc>
                  <a:txBody>
                    <a:bodyPr wrap="square"/>
                    <a:lstStyle/>
                    <a:p>
                      <a:r>
                        <a:rPr sz="1100" b="0" i="0">
                          <a:solidFill>
                            <a:srgbClr val="2B2F36"/>
                          </a:solidFill>
                          <a:latin typeface="Segoe UI"/>
                        </a:rPr>
                        <a:t>3 lost: ✔</a:t>
                      </a:r>
                    </a:p>
                  </a:txBody>
                  <a:tcPr marL="73152" marR="73152" marT="27432" marB="27432" anchor="ctr">
                    <a:solidFill>
                      <a:srgbClr val="F2F4F7"/>
                    </a:solidFill>
                  </a:tcPr>
                </a:tc>
              </a:tr>
            </a:tbl>
          </a:graphicData>
        </a:graphic>
      </p:graphicFrame>
      <p:sp>
        <p:nvSpPr>
          <p:cNvPr id="36" name="TextBox 35"/>
          <p:cNvSpPr txBox="1"/>
          <p:nvPr/>
        </p:nvSpPr>
        <p:spPr>
          <a:xfrm>
            <a:off x="8778240" y="4434840"/>
            <a:ext cx="2971800" cy="1097280"/>
          </a:xfrm>
          <a:prstGeom prst="rect">
            <a:avLst/>
          </a:prstGeom>
          <a:noFill/>
        </p:spPr>
        <p:txBody>
          <a:bodyPr wrap="square" anchor="t" lIns="36576" rIns="36576" tIns="36576" bIns="36576">
            <a:spAutoFit/>
          </a:bodyPr>
          <a:lstStyle/>
          <a:p>
            <a:pPr algn="l"/>
            <a:r>
              <a:rPr sz="1100" b="0" i="0">
                <a:solidFill>
                  <a:srgbClr val="5B6577"/>
                </a:solidFill>
                <a:latin typeface="Segoe UI"/>
              </a:rPr>
              <a:t>The key plan is generated with Scality tooling at installation and at every expansion.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 name="Rectangle 2"/>
          <p:cNvSpPr/>
          <p:nvPr/>
        </p:nvSpPr>
        <p:spPr>
          <a:xfrm>
            <a:off x="0" y="914400"/>
            <a:ext cx="12191695" cy="54864"/>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4" name="TextBox 3"/>
          <p:cNvSpPr txBox="1"/>
          <p:nvPr/>
        </p:nvSpPr>
        <p:spPr>
          <a:xfrm>
            <a:off x="457200" y="91440"/>
            <a:ext cx="11247120" cy="502920"/>
          </a:xfrm>
          <a:prstGeom prst="rect">
            <a:avLst/>
          </a:prstGeom>
          <a:noFill/>
        </p:spPr>
        <p:txBody>
          <a:bodyPr wrap="square" anchor="ctr" lIns="36576" rIns="36576" tIns="36576" bIns="36576">
            <a:spAutoFit/>
          </a:bodyPr>
          <a:lstStyle/>
          <a:p>
            <a:pPr algn="l"/>
            <a:r>
              <a:rPr sz="2600" b="1" i="0">
                <a:solidFill>
                  <a:srgbClr val="FFFFFF"/>
                </a:solidFill>
                <a:latin typeface="Segoe UI"/>
              </a:rPr>
              <a:t>Write Path: Storing an Object</a:t>
            </a:r>
          </a:p>
        </p:txBody>
      </p:sp>
      <p:sp>
        <p:nvSpPr>
          <p:cNvPr id="5" name="TextBox 4"/>
          <p:cNvSpPr txBox="1"/>
          <p:nvPr/>
        </p:nvSpPr>
        <p:spPr>
          <a:xfrm>
            <a:off x="457200" y="548640"/>
            <a:ext cx="11247120" cy="320040"/>
          </a:xfrm>
          <a:prstGeom prst="rect">
            <a:avLst/>
          </a:prstGeom>
          <a:noFill/>
        </p:spPr>
        <p:txBody>
          <a:bodyPr wrap="square" anchor="t" lIns="36576" rIns="36576" tIns="36576" bIns="36576">
            <a:spAutoFit/>
          </a:bodyPr>
          <a:lstStyle/>
          <a:p>
            <a:pPr algn="l"/>
            <a:r>
              <a:rPr sz="1300" b="0" i="0">
                <a:solidFill>
                  <a:srgbClr val="C9D3E3"/>
                </a:solidFill>
                <a:latin typeface="Segoe UI"/>
              </a:rPr>
              <a:t>From client request to acknowledgement</a:t>
            </a:r>
          </a:p>
        </p:txBody>
      </p:sp>
      <p:sp>
        <p:nvSpPr>
          <p:cNvPr id="6" name="TextBox 5"/>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i="0">
                <a:solidFill>
                  <a:srgbClr val="5B6577"/>
                </a:solidFill>
                <a:latin typeface="Segoe UI"/>
              </a:rPr>
              <a:t>Scality RING  |  Architecture, Deployment &amp; Operations</a:t>
            </a:r>
          </a:p>
        </p:txBody>
      </p:sp>
      <p:sp>
        <p:nvSpPr>
          <p:cNvPr id="7" name="TextBox 6"/>
          <p:cNvSpPr txBox="1"/>
          <p:nvPr/>
        </p:nvSpPr>
        <p:spPr>
          <a:xfrm>
            <a:off x="10789920" y="6473952"/>
            <a:ext cx="914400" cy="274320"/>
          </a:xfrm>
          <a:prstGeom prst="rect">
            <a:avLst/>
          </a:prstGeom>
          <a:noFill/>
        </p:spPr>
        <p:txBody>
          <a:bodyPr wrap="square" anchor="t" lIns="36576" rIns="36576" tIns="36576" bIns="36576">
            <a:spAutoFit/>
          </a:bodyPr>
          <a:lstStyle/>
          <a:p>
            <a:pPr algn="r"/>
            <a:r>
              <a:rPr sz="1000" b="0" i="0">
                <a:solidFill>
                  <a:srgbClr val="5B6577"/>
                </a:solidFill>
                <a:latin typeface="Segoe UI"/>
              </a:rPr>
              <a:t>10</a:t>
            </a:r>
          </a:p>
        </p:txBody>
      </p:sp>
      <p:sp>
        <p:nvSpPr>
          <p:cNvPr id="8" name="Rounded Rectangle 7"/>
          <p:cNvSpPr/>
          <p:nvPr/>
        </p:nvSpPr>
        <p:spPr>
          <a:xfrm>
            <a:off x="457200" y="1600200"/>
            <a:ext cx="1463040" cy="205740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600"/>
              </a:spcAft>
            </a:pPr>
            <a:r>
              <a:rPr sz="1300" b="1" i="0">
                <a:solidFill>
                  <a:srgbClr val="1F2A44"/>
                </a:solidFill>
                <a:latin typeface="Segoe UI"/>
              </a:rPr>
              <a:t>Client request</a:t>
            </a:r>
          </a:p>
          <a:p>
            <a:pPr algn="ctr"/>
            <a:r>
              <a:rPr sz="1100" b="0" i="0">
                <a:solidFill>
                  <a:srgbClr val="5B6577"/>
                </a:solidFill>
                <a:latin typeface="Segoe UI"/>
              </a:rPr>
              <a:t>PUT over HTTPS with signed request</a:t>
            </a:r>
          </a:p>
        </p:txBody>
      </p:sp>
      <p:sp>
        <p:nvSpPr>
          <p:cNvPr id="9" name="Oval 8"/>
          <p:cNvSpPr/>
          <p:nvPr/>
        </p:nvSpPr>
        <p:spPr>
          <a:xfrm>
            <a:off x="996695" y="1389888"/>
            <a:ext cx="384048" cy="384048"/>
          </a:xfrm>
          <a:prstGeom prst="ellipse">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Segoe UI"/>
              </a:rPr>
              <a:t>1</a:t>
            </a:r>
          </a:p>
        </p:txBody>
      </p:sp>
      <p:cxnSp>
        <p:nvCxnSpPr>
          <p:cNvPr id="10" name="Connector 9"/>
          <p:cNvCxnSpPr/>
          <p:nvPr/>
        </p:nvCxnSpPr>
        <p:spPr>
          <a:xfrm>
            <a:off x="1920240" y="2633472"/>
            <a:ext cx="164592" cy="0"/>
          </a:xfrm>
          <a:prstGeom prst="line">
            <a:avLst/>
          </a:prstGeom>
          <a:ln w="2540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084832" y="1600200"/>
            <a:ext cx="1463040" cy="205740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600"/>
              </a:spcAft>
            </a:pPr>
            <a:r>
              <a:rPr sz="1300" b="1" i="0">
                <a:solidFill>
                  <a:srgbClr val="1F2A44"/>
                </a:solidFill>
                <a:latin typeface="Segoe UI"/>
              </a:rPr>
              <a:t>Load balancing</a:t>
            </a:r>
          </a:p>
          <a:p>
            <a:pPr algn="ctr"/>
            <a:r>
              <a:rPr sz="1100" b="0" i="0">
                <a:solidFill>
                  <a:srgbClr val="5B6577"/>
                </a:solidFill>
                <a:latin typeface="Segoe UI"/>
              </a:rPr>
              <a:t>Routed to a healthy connector</a:t>
            </a:r>
          </a:p>
        </p:txBody>
      </p:sp>
      <p:sp>
        <p:nvSpPr>
          <p:cNvPr id="12" name="Oval 11"/>
          <p:cNvSpPr/>
          <p:nvPr/>
        </p:nvSpPr>
        <p:spPr>
          <a:xfrm>
            <a:off x="2624328" y="1389888"/>
            <a:ext cx="384048" cy="384048"/>
          </a:xfrm>
          <a:prstGeom prst="ellipse">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Segoe UI"/>
              </a:rPr>
              <a:t>2</a:t>
            </a:r>
          </a:p>
        </p:txBody>
      </p:sp>
      <p:cxnSp>
        <p:nvCxnSpPr>
          <p:cNvPr id="13" name="Connector 12"/>
          <p:cNvCxnSpPr/>
          <p:nvPr/>
        </p:nvCxnSpPr>
        <p:spPr>
          <a:xfrm>
            <a:off x="3547872" y="2633472"/>
            <a:ext cx="164592" cy="0"/>
          </a:xfrm>
          <a:prstGeom prst="line">
            <a:avLst/>
          </a:prstGeom>
          <a:ln w="2540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712464" y="1600200"/>
            <a:ext cx="1463040" cy="205740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600"/>
              </a:spcAft>
            </a:pPr>
            <a:r>
              <a:rPr sz="1300" b="1" i="0">
                <a:solidFill>
                  <a:srgbClr val="1F2A44"/>
                </a:solidFill>
                <a:latin typeface="Segoe UI"/>
              </a:rPr>
              <a:t>Authentication</a:t>
            </a:r>
          </a:p>
          <a:p>
            <a:pPr algn="ctr"/>
            <a:r>
              <a:rPr sz="1100" b="0" i="0">
                <a:solidFill>
                  <a:srgbClr val="5B6577"/>
                </a:solidFill>
                <a:latin typeface="Segoe UI"/>
              </a:rPr>
              <a:t>Signature and policy check (IAM)</a:t>
            </a:r>
          </a:p>
        </p:txBody>
      </p:sp>
      <p:sp>
        <p:nvSpPr>
          <p:cNvPr id="15" name="Oval 14"/>
          <p:cNvSpPr/>
          <p:nvPr/>
        </p:nvSpPr>
        <p:spPr>
          <a:xfrm>
            <a:off x="4251960" y="1389888"/>
            <a:ext cx="384048" cy="384048"/>
          </a:xfrm>
          <a:prstGeom prst="ellipse">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Segoe UI"/>
              </a:rPr>
              <a:t>3</a:t>
            </a:r>
          </a:p>
        </p:txBody>
      </p:sp>
      <p:cxnSp>
        <p:nvCxnSpPr>
          <p:cNvPr id="16" name="Connector 15"/>
          <p:cNvCxnSpPr/>
          <p:nvPr/>
        </p:nvCxnSpPr>
        <p:spPr>
          <a:xfrm>
            <a:off x="5175504" y="2633472"/>
            <a:ext cx="164592" cy="0"/>
          </a:xfrm>
          <a:prstGeom prst="line">
            <a:avLst/>
          </a:prstGeom>
          <a:ln w="2540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340096" y="1600200"/>
            <a:ext cx="1463040" cy="2057400"/>
          </a:xfrm>
          <a:prstGeom prst="roundRect">
            <a:avLst>
              <a:gd name="adj" fmla="val 10000"/>
            </a:avLst>
          </a:prstGeom>
          <a:solidFill>
            <a:srgbClr val="D7EEF1"/>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600"/>
              </a:spcAft>
            </a:pPr>
            <a:r>
              <a:rPr sz="1300" b="1" i="0">
                <a:solidFill>
                  <a:srgbClr val="1F2A44"/>
                </a:solidFill>
                <a:latin typeface="Segoe UI"/>
              </a:rPr>
              <a:t>Encoding</a:t>
            </a:r>
          </a:p>
          <a:p>
            <a:pPr algn="ctr"/>
            <a:r>
              <a:rPr sz="1100" b="0" i="0">
                <a:solidFill>
                  <a:srgbClr val="5B6577"/>
                </a:solidFill>
                <a:latin typeface="Segoe UI"/>
              </a:rPr>
              <a:t>Split into 9 data + 3 parity fragments</a:t>
            </a:r>
          </a:p>
        </p:txBody>
      </p:sp>
      <p:sp>
        <p:nvSpPr>
          <p:cNvPr id="18" name="Oval 17"/>
          <p:cNvSpPr/>
          <p:nvPr/>
        </p:nvSpPr>
        <p:spPr>
          <a:xfrm>
            <a:off x="5879592" y="1389888"/>
            <a:ext cx="384048" cy="384048"/>
          </a:xfrm>
          <a:prstGeom prst="ellipse">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Segoe UI"/>
              </a:rPr>
              <a:t>4</a:t>
            </a:r>
          </a:p>
        </p:txBody>
      </p:sp>
      <p:cxnSp>
        <p:nvCxnSpPr>
          <p:cNvPr id="19" name="Connector 18"/>
          <p:cNvCxnSpPr/>
          <p:nvPr/>
        </p:nvCxnSpPr>
        <p:spPr>
          <a:xfrm>
            <a:off x="6803136" y="2633472"/>
            <a:ext cx="164592" cy="0"/>
          </a:xfrm>
          <a:prstGeom prst="line">
            <a:avLst/>
          </a:prstGeom>
          <a:ln w="2540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967728" y="1600200"/>
            <a:ext cx="1463040" cy="2057400"/>
          </a:xfrm>
          <a:prstGeom prst="roundRect">
            <a:avLst>
              <a:gd name="adj" fmla="val 10000"/>
            </a:avLst>
          </a:prstGeom>
          <a:solidFill>
            <a:srgbClr val="D7EEF1"/>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600"/>
              </a:spcAft>
            </a:pPr>
            <a:r>
              <a:rPr sz="1300" b="1" i="0">
                <a:solidFill>
                  <a:srgbClr val="1F2A44"/>
                </a:solidFill>
                <a:latin typeface="Segoe UI"/>
              </a:rPr>
              <a:t>Parallel write</a:t>
            </a:r>
          </a:p>
          <a:p>
            <a:pPr algn="ctr"/>
            <a:r>
              <a:rPr sz="1100" b="0" i="0">
                <a:solidFill>
                  <a:srgbClr val="5B6577"/>
                </a:solidFill>
                <a:latin typeface="Segoe UI"/>
              </a:rPr>
              <a:t>12 fragments to 12 nodes on different servers</a:t>
            </a:r>
          </a:p>
        </p:txBody>
      </p:sp>
      <p:sp>
        <p:nvSpPr>
          <p:cNvPr id="21" name="Oval 20"/>
          <p:cNvSpPr/>
          <p:nvPr/>
        </p:nvSpPr>
        <p:spPr>
          <a:xfrm>
            <a:off x="7507224" y="1389888"/>
            <a:ext cx="384048" cy="384048"/>
          </a:xfrm>
          <a:prstGeom prst="ellipse">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Segoe UI"/>
              </a:rPr>
              <a:t>5</a:t>
            </a:r>
          </a:p>
        </p:txBody>
      </p:sp>
      <p:cxnSp>
        <p:nvCxnSpPr>
          <p:cNvPr id="22" name="Connector 21"/>
          <p:cNvCxnSpPr/>
          <p:nvPr/>
        </p:nvCxnSpPr>
        <p:spPr>
          <a:xfrm>
            <a:off x="8430768" y="2633472"/>
            <a:ext cx="164592" cy="0"/>
          </a:xfrm>
          <a:prstGeom prst="line">
            <a:avLst/>
          </a:prstGeom>
          <a:ln w="2540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595360" y="1600200"/>
            <a:ext cx="1463040" cy="205740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600"/>
              </a:spcAft>
            </a:pPr>
            <a:r>
              <a:rPr sz="1300" b="1" i="0">
                <a:solidFill>
                  <a:srgbClr val="1F2A44"/>
                </a:solidFill>
                <a:latin typeface="Segoe UI"/>
              </a:rPr>
              <a:t>Metadata commit</a:t>
            </a:r>
          </a:p>
          <a:p>
            <a:pPr algn="ctr"/>
            <a:r>
              <a:rPr sz="1100" b="0" i="0">
                <a:solidFill>
                  <a:srgbClr val="5B6577"/>
                </a:solidFill>
                <a:latin typeface="Segoe UI"/>
              </a:rPr>
              <a:t>Object record committed by Raft majority (3 of 5)</a:t>
            </a:r>
          </a:p>
        </p:txBody>
      </p:sp>
      <p:sp>
        <p:nvSpPr>
          <p:cNvPr id="24" name="Oval 23"/>
          <p:cNvSpPr/>
          <p:nvPr/>
        </p:nvSpPr>
        <p:spPr>
          <a:xfrm>
            <a:off x="9134856" y="1389888"/>
            <a:ext cx="384048" cy="384048"/>
          </a:xfrm>
          <a:prstGeom prst="ellipse">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Segoe UI"/>
              </a:rPr>
              <a:t>6</a:t>
            </a:r>
          </a:p>
        </p:txBody>
      </p:sp>
      <p:cxnSp>
        <p:nvCxnSpPr>
          <p:cNvPr id="25" name="Connector 24"/>
          <p:cNvCxnSpPr/>
          <p:nvPr/>
        </p:nvCxnSpPr>
        <p:spPr>
          <a:xfrm>
            <a:off x="10058400" y="2633472"/>
            <a:ext cx="164592" cy="0"/>
          </a:xfrm>
          <a:prstGeom prst="line">
            <a:avLst/>
          </a:prstGeom>
          <a:ln w="2540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10222992" y="1600200"/>
            <a:ext cx="1463040" cy="205740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600"/>
              </a:spcAft>
            </a:pPr>
            <a:r>
              <a:rPr sz="1300" b="1" i="0">
                <a:solidFill>
                  <a:srgbClr val="1F2A44"/>
                </a:solidFill>
                <a:latin typeface="Segoe UI"/>
              </a:rPr>
              <a:t>Acknowledge</a:t>
            </a:r>
          </a:p>
          <a:p>
            <a:pPr algn="ctr"/>
            <a:r>
              <a:rPr sz="1100" b="0" i="0">
                <a:solidFill>
                  <a:srgbClr val="5B6577"/>
                </a:solidFill>
                <a:latin typeface="Segoe UI"/>
              </a:rPr>
              <a:t>200 OK returned to the client</a:t>
            </a:r>
          </a:p>
        </p:txBody>
      </p:sp>
      <p:sp>
        <p:nvSpPr>
          <p:cNvPr id="27" name="Oval 26"/>
          <p:cNvSpPr/>
          <p:nvPr/>
        </p:nvSpPr>
        <p:spPr>
          <a:xfrm>
            <a:off x="10762488" y="1389888"/>
            <a:ext cx="384048" cy="384048"/>
          </a:xfrm>
          <a:prstGeom prst="ellipse">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Segoe UI"/>
              </a:rPr>
              <a:t>7</a:t>
            </a:r>
          </a:p>
        </p:txBody>
      </p:sp>
      <p:sp>
        <p:nvSpPr>
          <p:cNvPr id="28" name="Rounded Rectangle 27"/>
          <p:cNvSpPr/>
          <p:nvPr/>
        </p:nvSpPr>
        <p:spPr>
          <a:xfrm>
            <a:off x="457200" y="4023360"/>
            <a:ext cx="3639312" cy="146304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54864" bIns="54864"/>
          <a:lstStyle/>
          <a:p>
            <a:pPr algn="l">
              <a:spcAft>
                <a:spcPts val="500"/>
              </a:spcAft>
            </a:pPr>
            <a:r>
              <a:rPr sz="1400" b="1" i="0">
                <a:solidFill>
                  <a:srgbClr val="0F7C8C"/>
                </a:solidFill>
                <a:latin typeface="Segoe UI"/>
              </a:rPr>
              <a:t>Data before metadata</a:t>
            </a:r>
          </a:p>
          <a:p>
            <a:pPr algn="l"/>
            <a:r>
              <a:rPr sz="1200" b="0" i="0">
                <a:solidFill>
                  <a:srgbClr val="2B2F36"/>
                </a:solidFill>
                <a:latin typeface="Segoe UI"/>
              </a:rPr>
              <a:t>Fragments are persisted before the metadata commit; a client never sees a partial object.</a:t>
            </a:r>
          </a:p>
        </p:txBody>
      </p:sp>
      <p:sp>
        <p:nvSpPr>
          <p:cNvPr id="29" name="Rounded Rectangle 28"/>
          <p:cNvSpPr/>
          <p:nvPr/>
        </p:nvSpPr>
        <p:spPr>
          <a:xfrm>
            <a:off x="4279392" y="4023360"/>
            <a:ext cx="3639312" cy="146304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54864" bIns="54864"/>
          <a:lstStyle/>
          <a:p>
            <a:pPr algn="l">
              <a:spcAft>
                <a:spcPts val="500"/>
              </a:spcAft>
            </a:pPr>
            <a:r>
              <a:rPr sz="1400" b="1" i="0">
                <a:solidFill>
                  <a:srgbClr val="0F7C8C"/>
                </a:solidFill>
                <a:latin typeface="Segoe UI"/>
              </a:rPr>
              <a:t>Strong consistency</a:t>
            </a:r>
          </a:p>
          <a:p>
            <a:pPr algn="l"/>
            <a:r>
              <a:rPr sz="1200" b="0" i="0">
                <a:solidFill>
                  <a:srgbClr val="2B2F36"/>
                </a:solidFill>
                <a:latin typeface="Segoe UI"/>
              </a:rPr>
              <a:t>Read-after-write consistency for objects and listings, guaranteed by the Raft metadata cluster.</a:t>
            </a:r>
          </a:p>
        </p:txBody>
      </p:sp>
      <p:sp>
        <p:nvSpPr>
          <p:cNvPr id="30" name="Rounded Rectangle 29"/>
          <p:cNvSpPr/>
          <p:nvPr/>
        </p:nvSpPr>
        <p:spPr>
          <a:xfrm>
            <a:off x="8101583" y="4023360"/>
            <a:ext cx="3639312" cy="146304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54864" bIns="54864"/>
          <a:lstStyle/>
          <a:p>
            <a:pPr algn="l">
              <a:spcAft>
                <a:spcPts val="500"/>
              </a:spcAft>
            </a:pPr>
            <a:r>
              <a:rPr sz="1400" b="1" i="0">
                <a:solidFill>
                  <a:srgbClr val="0F7C8C"/>
                </a:solidFill>
                <a:latin typeface="Segoe UI"/>
              </a:rPr>
              <a:t>Parallel I/O</a:t>
            </a:r>
          </a:p>
          <a:p>
            <a:pPr algn="l"/>
            <a:r>
              <a:rPr sz="1200" b="0" i="0">
                <a:solidFill>
                  <a:srgbClr val="2B2F36"/>
                </a:solidFill>
                <a:latin typeface="Segoe UI"/>
              </a:rPr>
              <a:t>All fragments are written concurrently across servers; throughput scales with cluster size.</a:t>
            </a:r>
          </a:p>
        </p:txBody>
      </p:sp>
      <p:sp>
        <p:nvSpPr>
          <p:cNvPr id="31" name="TextBox 30"/>
          <p:cNvSpPr txBox="1"/>
          <p:nvPr/>
        </p:nvSpPr>
        <p:spPr>
          <a:xfrm>
            <a:off x="457200" y="5715000"/>
            <a:ext cx="11247120" cy="365760"/>
          </a:xfrm>
          <a:prstGeom prst="rect">
            <a:avLst/>
          </a:prstGeom>
          <a:noFill/>
        </p:spPr>
        <p:txBody>
          <a:bodyPr wrap="square" anchor="t" lIns="36576" rIns="36576" tIns="36576" bIns="36576">
            <a:spAutoFit/>
          </a:bodyPr>
          <a:lstStyle/>
          <a:p>
            <a:pPr algn="l"/>
            <a:r>
              <a:rPr sz="1200" b="0" i="0">
                <a:solidFill>
                  <a:srgbClr val="5B6577"/>
                </a:solidFill>
                <a:latin typeface="Segoe UI"/>
              </a:rPr>
              <a:t>Small objects follow the same path with 3 replicas instead of erasure-coded fragments.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 name="Rectangle 2"/>
          <p:cNvSpPr/>
          <p:nvPr/>
        </p:nvSpPr>
        <p:spPr>
          <a:xfrm>
            <a:off x="0" y="914400"/>
            <a:ext cx="12191695" cy="54864"/>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4" name="TextBox 3"/>
          <p:cNvSpPr txBox="1"/>
          <p:nvPr/>
        </p:nvSpPr>
        <p:spPr>
          <a:xfrm>
            <a:off x="457200" y="91440"/>
            <a:ext cx="11247120" cy="502920"/>
          </a:xfrm>
          <a:prstGeom prst="rect">
            <a:avLst/>
          </a:prstGeom>
          <a:noFill/>
        </p:spPr>
        <p:txBody>
          <a:bodyPr wrap="square" anchor="ctr" lIns="36576" rIns="36576" tIns="36576" bIns="36576">
            <a:spAutoFit/>
          </a:bodyPr>
          <a:lstStyle/>
          <a:p>
            <a:pPr algn="l"/>
            <a:r>
              <a:rPr sz="2600" b="1" i="0">
                <a:solidFill>
                  <a:srgbClr val="FFFFFF"/>
                </a:solidFill>
                <a:latin typeface="Segoe UI"/>
              </a:rPr>
              <a:t>Read Path and Degraded Reads</a:t>
            </a:r>
          </a:p>
        </p:txBody>
      </p:sp>
      <p:sp>
        <p:nvSpPr>
          <p:cNvPr id="5" name="TextBox 4"/>
          <p:cNvSpPr txBox="1"/>
          <p:nvPr/>
        </p:nvSpPr>
        <p:spPr>
          <a:xfrm>
            <a:off x="457200" y="548640"/>
            <a:ext cx="11247120" cy="320040"/>
          </a:xfrm>
          <a:prstGeom prst="rect">
            <a:avLst/>
          </a:prstGeom>
          <a:noFill/>
        </p:spPr>
        <p:txBody>
          <a:bodyPr wrap="square" anchor="t" lIns="36576" rIns="36576" tIns="36576" bIns="36576">
            <a:spAutoFit/>
          </a:bodyPr>
          <a:lstStyle/>
          <a:p>
            <a:pPr algn="l"/>
            <a:r>
              <a:rPr sz="1300" b="0" i="0">
                <a:solidFill>
                  <a:srgbClr val="C9D3E3"/>
                </a:solidFill>
                <a:latin typeface="Segoe UI"/>
              </a:rPr>
              <a:t>Data stays available when components fail</a:t>
            </a:r>
          </a:p>
        </p:txBody>
      </p:sp>
      <p:sp>
        <p:nvSpPr>
          <p:cNvPr id="6" name="TextBox 5"/>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i="0">
                <a:solidFill>
                  <a:srgbClr val="5B6577"/>
                </a:solidFill>
                <a:latin typeface="Segoe UI"/>
              </a:rPr>
              <a:t>Scality RING  |  Architecture, Deployment &amp; Operations</a:t>
            </a:r>
          </a:p>
        </p:txBody>
      </p:sp>
      <p:sp>
        <p:nvSpPr>
          <p:cNvPr id="7" name="TextBox 6"/>
          <p:cNvSpPr txBox="1"/>
          <p:nvPr/>
        </p:nvSpPr>
        <p:spPr>
          <a:xfrm>
            <a:off x="10789920" y="6473952"/>
            <a:ext cx="914400" cy="274320"/>
          </a:xfrm>
          <a:prstGeom prst="rect">
            <a:avLst/>
          </a:prstGeom>
          <a:noFill/>
        </p:spPr>
        <p:txBody>
          <a:bodyPr wrap="square" anchor="t" lIns="36576" rIns="36576" tIns="36576" bIns="36576">
            <a:spAutoFit/>
          </a:bodyPr>
          <a:lstStyle/>
          <a:p>
            <a:pPr algn="r"/>
            <a:r>
              <a:rPr sz="1000" b="0" i="0">
                <a:solidFill>
                  <a:srgbClr val="5B6577"/>
                </a:solidFill>
                <a:latin typeface="Segoe UI"/>
              </a:rPr>
              <a:t>11</a:t>
            </a:r>
          </a:p>
        </p:txBody>
      </p:sp>
      <p:sp>
        <p:nvSpPr>
          <p:cNvPr id="8" name="Rounded Rectangle 7"/>
          <p:cNvSpPr/>
          <p:nvPr/>
        </p:nvSpPr>
        <p:spPr>
          <a:xfrm>
            <a:off x="457200" y="1325880"/>
            <a:ext cx="2011680" cy="100584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1F2A44"/>
                </a:solidFill>
                <a:latin typeface="Segoe UI"/>
              </a:rPr>
              <a:t>GET request</a:t>
            </a:r>
          </a:p>
          <a:p>
            <a:pPr algn="ctr"/>
            <a:r>
              <a:rPr sz="1100" b="0" i="0">
                <a:solidFill>
                  <a:srgbClr val="5B6577"/>
                </a:solidFill>
                <a:latin typeface="Segoe UI"/>
              </a:rPr>
              <a:t>Authenticated by IAM</a:t>
            </a:r>
          </a:p>
        </p:txBody>
      </p:sp>
      <p:cxnSp>
        <p:nvCxnSpPr>
          <p:cNvPr id="9" name="Connector 8"/>
          <p:cNvCxnSpPr/>
          <p:nvPr/>
        </p:nvCxnSpPr>
        <p:spPr>
          <a:xfrm>
            <a:off x="2468880" y="1828800"/>
            <a:ext cx="301752" cy="0"/>
          </a:xfrm>
          <a:prstGeom prst="line">
            <a:avLst/>
          </a:prstGeom>
          <a:ln w="2540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770632" y="1325880"/>
            <a:ext cx="2011680" cy="100584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1F2A44"/>
                </a:solidFill>
                <a:latin typeface="Segoe UI"/>
              </a:rPr>
              <a:t>Metadata lookup</a:t>
            </a:r>
          </a:p>
          <a:p>
            <a:pPr algn="ctr"/>
            <a:r>
              <a:rPr sz="1100" b="0" i="0">
                <a:solidFill>
                  <a:srgbClr val="5B6577"/>
                </a:solidFill>
                <a:latin typeface="Segoe UI"/>
              </a:rPr>
              <a:t>Returns fragment keys</a:t>
            </a:r>
          </a:p>
        </p:txBody>
      </p:sp>
      <p:cxnSp>
        <p:nvCxnSpPr>
          <p:cNvPr id="11" name="Connector 10"/>
          <p:cNvCxnSpPr/>
          <p:nvPr/>
        </p:nvCxnSpPr>
        <p:spPr>
          <a:xfrm>
            <a:off x="4782312" y="1828800"/>
            <a:ext cx="301752" cy="0"/>
          </a:xfrm>
          <a:prstGeom prst="line">
            <a:avLst/>
          </a:prstGeom>
          <a:ln w="2540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84064" y="1325880"/>
            <a:ext cx="2011680" cy="100584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1F2A44"/>
                </a:solidFill>
                <a:latin typeface="Segoe UI"/>
              </a:rPr>
              <a:t>Parallel fetch</a:t>
            </a:r>
          </a:p>
          <a:p>
            <a:pPr algn="ctr"/>
            <a:r>
              <a:rPr sz="1100" b="0" i="0">
                <a:solidFill>
                  <a:srgbClr val="5B6577"/>
                </a:solidFill>
                <a:latin typeface="Segoe UI"/>
              </a:rPr>
              <a:t>9 fragments requested</a:t>
            </a:r>
          </a:p>
        </p:txBody>
      </p:sp>
      <p:cxnSp>
        <p:nvCxnSpPr>
          <p:cNvPr id="13" name="Connector 12"/>
          <p:cNvCxnSpPr/>
          <p:nvPr/>
        </p:nvCxnSpPr>
        <p:spPr>
          <a:xfrm>
            <a:off x="7095744" y="1828800"/>
            <a:ext cx="301752" cy="0"/>
          </a:xfrm>
          <a:prstGeom prst="line">
            <a:avLst/>
          </a:prstGeom>
          <a:ln w="2540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97496" y="1325880"/>
            <a:ext cx="2011680" cy="100584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1F2A44"/>
                </a:solidFill>
                <a:latin typeface="Segoe UI"/>
              </a:rPr>
              <a:t>Reassembly</a:t>
            </a:r>
          </a:p>
          <a:p>
            <a:pPr algn="ctr"/>
            <a:r>
              <a:rPr sz="1100" b="0" i="0">
                <a:solidFill>
                  <a:srgbClr val="5B6577"/>
                </a:solidFill>
                <a:latin typeface="Segoe UI"/>
              </a:rPr>
              <a:t>Object rebuilt in connector</a:t>
            </a:r>
          </a:p>
        </p:txBody>
      </p:sp>
      <p:cxnSp>
        <p:nvCxnSpPr>
          <p:cNvPr id="15" name="Connector 14"/>
          <p:cNvCxnSpPr/>
          <p:nvPr/>
        </p:nvCxnSpPr>
        <p:spPr>
          <a:xfrm>
            <a:off x="9409176" y="1828800"/>
            <a:ext cx="301752" cy="0"/>
          </a:xfrm>
          <a:prstGeom prst="line">
            <a:avLst/>
          </a:prstGeom>
          <a:ln w="2540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710928" y="1325880"/>
            <a:ext cx="2011680" cy="100584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1F2A44"/>
                </a:solidFill>
                <a:latin typeface="Segoe UI"/>
              </a:rPr>
              <a:t>Response</a:t>
            </a:r>
          </a:p>
          <a:p>
            <a:pPr algn="ctr"/>
            <a:r>
              <a:rPr sz="1100" b="0" i="0">
                <a:solidFill>
                  <a:srgbClr val="5B6577"/>
                </a:solidFill>
                <a:latin typeface="Segoe UI"/>
              </a:rPr>
              <a:t>Streamed to the client</a:t>
            </a:r>
          </a:p>
        </p:txBody>
      </p:sp>
      <p:sp>
        <p:nvSpPr>
          <p:cNvPr id="17" name="TextBox 16"/>
          <p:cNvSpPr txBox="1"/>
          <p:nvPr/>
        </p:nvSpPr>
        <p:spPr>
          <a:xfrm>
            <a:off x="457200" y="2697480"/>
            <a:ext cx="10972800" cy="411480"/>
          </a:xfrm>
          <a:prstGeom prst="rect">
            <a:avLst/>
          </a:prstGeom>
          <a:noFill/>
        </p:spPr>
        <p:txBody>
          <a:bodyPr wrap="square" anchor="t" lIns="36576" rIns="36576" tIns="36576" bIns="36576">
            <a:spAutoFit/>
          </a:bodyPr>
          <a:lstStyle/>
          <a:p>
            <a:pPr algn="l"/>
            <a:r>
              <a:rPr sz="1600" b="1" i="0">
                <a:solidFill>
                  <a:srgbClr val="1F2A44"/>
                </a:solidFill>
                <a:latin typeface="Segoe UI"/>
              </a:rPr>
              <a:t>Degraded read: two servers unavailable</a:t>
            </a:r>
          </a:p>
        </p:txBody>
      </p:sp>
      <p:sp>
        <p:nvSpPr>
          <p:cNvPr id="18" name="Rectangle 17"/>
          <p:cNvSpPr/>
          <p:nvPr/>
        </p:nvSpPr>
        <p:spPr>
          <a:xfrm>
            <a:off x="457200" y="3246120"/>
            <a:ext cx="685800" cy="7315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D1</a:t>
            </a:r>
          </a:p>
        </p:txBody>
      </p:sp>
      <p:sp>
        <p:nvSpPr>
          <p:cNvPr id="19" name="Rectangle 18"/>
          <p:cNvSpPr/>
          <p:nvPr/>
        </p:nvSpPr>
        <p:spPr>
          <a:xfrm>
            <a:off x="1252728" y="3246120"/>
            <a:ext cx="685800" cy="7315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D2</a:t>
            </a:r>
          </a:p>
        </p:txBody>
      </p:sp>
      <p:sp>
        <p:nvSpPr>
          <p:cNvPr id="20" name="Rectangle 19"/>
          <p:cNvSpPr/>
          <p:nvPr/>
        </p:nvSpPr>
        <p:spPr>
          <a:xfrm>
            <a:off x="2048256" y="3246120"/>
            <a:ext cx="685800" cy="731520"/>
          </a:xfrm>
          <a:prstGeom prst="rect">
            <a:avLst/>
          </a:prstGeom>
          <a:solidFill>
            <a:srgbClr val="F9DEDE"/>
          </a:solidFill>
          <a:ln w="12700">
            <a:solidFill>
              <a:srgbClr val="D6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D64545"/>
                </a:solidFill>
                <a:latin typeface="Segoe UI"/>
              </a:rPr>
              <a:t>D3</a:t>
            </a:r>
          </a:p>
          <a:p>
            <a:pPr algn="ctr"/>
            <a:r>
              <a:rPr sz="1100" b="1" i="0">
                <a:solidFill>
                  <a:srgbClr val="D64545"/>
                </a:solidFill>
                <a:latin typeface="Segoe UI"/>
              </a:rPr>
              <a:t>✖</a:t>
            </a:r>
          </a:p>
        </p:txBody>
      </p:sp>
      <p:sp>
        <p:nvSpPr>
          <p:cNvPr id="21" name="Rectangle 20"/>
          <p:cNvSpPr/>
          <p:nvPr/>
        </p:nvSpPr>
        <p:spPr>
          <a:xfrm>
            <a:off x="2843784" y="3246120"/>
            <a:ext cx="685800" cy="7315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D4</a:t>
            </a:r>
          </a:p>
        </p:txBody>
      </p:sp>
      <p:sp>
        <p:nvSpPr>
          <p:cNvPr id="22" name="Rectangle 21"/>
          <p:cNvSpPr/>
          <p:nvPr/>
        </p:nvSpPr>
        <p:spPr>
          <a:xfrm>
            <a:off x="3639312" y="3246120"/>
            <a:ext cx="685800" cy="7315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D5</a:t>
            </a:r>
          </a:p>
        </p:txBody>
      </p:sp>
      <p:sp>
        <p:nvSpPr>
          <p:cNvPr id="23" name="Rectangle 22"/>
          <p:cNvSpPr/>
          <p:nvPr/>
        </p:nvSpPr>
        <p:spPr>
          <a:xfrm>
            <a:off x="4434840" y="3246120"/>
            <a:ext cx="685800" cy="7315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D6</a:t>
            </a:r>
          </a:p>
        </p:txBody>
      </p:sp>
      <p:sp>
        <p:nvSpPr>
          <p:cNvPr id="24" name="Rectangle 23"/>
          <p:cNvSpPr/>
          <p:nvPr/>
        </p:nvSpPr>
        <p:spPr>
          <a:xfrm>
            <a:off x="5230368" y="3246120"/>
            <a:ext cx="685800" cy="731520"/>
          </a:xfrm>
          <a:prstGeom prst="rect">
            <a:avLst/>
          </a:prstGeom>
          <a:solidFill>
            <a:srgbClr val="F9DEDE"/>
          </a:solidFill>
          <a:ln w="12700">
            <a:solidFill>
              <a:srgbClr val="D6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D64545"/>
                </a:solidFill>
                <a:latin typeface="Segoe UI"/>
              </a:rPr>
              <a:t>D7</a:t>
            </a:r>
          </a:p>
          <a:p>
            <a:pPr algn="ctr"/>
            <a:r>
              <a:rPr sz="1100" b="1" i="0">
                <a:solidFill>
                  <a:srgbClr val="D64545"/>
                </a:solidFill>
                <a:latin typeface="Segoe UI"/>
              </a:rPr>
              <a:t>✖</a:t>
            </a:r>
          </a:p>
        </p:txBody>
      </p:sp>
      <p:sp>
        <p:nvSpPr>
          <p:cNvPr id="25" name="Rectangle 24"/>
          <p:cNvSpPr/>
          <p:nvPr/>
        </p:nvSpPr>
        <p:spPr>
          <a:xfrm>
            <a:off x="6025896" y="3246120"/>
            <a:ext cx="685800" cy="7315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D8</a:t>
            </a:r>
          </a:p>
        </p:txBody>
      </p:sp>
      <p:sp>
        <p:nvSpPr>
          <p:cNvPr id="26" name="Rectangle 25"/>
          <p:cNvSpPr/>
          <p:nvPr/>
        </p:nvSpPr>
        <p:spPr>
          <a:xfrm>
            <a:off x="6821424" y="3246120"/>
            <a:ext cx="685800" cy="7315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D9</a:t>
            </a:r>
          </a:p>
        </p:txBody>
      </p:sp>
      <p:sp>
        <p:nvSpPr>
          <p:cNvPr id="27" name="Rectangle 26"/>
          <p:cNvSpPr/>
          <p:nvPr/>
        </p:nvSpPr>
        <p:spPr>
          <a:xfrm>
            <a:off x="7616952" y="3246120"/>
            <a:ext cx="685800" cy="731520"/>
          </a:xfrm>
          <a:prstGeom prst="rect">
            <a:avLst/>
          </a:prstGeom>
          <a:solidFill>
            <a:srgbClr val="E88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P1</a:t>
            </a:r>
          </a:p>
        </p:txBody>
      </p:sp>
      <p:sp>
        <p:nvSpPr>
          <p:cNvPr id="28" name="Rectangle 27"/>
          <p:cNvSpPr/>
          <p:nvPr/>
        </p:nvSpPr>
        <p:spPr>
          <a:xfrm>
            <a:off x="8412480" y="3246120"/>
            <a:ext cx="685800" cy="731520"/>
          </a:xfrm>
          <a:prstGeom prst="rect">
            <a:avLst/>
          </a:prstGeom>
          <a:solidFill>
            <a:srgbClr val="E88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P2</a:t>
            </a:r>
          </a:p>
        </p:txBody>
      </p:sp>
      <p:sp>
        <p:nvSpPr>
          <p:cNvPr id="29" name="Rectangle 28"/>
          <p:cNvSpPr/>
          <p:nvPr/>
        </p:nvSpPr>
        <p:spPr>
          <a:xfrm>
            <a:off x="9208008" y="3246120"/>
            <a:ext cx="685800" cy="731520"/>
          </a:xfrm>
          <a:prstGeom prst="rect">
            <a:avLst/>
          </a:prstGeom>
          <a:solidFill>
            <a:srgbClr val="E88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P3</a:t>
            </a:r>
          </a:p>
        </p:txBody>
      </p:sp>
      <p:sp>
        <p:nvSpPr>
          <p:cNvPr id="30" name="Rounded Rectangle 29"/>
          <p:cNvSpPr/>
          <p:nvPr/>
        </p:nvSpPr>
        <p:spPr>
          <a:xfrm>
            <a:off x="457200" y="4343400"/>
            <a:ext cx="9436608" cy="594360"/>
          </a:xfrm>
          <a:prstGeom prst="roundRect">
            <a:avLst>
              <a:gd name="adj" fmla="val 10000"/>
            </a:avLst>
          </a:prstGeom>
          <a:solidFill>
            <a:srgbClr val="DDF2E5"/>
          </a:solidFill>
          <a:ln w="1270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2E9E5B"/>
                </a:solidFill>
                <a:latin typeface="Segoe UI"/>
              </a:rPr>
              <a:t>Any 9 of the remaining 10 fragments are read: the object is reconstructed and the client receives complete data</a:t>
            </a:r>
          </a:p>
        </p:txBody>
      </p:sp>
      <p:sp>
        <p:nvSpPr>
          <p:cNvPr id="31" name="TextBox 30"/>
          <p:cNvSpPr txBox="1"/>
          <p:nvPr/>
        </p:nvSpPr>
        <p:spPr>
          <a:xfrm>
            <a:off x="10149840" y="3246120"/>
            <a:ext cx="1645920" cy="914400"/>
          </a:xfrm>
          <a:prstGeom prst="rect">
            <a:avLst/>
          </a:prstGeom>
          <a:noFill/>
        </p:spPr>
        <p:txBody>
          <a:bodyPr wrap="square" anchor="t" lIns="36576" rIns="36576" tIns="36576" bIns="36576">
            <a:spAutoFit/>
          </a:bodyPr>
          <a:lstStyle/>
          <a:p>
            <a:pPr algn="l"/>
            <a:r>
              <a:rPr sz="1300" b="1" i="0">
                <a:solidFill>
                  <a:srgbClr val="2E9E5B"/>
                </a:solidFill>
                <a:latin typeface="Segoe UI"/>
              </a:rPr>
              <a:t>No client error</a:t>
            </a:r>
          </a:p>
          <a:p>
            <a:pPr algn="l"/>
            <a:r>
              <a:rPr sz="1300" b="1" i="0">
                <a:solidFill>
                  <a:srgbClr val="2E9E5B"/>
                </a:solidFill>
                <a:latin typeface="Segoe UI"/>
              </a:rPr>
              <a:t>No manual action</a:t>
            </a:r>
          </a:p>
        </p:txBody>
      </p:sp>
      <p:sp>
        <p:nvSpPr>
          <p:cNvPr id="32" name="TextBox 31"/>
          <p:cNvSpPr txBox="1"/>
          <p:nvPr/>
        </p:nvSpPr>
        <p:spPr>
          <a:xfrm>
            <a:off x="457200" y="5257800"/>
            <a:ext cx="11247120" cy="914400"/>
          </a:xfrm>
          <a:prstGeom prst="rect">
            <a:avLst/>
          </a:prstGeom>
          <a:noFill/>
        </p:spPr>
        <p:txBody>
          <a:bodyPr wrap="square" anchor="t" lIns="36576" rIns="36576" tIns="36576" bIns="36576">
            <a:spAutoFit/>
          </a:bodyPr>
          <a:lstStyle/>
          <a:p>
            <a:pPr algn="l">
              <a:spcAft>
                <a:spcPts val="400"/>
              </a:spcAft>
            </a:pPr>
            <a:r>
              <a:rPr sz="1300" b="0" i="0">
                <a:solidFill>
                  <a:srgbClr val="2B2F36"/>
                </a:solidFill>
                <a:latin typeface="Segoe UI"/>
              </a:rPr>
              <a:t>•  Replicated objects: the next replica is read automatically</a:t>
            </a:r>
          </a:p>
          <a:p>
            <a:pPr algn="l"/>
            <a:r>
              <a:rPr sz="1300" b="0" i="0">
                <a:solidFill>
                  <a:srgbClr val="2B2F36"/>
                </a:solidFill>
                <a:latin typeface="Segoe UI"/>
              </a:rPr>
              <a:t>•  Slow nodes can be bypassed by reading parity, protecting response times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 name="Rectangle 2"/>
          <p:cNvSpPr/>
          <p:nvPr/>
        </p:nvSpPr>
        <p:spPr>
          <a:xfrm>
            <a:off x="0" y="914400"/>
            <a:ext cx="12191695" cy="54864"/>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4" name="TextBox 3"/>
          <p:cNvSpPr txBox="1"/>
          <p:nvPr/>
        </p:nvSpPr>
        <p:spPr>
          <a:xfrm>
            <a:off x="457200" y="91440"/>
            <a:ext cx="11247120" cy="502920"/>
          </a:xfrm>
          <a:prstGeom prst="rect">
            <a:avLst/>
          </a:prstGeom>
          <a:noFill/>
        </p:spPr>
        <p:txBody>
          <a:bodyPr wrap="square" anchor="ctr" lIns="36576" rIns="36576" tIns="36576" bIns="36576">
            <a:spAutoFit/>
          </a:bodyPr>
          <a:lstStyle/>
          <a:p>
            <a:pPr algn="l"/>
            <a:r>
              <a:rPr sz="2600" b="1" i="0">
                <a:solidFill>
                  <a:srgbClr val="FFFFFF"/>
                </a:solidFill>
                <a:latin typeface="Segoe UI"/>
              </a:rPr>
              <a:t>Resilience and Self-Healing</a:t>
            </a:r>
          </a:p>
        </p:txBody>
      </p:sp>
      <p:sp>
        <p:nvSpPr>
          <p:cNvPr id="5" name="TextBox 4"/>
          <p:cNvSpPr txBox="1"/>
          <p:nvPr/>
        </p:nvSpPr>
        <p:spPr>
          <a:xfrm>
            <a:off x="457200" y="548640"/>
            <a:ext cx="11247120" cy="320040"/>
          </a:xfrm>
          <a:prstGeom prst="rect">
            <a:avLst/>
          </a:prstGeom>
          <a:noFill/>
        </p:spPr>
        <p:txBody>
          <a:bodyPr wrap="square" anchor="t" lIns="36576" rIns="36576" tIns="36576" bIns="36576">
            <a:spAutoFit/>
          </a:bodyPr>
          <a:lstStyle/>
          <a:p>
            <a:pPr algn="l"/>
            <a:r>
              <a:rPr sz="1300" b="0" i="0">
                <a:solidFill>
                  <a:srgbClr val="C9D3E3"/>
                </a:solidFill>
                <a:latin typeface="Segoe UI"/>
              </a:rPr>
              <a:t>Failures are absorbed automatically</a:t>
            </a:r>
          </a:p>
        </p:txBody>
      </p:sp>
      <p:sp>
        <p:nvSpPr>
          <p:cNvPr id="6" name="TextBox 5"/>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i="0">
                <a:solidFill>
                  <a:srgbClr val="5B6577"/>
                </a:solidFill>
                <a:latin typeface="Segoe UI"/>
              </a:rPr>
              <a:t>Scality RING  |  Architecture, Deployment &amp; Operations</a:t>
            </a:r>
          </a:p>
        </p:txBody>
      </p:sp>
      <p:sp>
        <p:nvSpPr>
          <p:cNvPr id="7" name="TextBox 6"/>
          <p:cNvSpPr txBox="1"/>
          <p:nvPr/>
        </p:nvSpPr>
        <p:spPr>
          <a:xfrm>
            <a:off x="10789920" y="6473952"/>
            <a:ext cx="914400" cy="274320"/>
          </a:xfrm>
          <a:prstGeom prst="rect">
            <a:avLst/>
          </a:prstGeom>
          <a:noFill/>
        </p:spPr>
        <p:txBody>
          <a:bodyPr wrap="square" anchor="t" lIns="36576" rIns="36576" tIns="36576" bIns="36576">
            <a:spAutoFit/>
          </a:bodyPr>
          <a:lstStyle/>
          <a:p>
            <a:pPr algn="r"/>
            <a:r>
              <a:rPr sz="1000" b="0" i="0">
                <a:solidFill>
                  <a:srgbClr val="5B6577"/>
                </a:solidFill>
                <a:latin typeface="Segoe UI"/>
              </a:rPr>
              <a:t>12</a:t>
            </a:r>
          </a:p>
        </p:txBody>
      </p:sp>
      <p:cxnSp>
        <p:nvCxnSpPr>
          <p:cNvPr id="8" name="Connector 7"/>
          <p:cNvCxnSpPr/>
          <p:nvPr/>
        </p:nvCxnSpPr>
        <p:spPr>
          <a:xfrm>
            <a:off x="822960" y="2194560"/>
            <a:ext cx="10561320" cy="0"/>
          </a:xfrm>
          <a:prstGeom prst="line">
            <a:avLst/>
          </a:prstGeom>
          <a:ln w="38100">
            <a:solidFill>
              <a:srgbClr val="AEB6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914400" y="1965960"/>
            <a:ext cx="457200" cy="457200"/>
          </a:xfrm>
          <a:prstGeom prst="ellipse">
            <a:avLst/>
          </a:prstGeom>
          <a:solidFill>
            <a:srgbClr val="D64545"/>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Segoe UI"/>
              </a:rPr>
              <a:t>1</a:t>
            </a:r>
          </a:p>
        </p:txBody>
      </p:sp>
      <p:sp>
        <p:nvSpPr>
          <p:cNvPr id="10" name="TextBox 9"/>
          <p:cNvSpPr txBox="1"/>
          <p:nvPr/>
        </p:nvSpPr>
        <p:spPr>
          <a:xfrm>
            <a:off x="0" y="1280160"/>
            <a:ext cx="2286000" cy="365760"/>
          </a:xfrm>
          <a:prstGeom prst="rect">
            <a:avLst/>
          </a:prstGeom>
          <a:noFill/>
        </p:spPr>
        <p:txBody>
          <a:bodyPr wrap="square" anchor="t" lIns="36576" rIns="36576" tIns="36576" bIns="36576">
            <a:spAutoFit/>
          </a:bodyPr>
          <a:lstStyle/>
          <a:p>
            <a:pPr algn="ctr"/>
            <a:r>
              <a:rPr sz="1400" b="1" i="0">
                <a:solidFill>
                  <a:srgbClr val="D64545"/>
                </a:solidFill>
                <a:latin typeface="Segoe UI"/>
              </a:rPr>
              <a:t>Failure</a:t>
            </a:r>
          </a:p>
        </p:txBody>
      </p:sp>
      <p:sp>
        <p:nvSpPr>
          <p:cNvPr id="11" name="TextBox 10"/>
          <p:cNvSpPr txBox="1"/>
          <p:nvPr/>
        </p:nvSpPr>
        <p:spPr>
          <a:xfrm>
            <a:off x="0" y="2514600"/>
            <a:ext cx="2286000" cy="914400"/>
          </a:xfrm>
          <a:prstGeom prst="rect">
            <a:avLst/>
          </a:prstGeom>
          <a:noFill/>
        </p:spPr>
        <p:txBody>
          <a:bodyPr wrap="square" anchor="t" lIns="36576" rIns="36576" tIns="36576" bIns="36576">
            <a:spAutoFit/>
          </a:bodyPr>
          <a:lstStyle/>
          <a:p>
            <a:pPr algn="ctr"/>
            <a:r>
              <a:rPr sz="1100" b="0" i="0">
                <a:solidFill>
                  <a:srgbClr val="2B2F36"/>
                </a:solidFill>
                <a:latin typeface="Segoe UI"/>
              </a:rPr>
              <a:t>Disk or server stops responding</a:t>
            </a:r>
          </a:p>
        </p:txBody>
      </p:sp>
      <p:sp>
        <p:nvSpPr>
          <p:cNvPr id="12" name="Oval 11"/>
          <p:cNvSpPr/>
          <p:nvPr/>
        </p:nvSpPr>
        <p:spPr>
          <a:xfrm>
            <a:off x="3383280" y="1965960"/>
            <a:ext cx="457200" cy="457200"/>
          </a:xfrm>
          <a:prstGeom prst="ellipse">
            <a:avLst/>
          </a:prstGeom>
          <a:solidFill>
            <a:srgbClr val="E8892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Segoe UI"/>
              </a:rPr>
              <a:t>2</a:t>
            </a:r>
          </a:p>
        </p:txBody>
      </p:sp>
      <p:sp>
        <p:nvSpPr>
          <p:cNvPr id="13" name="TextBox 12"/>
          <p:cNvSpPr txBox="1"/>
          <p:nvPr/>
        </p:nvSpPr>
        <p:spPr>
          <a:xfrm>
            <a:off x="2468880" y="1280160"/>
            <a:ext cx="2286000" cy="365760"/>
          </a:xfrm>
          <a:prstGeom prst="rect">
            <a:avLst/>
          </a:prstGeom>
          <a:noFill/>
        </p:spPr>
        <p:txBody>
          <a:bodyPr wrap="square" anchor="t" lIns="36576" rIns="36576" tIns="36576" bIns="36576">
            <a:spAutoFit/>
          </a:bodyPr>
          <a:lstStyle/>
          <a:p>
            <a:pPr algn="ctr"/>
            <a:r>
              <a:rPr sz="1400" b="1" i="0">
                <a:solidFill>
                  <a:srgbClr val="E8892B"/>
                </a:solidFill>
                <a:latin typeface="Segoe UI"/>
              </a:rPr>
              <a:t>Detection</a:t>
            </a:r>
          </a:p>
        </p:txBody>
      </p:sp>
      <p:sp>
        <p:nvSpPr>
          <p:cNvPr id="14" name="TextBox 13"/>
          <p:cNvSpPr txBox="1"/>
          <p:nvPr/>
        </p:nvSpPr>
        <p:spPr>
          <a:xfrm>
            <a:off x="2468880" y="2514600"/>
            <a:ext cx="2286000" cy="914400"/>
          </a:xfrm>
          <a:prstGeom prst="rect">
            <a:avLst/>
          </a:prstGeom>
          <a:noFill/>
        </p:spPr>
        <p:txBody>
          <a:bodyPr wrap="square" anchor="t" lIns="36576" rIns="36576" tIns="36576" bIns="36576">
            <a:spAutoFit/>
          </a:bodyPr>
          <a:lstStyle/>
          <a:p>
            <a:pPr algn="ctr"/>
            <a:r>
              <a:rPr sz="1100" b="0" i="0">
                <a:solidFill>
                  <a:srgbClr val="2B2F36"/>
                </a:solidFill>
                <a:latin typeface="Segoe UI"/>
              </a:rPr>
              <a:t>Peers detect missing heartbeats within seconds; alert raised</a:t>
            </a:r>
          </a:p>
        </p:txBody>
      </p:sp>
      <p:sp>
        <p:nvSpPr>
          <p:cNvPr id="15" name="Oval 14"/>
          <p:cNvSpPr/>
          <p:nvPr/>
        </p:nvSpPr>
        <p:spPr>
          <a:xfrm>
            <a:off x="5852160" y="1965960"/>
            <a:ext cx="457200" cy="457200"/>
          </a:xfrm>
          <a:prstGeom prst="ellipse">
            <a:avLst/>
          </a:prstGeom>
          <a:solidFill>
            <a:srgbClr val="0F7C8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Segoe UI"/>
              </a:rPr>
              <a:t>3</a:t>
            </a:r>
          </a:p>
        </p:txBody>
      </p:sp>
      <p:sp>
        <p:nvSpPr>
          <p:cNvPr id="16" name="TextBox 15"/>
          <p:cNvSpPr txBox="1"/>
          <p:nvPr/>
        </p:nvSpPr>
        <p:spPr>
          <a:xfrm>
            <a:off x="4937760" y="1280160"/>
            <a:ext cx="2286000" cy="365760"/>
          </a:xfrm>
          <a:prstGeom prst="rect">
            <a:avLst/>
          </a:prstGeom>
          <a:noFill/>
        </p:spPr>
        <p:txBody>
          <a:bodyPr wrap="square" anchor="t" lIns="36576" rIns="36576" tIns="36576" bIns="36576">
            <a:spAutoFit/>
          </a:bodyPr>
          <a:lstStyle/>
          <a:p>
            <a:pPr algn="ctr"/>
            <a:r>
              <a:rPr sz="1400" b="1" i="0">
                <a:solidFill>
                  <a:srgbClr val="0F7C8C"/>
                </a:solidFill>
                <a:latin typeface="Segoe UI"/>
              </a:rPr>
              <a:t>Continued service</a:t>
            </a:r>
          </a:p>
        </p:txBody>
      </p:sp>
      <p:sp>
        <p:nvSpPr>
          <p:cNvPr id="17" name="TextBox 16"/>
          <p:cNvSpPr txBox="1"/>
          <p:nvPr/>
        </p:nvSpPr>
        <p:spPr>
          <a:xfrm>
            <a:off x="4937760" y="2514600"/>
            <a:ext cx="2286000" cy="914400"/>
          </a:xfrm>
          <a:prstGeom prst="rect">
            <a:avLst/>
          </a:prstGeom>
          <a:noFill/>
        </p:spPr>
        <p:txBody>
          <a:bodyPr wrap="square" anchor="t" lIns="36576" rIns="36576" tIns="36576" bIns="36576">
            <a:spAutoFit/>
          </a:bodyPr>
          <a:lstStyle/>
          <a:p>
            <a:pPr algn="ctr"/>
            <a:r>
              <a:rPr sz="1100" b="0" i="0">
                <a:solidFill>
                  <a:srgbClr val="2B2F36"/>
                </a:solidFill>
                <a:latin typeface="Segoe UI"/>
              </a:rPr>
              <a:t>Reads use other copies or fragments; writes continue</a:t>
            </a:r>
          </a:p>
        </p:txBody>
      </p:sp>
      <p:sp>
        <p:nvSpPr>
          <p:cNvPr id="18" name="Oval 17"/>
          <p:cNvSpPr/>
          <p:nvPr/>
        </p:nvSpPr>
        <p:spPr>
          <a:xfrm>
            <a:off x="8321040" y="1965960"/>
            <a:ext cx="457200" cy="457200"/>
          </a:xfrm>
          <a:prstGeom prst="ellipse">
            <a:avLst/>
          </a:prstGeom>
          <a:solidFill>
            <a:srgbClr val="0F7C8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Segoe UI"/>
              </a:rPr>
              <a:t>4</a:t>
            </a:r>
          </a:p>
        </p:txBody>
      </p:sp>
      <p:sp>
        <p:nvSpPr>
          <p:cNvPr id="19" name="TextBox 18"/>
          <p:cNvSpPr txBox="1"/>
          <p:nvPr/>
        </p:nvSpPr>
        <p:spPr>
          <a:xfrm>
            <a:off x="7406640" y="1280160"/>
            <a:ext cx="2286000" cy="365760"/>
          </a:xfrm>
          <a:prstGeom prst="rect">
            <a:avLst/>
          </a:prstGeom>
          <a:noFill/>
        </p:spPr>
        <p:txBody>
          <a:bodyPr wrap="square" anchor="t" lIns="36576" rIns="36576" tIns="36576" bIns="36576">
            <a:spAutoFit/>
          </a:bodyPr>
          <a:lstStyle/>
          <a:p>
            <a:pPr algn="ctr"/>
            <a:r>
              <a:rPr sz="1400" b="1" i="0">
                <a:solidFill>
                  <a:srgbClr val="0F7C8C"/>
                </a:solidFill>
                <a:latin typeface="Segoe UI"/>
              </a:rPr>
              <a:t>Automatic rebuild</a:t>
            </a:r>
          </a:p>
        </p:txBody>
      </p:sp>
      <p:sp>
        <p:nvSpPr>
          <p:cNvPr id="20" name="TextBox 19"/>
          <p:cNvSpPr txBox="1"/>
          <p:nvPr/>
        </p:nvSpPr>
        <p:spPr>
          <a:xfrm>
            <a:off x="7406640" y="2514600"/>
            <a:ext cx="2286000" cy="914400"/>
          </a:xfrm>
          <a:prstGeom prst="rect">
            <a:avLst/>
          </a:prstGeom>
          <a:noFill/>
        </p:spPr>
        <p:txBody>
          <a:bodyPr wrap="square" anchor="t" lIns="36576" rIns="36576" tIns="36576" bIns="36576">
            <a:spAutoFit/>
          </a:bodyPr>
          <a:lstStyle/>
          <a:p>
            <a:pPr algn="ctr"/>
            <a:r>
              <a:rPr sz="1100" b="0" i="0">
                <a:solidFill>
                  <a:srgbClr val="2B2F36"/>
                </a:solidFill>
                <a:latin typeface="Segoe UI"/>
              </a:rPr>
              <a:t>Missing data recreated on healthy nodes; all peers share the work</a:t>
            </a:r>
          </a:p>
        </p:txBody>
      </p:sp>
      <p:sp>
        <p:nvSpPr>
          <p:cNvPr id="21" name="Oval 20"/>
          <p:cNvSpPr/>
          <p:nvPr/>
        </p:nvSpPr>
        <p:spPr>
          <a:xfrm>
            <a:off x="10789920" y="1965960"/>
            <a:ext cx="457200" cy="457200"/>
          </a:xfrm>
          <a:prstGeom prst="ellipse">
            <a:avLst/>
          </a:prstGeom>
          <a:solidFill>
            <a:srgbClr val="2E9E5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Segoe UI"/>
              </a:rPr>
              <a:t>5</a:t>
            </a:r>
          </a:p>
        </p:txBody>
      </p:sp>
      <p:sp>
        <p:nvSpPr>
          <p:cNvPr id="22" name="TextBox 21"/>
          <p:cNvSpPr txBox="1"/>
          <p:nvPr/>
        </p:nvSpPr>
        <p:spPr>
          <a:xfrm>
            <a:off x="9875520" y="1280160"/>
            <a:ext cx="2286000" cy="365760"/>
          </a:xfrm>
          <a:prstGeom prst="rect">
            <a:avLst/>
          </a:prstGeom>
          <a:noFill/>
        </p:spPr>
        <p:txBody>
          <a:bodyPr wrap="square" anchor="t" lIns="36576" rIns="36576" tIns="36576" bIns="36576">
            <a:spAutoFit/>
          </a:bodyPr>
          <a:lstStyle/>
          <a:p>
            <a:pPr algn="ctr"/>
            <a:r>
              <a:rPr sz="1400" b="1" i="0">
                <a:solidFill>
                  <a:srgbClr val="2E9E5B"/>
                </a:solidFill>
                <a:latin typeface="Segoe UI"/>
              </a:rPr>
              <a:t>Restore</a:t>
            </a:r>
          </a:p>
        </p:txBody>
      </p:sp>
      <p:sp>
        <p:nvSpPr>
          <p:cNvPr id="23" name="TextBox 22"/>
          <p:cNvSpPr txBox="1"/>
          <p:nvPr/>
        </p:nvSpPr>
        <p:spPr>
          <a:xfrm>
            <a:off x="9875520" y="2514600"/>
            <a:ext cx="2286000" cy="914400"/>
          </a:xfrm>
          <a:prstGeom prst="rect">
            <a:avLst/>
          </a:prstGeom>
          <a:noFill/>
        </p:spPr>
        <p:txBody>
          <a:bodyPr wrap="square" anchor="t" lIns="36576" rIns="36576" tIns="36576" bIns="36576">
            <a:spAutoFit/>
          </a:bodyPr>
          <a:lstStyle/>
          <a:p>
            <a:pPr algn="ctr"/>
            <a:r>
              <a:rPr sz="1100" b="0" i="0">
                <a:solidFill>
                  <a:srgbClr val="2B2F36"/>
                </a:solidFill>
                <a:latin typeface="Segoe UI"/>
              </a:rPr>
              <a:t>Hardware replaced at a planned window; data rebalanced</a:t>
            </a:r>
          </a:p>
        </p:txBody>
      </p:sp>
      <p:sp>
        <p:nvSpPr>
          <p:cNvPr id="24" name="Rounded Rectangle 23"/>
          <p:cNvSpPr/>
          <p:nvPr/>
        </p:nvSpPr>
        <p:spPr>
          <a:xfrm>
            <a:off x="822960" y="3520440"/>
            <a:ext cx="10561320" cy="384048"/>
          </a:xfrm>
          <a:prstGeom prst="roundRect">
            <a:avLst>
              <a:gd name="adj" fmla="val 10000"/>
            </a:avLst>
          </a:prstGeom>
          <a:solidFill>
            <a:srgbClr val="DDF2E5"/>
          </a:solidFill>
          <a:ln w="1270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2E9E5B"/>
                </a:solidFill>
                <a:latin typeface="Segoe UI"/>
              </a:rPr>
              <a:t>Client service remains available throughout</a:t>
            </a:r>
          </a:p>
        </p:txBody>
      </p:sp>
      <p:graphicFrame>
        <p:nvGraphicFramePr>
          <p:cNvPr id="25" name="Table 24"/>
          <p:cNvGraphicFramePr>
            <a:graphicFrameLocks noGrp="1"/>
          </p:cNvGraphicFramePr>
          <p:nvPr/>
        </p:nvGraphicFramePr>
        <p:xfrm>
          <a:off x="457200" y="4114800"/>
          <a:ext cx="11292840" cy="1975104"/>
        </p:xfrm>
        <a:graphic>
          <a:graphicData uri="http://schemas.openxmlformats.org/drawingml/2006/table">
            <a:tbl>
              <a:tblPr firstRow="1" bandRow="1">
                <a:tableStyleId>{5C22544A-7EE6-4342-B048-85BDC9FD1C3A}</a:tableStyleId>
              </a:tblPr>
              <a:tblGrid>
                <a:gridCol w="2194560"/>
                <a:gridCol w="2743200"/>
                <a:gridCol w="3429000"/>
                <a:gridCol w="2926080"/>
              </a:tblGrid>
              <a:tr h="329184">
                <a:tc>
                  <a:txBody>
                    <a:bodyPr wrap="square"/>
                    <a:lstStyle/>
                    <a:p>
                      <a:r>
                        <a:rPr sz="1100" b="1" i="0">
                          <a:solidFill>
                            <a:srgbClr val="FFFFFF"/>
                          </a:solidFill>
                          <a:latin typeface="Segoe UI"/>
                        </a:rPr>
                        <a:t>Failure</a:t>
                      </a:r>
                    </a:p>
                  </a:txBody>
                  <a:tcPr marL="73152" marR="73152" marT="27432" marB="27432" anchor="ctr">
                    <a:solidFill>
                      <a:srgbClr val="1F2A44"/>
                    </a:solidFill>
                  </a:tcPr>
                </a:tc>
                <a:tc>
                  <a:txBody>
                    <a:bodyPr wrap="square"/>
                    <a:lstStyle/>
                    <a:p>
                      <a:r>
                        <a:rPr sz="1100" b="1" i="0">
                          <a:solidFill>
                            <a:srgbClr val="FFFFFF"/>
                          </a:solidFill>
                          <a:latin typeface="Segoe UI"/>
                        </a:rPr>
                        <a:t>Client impact</a:t>
                      </a:r>
                    </a:p>
                  </a:txBody>
                  <a:tcPr marL="73152" marR="73152" marT="27432" marB="27432" anchor="ctr">
                    <a:solidFill>
                      <a:srgbClr val="1F2A44"/>
                    </a:solidFill>
                  </a:tcPr>
                </a:tc>
                <a:tc>
                  <a:txBody>
                    <a:bodyPr wrap="square"/>
                    <a:lstStyle/>
                    <a:p>
                      <a:r>
                        <a:rPr sz="1100" b="1" i="0">
                          <a:solidFill>
                            <a:srgbClr val="FFFFFF"/>
                          </a:solidFill>
                          <a:latin typeface="Segoe UI"/>
                        </a:rPr>
                        <a:t>Automatic recovery</a:t>
                      </a:r>
                    </a:p>
                  </a:txBody>
                  <a:tcPr marL="73152" marR="73152" marT="27432" marB="27432" anchor="ctr">
                    <a:solidFill>
                      <a:srgbClr val="1F2A44"/>
                    </a:solidFill>
                  </a:tcPr>
                </a:tc>
                <a:tc>
                  <a:txBody>
                    <a:bodyPr wrap="square"/>
                    <a:lstStyle/>
                    <a:p>
                      <a:r>
                        <a:rPr sz="1100" b="1" i="0">
                          <a:solidFill>
                            <a:srgbClr val="FFFFFF"/>
                          </a:solidFill>
                          <a:latin typeface="Segoe UI"/>
                        </a:rPr>
                        <a:t>Operator action</a:t>
                      </a:r>
                    </a:p>
                  </a:txBody>
                  <a:tcPr marL="73152" marR="73152" marT="27432" marB="27432" anchor="ctr">
                    <a:solidFill>
                      <a:srgbClr val="1F2A44"/>
                    </a:solidFill>
                  </a:tcPr>
                </a:tc>
              </a:tr>
              <a:tr h="329184">
                <a:tc>
                  <a:txBody>
                    <a:bodyPr wrap="square"/>
                    <a:lstStyle/>
                    <a:p>
                      <a:r>
                        <a:rPr sz="1100" b="1" i="0">
                          <a:solidFill>
                            <a:srgbClr val="2B2F36"/>
                          </a:solidFill>
                          <a:latin typeface="Segoe UI"/>
                        </a:rPr>
                        <a:t>Disk</a:t>
                      </a:r>
                    </a:p>
                  </a:txBody>
                  <a:tcPr marL="73152" marR="73152" marT="27432" marB="27432" anchor="ctr">
                    <a:solidFill>
                      <a:srgbClr val="FFFFFF"/>
                    </a:solidFill>
                  </a:tcPr>
                </a:tc>
                <a:tc>
                  <a:txBody>
                    <a:bodyPr wrap="square"/>
                    <a:lstStyle/>
                    <a:p>
                      <a:r>
                        <a:rPr sz="1100" b="0" i="0">
                          <a:solidFill>
                            <a:srgbClr val="2B2F36"/>
                          </a:solidFill>
                          <a:latin typeface="Segoe UI"/>
                        </a:rPr>
                        <a:t>None</a:t>
                      </a:r>
                    </a:p>
                  </a:txBody>
                  <a:tcPr marL="73152" marR="73152" marT="27432" marB="27432" anchor="ctr">
                    <a:solidFill>
                      <a:srgbClr val="FFFFFF"/>
                    </a:solidFill>
                  </a:tcPr>
                </a:tc>
                <a:tc>
                  <a:txBody>
                    <a:bodyPr wrap="square"/>
                    <a:lstStyle/>
                    <a:p>
                      <a:r>
                        <a:rPr sz="1100" b="0" i="0">
                          <a:solidFill>
                            <a:srgbClr val="2B2F36"/>
                          </a:solidFill>
                          <a:latin typeface="Segoe UI"/>
                        </a:rPr>
                        <a:t>Rebuild of affected data</a:t>
                      </a:r>
                    </a:p>
                  </a:txBody>
                  <a:tcPr marL="73152" marR="73152" marT="27432" marB="27432" anchor="ctr">
                    <a:solidFill>
                      <a:srgbClr val="FFFFFF"/>
                    </a:solidFill>
                  </a:tcPr>
                </a:tc>
                <a:tc>
                  <a:txBody>
                    <a:bodyPr wrap="square"/>
                    <a:lstStyle/>
                    <a:p>
                      <a:r>
                        <a:rPr sz="1100" b="0" i="0">
                          <a:solidFill>
                            <a:srgbClr val="2B2F36"/>
                          </a:solidFill>
                          <a:latin typeface="Segoe UI"/>
                        </a:rPr>
                        <a:t>Replace disk at next window</a:t>
                      </a:r>
                    </a:p>
                  </a:txBody>
                  <a:tcPr marL="73152" marR="73152" marT="27432" marB="27432" anchor="ctr">
                    <a:solidFill>
                      <a:srgbClr val="FFFFFF"/>
                    </a:solidFill>
                  </a:tcPr>
                </a:tc>
              </a:tr>
              <a:tr h="329184">
                <a:tc>
                  <a:txBody>
                    <a:bodyPr wrap="square"/>
                    <a:lstStyle/>
                    <a:p>
                      <a:r>
                        <a:rPr sz="1100" b="1" i="0">
                          <a:solidFill>
                            <a:srgbClr val="2B2F36"/>
                          </a:solidFill>
                          <a:latin typeface="Segoe UI"/>
                        </a:rPr>
                        <a:t>Server</a:t>
                      </a:r>
                    </a:p>
                  </a:txBody>
                  <a:tcPr marL="73152" marR="73152" marT="27432" marB="27432" anchor="ctr">
                    <a:solidFill>
                      <a:srgbClr val="F2F4F7"/>
                    </a:solidFill>
                  </a:tcPr>
                </a:tc>
                <a:tc>
                  <a:txBody>
                    <a:bodyPr wrap="square"/>
                    <a:lstStyle/>
                    <a:p>
                      <a:r>
                        <a:rPr sz="1100" b="0" i="0">
                          <a:solidFill>
                            <a:srgbClr val="2B2F36"/>
                          </a:solidFill>
                          <a:latin typeface="Segoe UI"/>
                        </a:rPr>
                        <a:t>None (degraded reads)</a:t>
                      </a:r>
                    </a:p>
                  </a:txBody>
                  <a:tcPr marL="73152" marR="73152" marT="27432" marB="27432" anchor="ctr">
                    <a:solidFill>
                      <a:srgbClr val="F2F4F7"/>
                    </a:solidFill>
                  </a:tcPr>
                </a:tc>
                <a:tc>
                  <a:txBody>
                    <a:bodyPr wrap="square"/>
                    <a:lstStyle/>
                    <a:p>
                      <a:r>
                        <a:rPr sz="1100" b="0" i="0">
                          <a:solidFill>
                            <a:srgbClr val="2B2F36"/>
                          </a:solidFill>
                          <a:latin typeface="Segoe UI"/>
                        </a:rPr>
                        <a:t>Rebuild after timeout, or resync on return</a:t>
                      </a:r>
                    </a:p>
                  </a:txBody>
                  <a:tcPr marL="73152" marR="73152" marT="27432" marB="27432" anchor="ctr">
                    <a:solidFill>
                      <a:srgbClr val="F2F4F7"/>
                    </a:solidFill>
                  </a:tcPr>
                </a:tc>
                <a:tc>
                  <a:txBody>
                    <a:bodyPr wrap="square"/>
                    <a:lstStyle/>
                    <a:p>
                      <a:r>
                        <a:rPr sz="1100" b="0" i="0">
                          <a:solidFill>
                            <a:srgbClr val="2B2F36"/>
                          </a:solidFill>
                          <a:latin typeface="Segoe UI"/>
                        </a:rPr>
                        <a:t>Repair or decommission</a:t>
                      </a:r>
                    </a:p>
                  </a:txBody>
                  <a:tcPr marL="73152" marR="73152" marT="27432" marB="27432" anchor="ctr">
                    <a:solidFill>
                      <a:srgbClr val="F2F4F7"/>
                    </a:solidFill>
                  </a:tcPr>
                </a:tc>
              </a:tr>
              <a:tr h="329184">
                <a:tc>
                  <a:txBody>
                    <a:bodyPr wrap="square"/>
                    <a:lstStyle/>
                    <a:p>
                      <a:r>
                        <a:rPr sz="1100" b="1" i="0">
                          <a:solidFill>
                            <a:srgbClr val="2B2F36"/>
                          </a:solidFill>
                          <a:latin typeface="Segoe UI"/>
                        </a:rPr>
                        <a:t>Connector</a:t>
                      </a:r>
                    </a:p>
                  </a:txBody>
                  <a:tcPr marL="73152" marR="73152" marT="27432" marB="27432" anchor="ctr">
                    <a:solidFill>
                      <a:srgbClr val="FFFFFF"/>
                    </a:solidFill>
                  </a:tcPr>
                </a:tc>
                <a:tc>
                  <a:txBody>
                    <a:bodyPr wrap="square"/>
                    <a:lstStyle/>
                    <a:p>
                      <a:r>
                        <a:rPr sz="1100" b="0" i="0">
                          <a:solidFill>
                            <a:srgbClr val="2B2F36"/>
                          </a:solidFill>
                          <a:latin typeface="Segoe UI"/>
                        </a:rPr>
                        <a:t>None (load balancer failover)</a:t>
                      </a:r>
                    </a:p>
                  </a:txBody>
                  <a:tcPr marL="73152" marR="73152" marT="27432" marB="27432" anchor="ctr">
                    <a:solidFill>
                      <a:srgbClr val="FFFFFF"/>
                    </a:solidFill>
                  </a:tcPr>
                </a:tc>
                <a:tc>
                  <a:txBody>
                    <a:bodyPr wrap="square"/>
                    <a:lstStyle/>
                    <a:p>
                      <a:r>
                        <a:rPr sz="1100" b="0" i="0">
                          <a:solidFill>
                            <a:srgbClr val="2B2F36"/>
                          </a:solidFill>
                          <a:latin typeface="Segoe UI"/>
                        </a:rPr>
                        <a:t>Not required: stateless</a:t>
                      </a:r>
                    </a:p>
                  </a:txBody>
                  <a:tcPr marL="73152" marR="73152" marT="27432" marB="27432" anchor="ctr">
                    <a:solidFill>
                      <a:srgbClr val="FFFFFF"/>
                    </a:solidFill>
                  </a:tcPr>
                </a:tc>
                <a:tc>
                  <a:txBody>
                    <a:bodyPr wrap="square"/>
                    <a:lstStyle/>
                    <a:p>
                      <a:r>
                        <a:rPr sz="1100" b="0" i="0">
                          <a:solidFill>
                            <a:srgbClr val="2B2F36"/>
                          </a:solidFill>
                          <a:latin typeface="Segoe UI"/>
                        </a:rPr>
                        <a:t>Restart or replace</a:t>
                      </a:r>
                    </a:p>
                  </a:txBody>
                  <a:tcPr marL="73152" marR="73152" marT="27432" marB="27432" anchor="ctr">
                    <a:solidFill>
                      <a:srgbClr val="FFFFFF"/>
                    </a:solidFill>
                  </a:tcPr>
                </a:tc>
              </a:tr>
              <a:tr h="329184">
                <a:tc>
                  <a:txBody>
                    <a:bodyPr wrap="square"/>
                    <a:lstStyle/>
                    <a:p>
                      <a:r>
                        <a:rPr sz="1100" b="1" i="0">
                          <a:solidFill>
                            <a:srgbClr val="2B2F36"/>
                          </a:solidFill>
                          <a:latin typeface="Segoe UI"/>
                        </a:rPr>
                        <a:t>Metadata node</a:t>
                      </a:r>
                    </a:p>
                  </a:txBody>
                  <a:tcPr marL="73152" marR="73152" marT="27432" marB="27432" anchor="ctr">
                    <a:solidFill>
                      <a:srgbClr val="F2F4F7"/>
                    </a:solidFill>
                  </a:tcPr>
                </a:tc>
                <a:tc>
                  <a:txBody>
                    <a:bodyPr wrap="square"/>
                    <a:lstStyle/>
                    <a:p>
                      <a:r>
                        <a:rPr sz="1100" b="0" i="0">
                          <a:solidFill>
                            <a:srgbClr val="2B2F36"/>
                          </a:solidFill>
                          <a:latin typeface="Segoe UI"/>
                        </a:rPr>
                        <a:t>None (Raft re-election)</a:t>
                      </a:r>
                    </a:p>
                  </a:txBody>
                  <a:tcPr marL="73152" marR="73152" marT="27432" marB="27432" anchor="ctr">
                    <a:solidFill>
                      <a:srgbClr val="F2F4F7"/>
                    </a:solidFill>
                  </a:tcPr>
                </a:tc>
                <a:tc>
                  <a:txBody>
                    <a:bodyPr wrap="square"/>
                    <a:lstStyle/>
                    <a:p>
                      <a:r>
                        <a:rPr sz="1100" b="0" i="0">
                          <a:solidFill>
                            <a:srgbClr val="2B2F36"/>
                          </a:solidFill>
                          <a:latin typeface="Segoe UI"/>
                        </a:rPr>
                        <a:t>Node resyncs from log</a:t>
                      </a:r>
                    </a:p>
                  </a:txBody>
                  <a:tcPr marL="73152" marR="73152" marT="27432" marB="27432" anchor="ctr">
                    <a:solidFill>
                      <a:srgbClr val="F2F4F7"/>
                    </a:solidFill>
                  </a:tcPr>
                </a:tc>
                <a:tc>
                  <a:txBody>
                    <a:bodyPr wrap="square"/>
                    <a:lstStyle/>
                    <a:p>
                      <a:r>
                        <a:rPr sz="1100" b="0" i="0">
                          <a:solidFill>
                            <a:srgbClr val="2B2F36"/>
                          </a:solidFill>
                          <a:latin typeface="Segoe UI"/>
                        </a:rPr>
                        <a:t>Restore node</a:t>
                      </a:r>
                    </a:p>
                  </a:txBody>
                  <a:tcPr marL="73152" marR="73152" marT="27432" marB="27432" anchor="ctr">
                    <a:solidFill>
                      <a:srgbClr val="F2F4F7"/>
                    </a:solidFill>
                  </a:tcPr>
                </a:tc>
              </a:tr>
              <a:tr h="329184">
                <a:tc>
                  <a:txBody>
                    <a:bodyPr wrap="square"/>
                    <a:lstStyle/>
                    <a:p>
                      <a:r>
                        <a:rPr sz="1100" b="1" i="0">
                          <a:solidFill>
                            <a:srgbClr val="2B2F36"/>
                          </a:solidFill>
                          <a:latin typeface="Segoe UI"/>
                        </a:rPr>
                        <a:t>Rack (rack-aware layout)</a:t>
                      </a:r>
                    </a:p>
                  </a:txBody>
                  <a:tcPr marL="73152" marR="73152" marT="27432" marB="27432" anchor="ctr">
                    <a:solidFill>
                      <a:srgbClr val="FFFFFF"/>
                    </a:solidFill>
                  </a:tcPr>
                </a:tc>
                <a:tc>
                  <a:txBody>
                    <a:bodyPr wrap="square"/>
                    <a:lstStyle/>
                    <a:p>
                      <a:r>
                        <a:rPr sz="1100" b="0" i="0">
                          <a:solidFill>
                            <a:srgbClr val="2B2F36"/>
                          </a:solidFill>
                          <a:latin typeface="Segoe UI"/>
                        </a:rPr>
                        <a:t>None</a:t>
                      </a:r>
                    </a:p>
                  </a:txBody>
                  <a:tcPr marL="73152" marR="73152" marT="27432" marB="27432" anchor="ctr">
                    <a:solidFill>
                      <a:srgbClr val="FFFFFF"/>
                    </a:solidFill>
                  </a:tcPr>
                </a:tc>
                <a:tc>
                  <a:txBody>
                    <a:bodyPr wrap="square"/>
                    <a:lstStyle/>
                    <a:p>
                      <a:r>
                        <a:rPr sz="1100" b="0" i="0">
                          <a:solidFill>
                            <a:srgbClr val="2B2F36"/>
                          </a:solidFill>
                          <a:latin typeface="Segoe UI"/>
                        </a:rPr>
                        <a:t>Rebuild</a:t>
                      </a:r>
                    </a:p>
                  </a:txBody>
                  <a:tcPr marL="73152" marR="73152" marT="27432" marB="27432" anchor="ctr">
                    <a:solidFill>
                      <a:srgbClr val="FFFFFF"/>
                    </a:solidFill>
                  </a:tcPr>
                </a:tc>
                <a:tc>
                  <a:txBody>
                    <a:bodyPr wrap="square"/>
                    <a:lstStyle/>
                    <a:p>
                      <a:r>
                        <a:rPr sz="1100" b="0" i="0">
                          <a:solidFill>
                            <a:srgbClr val="2B2F36"/>
                          </a:solidFill>
                          <a:latin typeface="Segoe UI"/>
                        </a:rPr>
                        <a:t>Restore rack</a:t>
                      </a:r>
                    </a:p>
                  </a:txBody>
                  <a:tcPr marL="73152" marR="73152" marT="27432" marB="27432"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 name="Rectangle 2"/>
          <p:cNvSpPr/>
          <p:nvPr/>
        </p:nvSpPr>
        <p:spPr>
          <a:xfrm>
            <a:off x="0" y="914400"/>
            <a:ext cx="12191695" cy="54864"/>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4" name="TextBox 3"/>
          <p:cNvSpPr txBox="1"/>
          <p:nvPr/>
        </p:nvSpPr>
        <p:spPr>
          <a:xfrm>
            <a:off x="457200" y="91440"/>
            <a:ext cx="11247120" cy="502920"/>
          </a:xfrm>
          <a:prstGeom prst="rect">
            <a:avLst/>
          </a:prstGeom>
          <a:noFill/>
        </p:spPr>
        <p:txBody>
          <a:bodyPr wrap="square" anchor="ctr" lIns="36576" rIns="36576" tIns="36576" bIns="36576">
            <a:spAutoFit/>
          </a:bodyPr>
          <a:lstStyle/>
          <a:p>
            <a:pPr algn="l"/>
            <a:r>
              <a:rPr sz="2600" b="1" i="0">
                <a:solidFill>
                  <a:srgbClr val="FFFFFF"/>
                </a:solidFill>
                <a:latin typeface="Segoe UI"/>
              </a:rPr>
              <a:t>Non-Disruptive Scale-Out</a:t>
            </a:r>
          </a:p>
        </p:txBody>
      </p:sp>
      <p:sp>
        <p:nvSpPr>
          <p:cNvPr id="5" name="TextBox 4"/>
          <p:cNvSpPr txBox="1"/>
          <p:nvPr/>
        </p:nvSpPr>
        <p:spPr>
          <a:xfrm>
            <a:off x="457200" y="548640"/>
            <a:ext cx="11247120" cy="320040"/>
          </a:xfrm>
          <a:prstGeom prst="rect">
            <a:avLst/>
          </a:prstGeom>
          <a:noFill/>
        </p:spPr>
        <p:txBody>
          <a:bodyPr wrap="square" anchor="t" lIns="36576" rIns="36576" tIns="36576" bIns="36576">
            <a:spAutoFit/>
          </a:bodyPr>
          <a:lstStyle/>
          <a:p>
            <a:pPr algn="l"/>
            <a:r>
              <a:rPr sz="1300" b="0" i="0">
                <a:solidFill>
                  <a:srgbClr val="C9D3E3"/>
                </a:solidFill>
                <a:latin typeface="Segoe UI"/>
              </a:rPr>
              <a:t>Grow capacity and performance without downtime</a:t>
            </a:r>
          </a:p>
        </p:txBody>
      </p:sp>
      <p:sp>
        <p:nvSpPr>
          <p:cNvPr id="6" name="TextBox 5"/>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i="0">
                <a:solidFill>
                  <a:srgbClr val="5B6577"/>
                </a:solidFill>
                <a:latin typeface="Segoe UI"/>
              </a:rPr>
              <a:t>Scality RING  |  Architecture, Deployment &amp; Operations</a:t>
            </a:r>
          </a:p>
        </p:txBody>
      </p:sp>
      <p:sp>
        <p:nvSpPr>
          <p:cNvPr id="7" name="TextBox 6"/>
          <p:cNvSpPr txBox="1"/>
          <p:nvPr/>
        </p:nvSpPr>
        <p:spPr>
          <a:xfrm>
            <a:off x="10789920" y="6473952"/>
            <a:ext cx="914400" cy="274320"/>
          </a:xfrm>
          <a:prstGeom prst="rect">
            <a:avLst/>
          </a:prstGeom>
          <a:noFill/>
        </p:spPr>
        <p:txBody>
          <a:bodyPr wrap="square" anchor="t" lIns="36576" rIns="36576" tIns="36576" bIns="36576">
            <a:spAutoFit/>
          </a:bodyPr>
          <a:lstStyle/>
          <a:p>
            <a:pPr algn="r"/>
            <a:r>
              <a:rPr sz="1000" b="0" i="0">
                <a:solidFill>
                  <a:srgbClr val="5B6577"/>
                </a:solidFill>
                <a:latin typeface="Segoe UI"/>
              </a:rPr>
              <a:t>13</a:t>
            </a:r>
          </a:p>
        </p:txBody>
      </p:sp>
      <p:sp>
        <p:nvSpPr>
          <p:cNvPr id="8" name="TextBox 7"/>
          <p:cNvSpPr txBox="1"/>
          <p:nvPr/>
        </p:nvSpPr>
        <p:spPr>
          <a:xfrm>
            <a:off x="457200" y="1188720"/>
            <a:ext cx="3291840" cy="365760"/>
          </a:xfrm>
          <a:prstGeom prst="rect">
            <a:avLst/>
          </a:prstGeom>
          <a:noFill/>
        </p:spPr>
        <p:txBody>
          <a:bodyPr wrap="square" anchor="t" lIns="36576" rIns="36576" tIns="36576" bIns="36576">
            <a:spAutoFit/>
          </a:bodyPr>
          <a:lstStyle/>
          <a:p>
            <a:pPr algn="ctr"/>
            <a:r>
              <a:rPr sz="1500" b="1" i="0">
                <a:solidFill>
                  <a:srgbClr val="1F2A44"/>
                </a:solidFill>
                <a:latin typeface="Segoe UI"/>
              </a:rPr>
              <a:t>Before: 6 servers</a:t>
            </a:r>
          </a:p>
        </p:txBody>
      </p:sp>
      <p:sp>
        <p:nvSpPr>
          <p:cNvPr id="9" name="Oval 8"/>
          <p:cNvSpPr/>
          <p:nvPr/>
        </p:nvSpPr>
        <p:spPr>
          <a:xfrm>
            <a:off x="777239" y="1874519"/>
            <a:ext cx="2651760" cy="2651760"/>
          </a:xfrm>
          <a:prstGeom prst="ellipse">
            <a:avLst/>
          </a:prstGeom>
          <a:noFill/>
          <a:ln w="3175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0" name="Oval 9"/>
          <p:cNvSpPr/>
          <p:nvPr/>
        </p:nvSpPr>
        <p:spPr>
          <a:xfrm>
            <a:off x="2574036" y="1860130"/>
            <a:ext cx="384048" cy="384048"/>
          </a:xfrm>
          <a:prstGeom prst="ellipse">
            <a:avLst/>
          </a:prstGeom>
          <a:solidFill>
            <a:srgbClr val="0F7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i="0">
                <a:solidFill>
                  <a:srgbClr val="FFFFFF"/>
                </a:solidFill>
                <a:latin typeface="Segoe UI"/>
              </a:rPr>
              <a:t>S1</a:t>
            </a:r>
          </a:p>
        </p:txBody>
      </p:sp>
      <p:sp>
        <p:nvSpPr>
          <p:cNvPr id="11" name="Oval 10"/>
          <p:cNvSpPr/>
          <p:nvPr/>
        </p:nvSpPr>
        <p:spPr>
          <a:xfrm>
            <a:off x="3059341" y="2345436"/>
            <a:ext cx="384048" cy="384048"/>
          </a:xfrm>
          <a:prstGeom prst="ellipse">
            <a:avLst/>
          </a:prstGeom>
          <a:solidFill>
            <a:srgbClr val="E8892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i="0">
                <a:solidFill>
                  <a:srgbClr val="FFFFFF"/>
                </a:solidFill>
                <a:latin typeface="Segoe UI"/>
              </a:rPr>
              <a:t>S2</a:t>
            </a:r>
          </a:p>
        </p:txBody>
      </p:sp>
      <p:sp>
        <p:nvSpPr>
          <p:cNvPr id="12" name="Oval 11"/>
          <p:cNvSpPr/>
          <p:nvPr/>
        </p:nvSpPr>
        <p:spPr>
          <a:xfrm>
            <a:off x="3236976" y="3008376"/>
            <a:ext cx="384048" cy="384048"/>
          </a:xfrm>
          <a:prstGeom prst="ellipse">
            <a:avLst/>
          </a:prstGeom>
          <a:solidFill>
            <a:srgbClr val="6B4FA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i="0">
                <a:solidFill>
                  <a:srgbClr val="FFFFFF"/>
                </a:solidFill>
                <a:latin typeface="Segoe UI"/>
              </a:rPr>
              <a:t>S3</a:t>
            </a:r>
          </a:p>
        </p:txBody>
      </p:sp>
      <p:sp>
        <p:nvSpPr>
          <p:cNvPr id="13" name="Oval 12"/>
          <p:cNvSpPr/>
          <p:nvPr/>
        </p:nvSpPr>
        <p:spPr>
          <a:xfrm>
            <a:off x="3059341" y="3671315"/>
            <a:ext cx="384048" cy="384048"/>
          </a:xfrm>
          <a:prstGeom prst="ellipse">
            <a:avLst/>
          </a:prstGeom>
          <a:solidFill>
            <a:srgbClr val="2E9E5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i="0">
                <a:solidFill>
                  <a:srgbClr val="FFFFFF"/>
                </a:solidFill>
                <a:latin typeface="Segoe UI"/>
              </a:rPr>
              <a:t>S4</a:t>
            </a:r>
          </a:p>
        </p:txBody>
      </p:sp>
      <p:sp>
        <p:nvSpPr>
          <p:cNvPr id="14" name="Oval 13"/>
          <p:cNvSpPr/>
          <p:nvPr/>
        </p:nvSpPr>
        <p:spPr>
          <a:xfrm>
            <a:off x="2574036" y="4156621"/>
            <a:ext cx="384048" cy="384048"/>
          </a:xfrm>
          <a:prstGeom prst="ellipse">
            <a:avLst/>
          </a:prstGeom>
          <a:solidFill>
            <a:srgbClr val="2F6FD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i="0">
                <a:solidFill>
                  <a:srgbClr val="FFFFFF"/>
                </a:solidFill>
                <a:latin typeface="Segoe UI"/>
              </a:rPr>
              <a:t>S5</a:t>
            </a:r>
          </a:p>
        </p:txBody>
      </p:sp>
      <p:sp>
        <p:nvSpPr>
          <p:cNvPr id="15" name="Oval 14"/>
          <p:cNvSpPr/>
          <p:nvPr/>
        </p:nvSpPr>
        <p:spPr>
          <a:xfrm>
            <a:off x="1911095" y="4334256"/>
            <a:ext cx="384048" cy="384048"/>
          </a:xfrm>
          <a:prstGeom prst="ellipse">
            <a:avLst/>
          </a:prstGeom>
          <a:solidFill>
            <a:srgbClr val="C2477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i="0">
                <a:solidFill>
                  <a:srgbClr val="FFFFFF"/>
                </a:solidFill>
                <a:latin typeface="Segoe UI"/>
              </a:rPr>
              <a:t>S6</a:t>
            </a:r>
          </a:p>
        </p:txBody>
      </p:sp>
      <p:sp>
        <p:nvSpPr>
          <p:cNvPr id="16" name="Oval 15"/>
          <p:cNvSpPr/>
          <p:nvPr/>
        </p:nvSpPr>
        <p:spPr>
          <a:xfrm>
            <a:off x="1248156" y="4156621"/>
            <a:ext cx="384048" cy="384048"/>
          </a:xfrm>
          <a:prstGeom prst="ellipse">
            <a:avLst/>
          </a:prstGeom>
          <a:solidFill>
            <a:srgbClr val="0F7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i="0">
                <a:solidFill>
                  <a:srgbClr val="FFFFFF"/>
                </a:solidFill>
                <a:latin typeface="Segoe UI"/>
              </a:rPr>
              <a:t>S1</a:t>
            </a:r>
          </a:p>
        </p:txBody>
      </p:sp>
      <p:sp>
        <p:nvSpPr>
          <p:cNvPr id="17" name="Oval 16"/>
          <p:cNvSpPr/>
          <p:nvPr/>
        </p:nvSpPr>
        <p:spPr>
          <a:xfrm>
            <a:off x="762850" y="3671315"/>
            <a:ext cx="384048" cy="384048"/>
          </a:xfrm>
          <a:prstGeom prst="ellipse">
            <a:avLst/>
          </a:prstGeom>
          <a:solidFill>
            <a:srgbClr val="E8892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i="0">
                <a:solidFill>
                  <a:srgbClr val="FFFFFF"/>
                </a:solidFill>
                <a:latin typeface="Segoe UI"/>
              </a:rPr>
              <a:t>S2</a:t>
            </a:r>
          </a:p>
        </p:txBody>
      </p:sp>
      <p:sp>
        <p:nvSpPr>
          <p:cNvPr id="18" name="Oval 17"/>
          <p:cNvSpPr/>
          <p:nvPr/>
        </p:nvSpPr>
        <p:spPr>
          <a:xfrm>
            <a:off x="585215" y="3008376"/>
            <a:ext cx="384048" cy="384048"/>
          </a:xfrm>
          <a:prstGeom prst="ellipse">
            <a:avLst/>
          </a:prstGeom>
          <a:solidFill>
            <a:srgbClr val="6B4FA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i="0">
                <a:solidFill>
                  <a:srgbClr val="FFFFFF"/>
                </a:solidFill>
                <a:latin typeface="Segoe UI"/>
              </a:rPr>
              <a:t>S3</a:t>
            </a:r>
          </a:p>
        </p:txBody>
      </p:sp>
      <p:sp>
        <p:nvSpPr>
          <p:cNvPr id="19" name="Oval 18"/>
          <p:cNvSpPr/>
          <p:nvPr/>
        </p:nvSpPr>
        <p:spPr>
          <a:xfrm>
            <a:off x="762850" y="2345436"/>
            <a:ext cx="384048" cy="384048"/>
          </a:xfrm>
          <a:prstGeom prst="ellipse">
            <a:avLst/>
          </a:prstGeom>
          <a:solidFill>
            <a:srgbClr val="2E9E5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i="0">
                <a:solidFill>
                  <a:srgbClr val="FFFFFF"/>
                </a:solidFill>
                <a:latin typeface="Segoe UI"/>
              </a:rPr>
              <a:t>S4</a:t>
            </a:r>
          </a:p>
        </p:txBody>
      </p:sp>
      <p:sp>
        <p:nvSpPr>
          <p:cNvPr id="20" name="Oval 19"/>
          <p:cNvSpPr/>
          <p:nvPr/>
        </p:nvSpPr>
        <p:spPr>
          <a:xfrm>
            <a:off x="1248155" y="1860130"/>
            <a:ext cx="384048" cy="384048"/>
          </a:xfrm>
          <a:prstGeom prst="ellipse">
            <a:avLst/>
          </a:prstGeom>
          <a:solidFill>
            <a:srgbClr val="2F6FD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i="0">
                <a:solidFill>
                  <a:srgbClr val="FFFFFF"/>
                </a:solidFill>
                <a:latin typeface="Segoe UI"/>
              </a:rPr>
              <a:t>S5</a:t>
            </a:r>
          </a:p>
        </p:txBody>
      </p:sp>
      <p:sp>
        <p:nvSpPr>
          <p:cNvPr id="21" name="Oval 20"/>
          <p:cNvSpPr/>
          <p:nvPr/>
        </p:nvSpPr>
        <p:spPr>
          <a:xfrm>
            <a:off x="1911095" y="1682495"/>
            <a:ext cx="384048" cy="384048"/>
          </a:xfrm>
          <a:prstGeom prst="ellipse">
            <a:avLst/>
          </a:prstGeom>
          <a:solidFill>
            <a:srgbClr val="C2477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i="0">
                <a:solidFill>
                  <a:srgbClr val="FFFFFF"/>
                </a:solidFill>
                <a:latin typeface="Segoe UI"/>
              </a:rPr>
              <a:t>S6</a:t>
            </a:r>
          </a:p>
        </p:txBody>
      </p:sp>
      <p:cxnSp>
        <p:nvCxnSpPr>
          <p:cNvPr id="22" name="Connector 21"/>
          <p:cNvCxnSpPr/>
          <p:nvPr/>
        </p:nvCxnSpPr>
        <p:spPr>
          <a:xfrm>
            <a:off x="3794760" y="3200400"/>
            <a:ext cx="1005840" cy="0"/>
          </a:xfrm>
          <a:prstGeom prst="line">
            <a:avLst/>
          </a:prstGeom>
          <a:ln w="38100">
            <a:solidFill>
              <a:srgbClr val="0F7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57600" y="2743200"/>
            <a:ext cx="1280160" cy="365760"/>
          </a:xfrm>
          <a:prstGeom prst="rect">
            <a:avLst/>
          </a:prstGeom>
          <a:noFill/>
        </p:spPr>
        <p:txBody>
          <a:bodyPr wrap="square" anchor="t" lIns="36576" rIns="36576" tIns="36576" bIns="36576">
            <a:spAutoFit/>
          </a:bodyPr>
          <a:lstStyle/>
          <a:p>
            <a:pPr algn="ctr"/>
            <a:r>
              <a:rPr sz="1200" b="1" i="0">
                <a:solidFill>
                  <a:srgbClr val="0F7C8C"/>
                </a:solidFill>
                <a:latin typeface="Segoe UI"/>
              </a:rPr>
              <a:t>Add server</a:t>
            </a:r>
          </a:p>
        </p:txBody>
      </p:sp>
      <p:sp>
        <p:nvSpPr>
          <p:cNvPr id="24" name="TextBox 23"/>
          <p:cNvSpPr txBox="1"/>
          <p:nvPr/>
        </p:nvSpPr>
        <p:spPr>
          <a:xfrm>
            <a:off x="4846320" y="1188720"/>
            <a:ext cx="3291840" cy="365760"/>
          </a:xfrm>
          <a:prstGeom prst="rect">
            <a:avLst/>
          </a:prstGeom>
          <a:noFill/>
        </p:spPr>
        <p:txBody>
          <a:bodyPr wrap="square" anchor="t" lIns="36576" rIns="36576" tIns="36576" bIns="36576">
            <a:spAutoFit/>
          </a:bodyPr>
          <a:lstStyle/>
          <a:p>
            <a:pPr algn="ctr"/>
            <a:r>
              <a:rPr sz="1500" b="1" i="0">
                <a:solidFill>
                  <a:srgbClr val="1F2A44"/>
                </a:solidFill>
                <a:latin typeface="Segoe UI"/>
              </a:rPr>
              <a:t>After: 7 servers</a:t>
            </a:r>
          </a:p>
        </p:txBody>
      </p:sp>
      <p:sp>
        <p:nvSpPr>
          <p:cNvPr id="25" name="Oval 24"/>
          <p:cNvSpPr/>
          <p:nvPr/>
        </p:nvSpPr>
        <p:spPr>
          <a:xfrm>
            <a:off x="5074920" y="1737360"/>
            <a:ext cx="2834640" cy="2834640"/>
          </a:xfrm>
          <a:prstGeom prst="ellipse">
            <a:avLst/>
          </a:prstGeom>
          <a:noFill/>
          <a:ln w="3175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26" name="Oval 25"/>
          <p:cNvSpPr/>
          <p:nvPr/>
        </p:nvSpPr>
        <p:spPr>
          <a:xfrm>
            <a:off x="7027164" y="1753508"/>
            <a:ext cx="347472" cy="347472"/>
          </a:xfrm>
          <a:prstGeom prst="ellipse">
            <a:avLst/>
          </a:prstGeom>
          <a:solidFill>
            <a:srgbClr val="0F7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00" b="1" i="0">
                <a:solidFill>
                  <a:srgbClr val="FFFFFF"/>
                </a:solidFill>
                <a:latin typeface="Segoe UI"/>
              </a:rPr>
              <a:t>S1</a:t>
            </a:r>
          </a:p>
        </p:txBody>
      </p:sp>
      <p:sp>
        <p:nvSpPr>
          <p:cNvPr id="27" name="Oval 26"/>
          <p:cNvSpPr/>
          <p:nvPr/>
        </p:nvSpPr>
        <p:spPr>
          <a:xfrm>
            <a:off x="7545939" y="2272284"/>
            <a:ext cx="347472" cy="347472"/>
          </a:xfrm>
          <a:prstGeom prst="ellipse">
            <a:avLst/>
          </a:prstGeom>
          <a:solidFill>
            <a:srgbClr val="E8892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00" b="1" i="0">
                <a:solidFill>
                  <a:srgbClr val="FFFFFF"/>
                </a:solidFill>
                <a:latin typeface="Segoe UI"/>
              </a:rPr>
              <a:t>S2</a:t>
            </a:r>
          </a:p>
        </p:txBody>
      </p:sp>
      <p:sp>
        <p:nvSpPr>
          <p:cNvPr id="28" name="Oval 27"/>
          <p:cNvSpPr/>
          <p:nvPr/>
        </p:nvSpPr>
        <p:spPr>
          <a:xfrm>
            <a:off x="7735824" y="2980944"/>
            <a:ext cx="347472" cy="347472"/>
          </a:xfrm>
          <a:prstGeom prst="ellipse">
            <a:avLst/>
          </a:prstGeom>
          <a:solidFill>
            <a:srgbClr val="6B4FA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00" b="1" i="0">
                <a:solidFill>
                  <a:srgbClr val="FFFFFF"/>
                </a:solidFill>
                <a:latin typeface="Segoe UI"/>
              </a:rPr>
              <a:t>S3</a:t>
            </a:r>
          </a:p>
        </p:txBody>
      </p:sp>
      <p:sp>
        <p:nvSpPr>
          <p:cNvPr id="29" name="Oval 28"/>
          <p:cNvSpPr/>
          <p:nvPr/>
        </p:nvSpPr>
        <p:spPr>
          <a:xfrm>
            <a:off x="7545939" y="3689603"/>
            <a:ext cx="347472" cy="347472"/>
          </a:xfrm>
          <a:prstGeom prst="ellipse">
            <a:avLst/>
          </a:prstGeom>
          <a:solidFill>
            <a:srgbClr val="2E9E5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00" b="1" i="0">
                <a:solidFill>
                  <a:srgbClr val="FFFFFF"/>
                </a:solidFill>
                <a:latin typeface="Segoe UI"/>
              </a:rPr>
              <a:t>S4</a:t>
            </a:r>
          </a:p>
        </p:txBody>
      </p:sp>
      <p:sp>
        <p:nvSpPr>
          <p:cNvPr id="30" name="Oval 29"/>
          <p:cNvSpPr/>
          <p:nvPr/>
        </p:nvSpPr>
        <p:spPr>
          <a:xfrm>
            <a:off x="7027164" y="4208379"/>
            <a:ext cx="347472" cy="347472"/>
          </a:xfrm>
          <a:prstGeom prst="ellipse">
            <a:avLst/>
          </a:prstGeom>
          <a:solidFill>
            <a:srgbClr val="2F6FD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00" b="1" i="0">
                <a:solidFill>
                  <a:srgbClr val="FFFFFF"/>
                </a:solidFill>
                <a:latin typeface="Segoe UI"/>
              </a:rPr>
              <a:t>S5</a:t>
            </a:r>
          </a:p>
        </p:txBody>
      </p:sp>
      <p:sp>
        <p:nvSpPr>
          <p:cNvPr id="31" name="Oval 30"/>
          <p:cNvSpPr/>
          <p:nvPr/>
        </p:nvSpPr>
        <p:spPr>
          <a:xfrm>
            <a:off x="6318503" y="4398264"/>
            <a:ext cx="347472" cy="347472"/>
          </a:xfrm>
          <a:prstGeom prst="ellipse">
            <a:avLst/>
          </a:prstGeom>
          <a:solidFill>
            <a:srgbClr val="C2477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00" b="1" i="0">
                <a:solidFill>
                  <a:srgbClr val="FFFFFF"/>
                </a:solidFill>
                <a:latin typeface="Segoe UI"/>
              </a:rPr>
              <a:t>S6</a:t>
            </a:r>
          </a:p>
        </p:txBody>
      </p:sp>
      <p:sp>
        <p:nvSpPr>
          <p:cNvPr id="32" name="Oval 31"/>
          <p:cNvSpPr/>
          <p:nvPr/>
        </p:nvSpPr>
        <p:spPr>
          <a:xfrm>
            <a:off x="5609844" y="4208379"/>
            <a:ext cx="347472" cy="347472"/>
          </a:xfrm>
          <a:prstGeom prst="ellipse">
            <a:avLst/>
          </a:prstGeom>
          <a:solidFill>
            <a:srgbClr val="0F7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00" b="1" i="0">
                <a:solidFill>
                  <a:srgbClr val="FFFFFF"/>
                </a:solidFill>
                <a:latin typeface="Segoe UI"/>
              </a:rPr>
              <a:t>S1</a:t>
            </a:r>
          </a:p>
        </p:txBody>
      </p:sp>
      <p:sp>
        <p:nvSpPr>
          <p:cNvPr id="33" name="Oval 32"/>
          <p:cNvSpPr/>
          <p:nvPr/>
        </p:nvSpPr>
        <p:spPr>
          <a:xfrm>
            <a:off x="5091068" y="3689603"/>
            <a:ext cx="347472" cy="347472"/>
          </a:xfrm>
          <a:prstGeom prst="ellipse">
            <a:avLst/>
          </a:prstGeom>
          <a:solidFill>
            <a:srgbClr val="E8892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00" b="1" i="0">
                <a:solidFill>
                  <a:srgbClr val="FFFFFF"/>
                </a:solidFill>
                <a:latin typeface="Segoe UI"/>
              </a:rPr>
              <a:t>S2</a:t>
            </a:r>
          </a:p>
        </p:txBody>
      </p:sp>
      <p:sp>
        <p:nvSpPr>
          <p:cNvPr id="34" name="Oval 33"/>
          <p:cNvSpPr/>
          <p:nvPr/>
        </p:nvSpPr>
        <p:spPr>
          <a:xfrm>
            <a:off x="4901183" y="2980944"/>
            <a:ext cx="347472" cy="347472"/>
          </a:xfrm>
          <a:prstGeom prst="ellipse">
            <a:avLst/>
          </a:prstGeom>
          <a:solidFill>
            <a:srgbClr val="6B4FA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00" b="1" i="0">
                <a:solidFill>
                  <a:srgbClr val="FFFFFF"/>
                </a:solidFill>
                <a:latin typeface="Segoe UI"/>
              </a:rPr>
              <a:t>S3</a:t>
            </a:r>
          </a:p>
        </p:txBody>
      </p:sp>
      <p:sp>
        <p:nvSpPr>
          <p:cNvPr id="35" name="Oval 34"/>
          <p:cNvSpPr/>
          <p:nvPr/>
        </p:nvSpPr>
        <p:spPr>
          <a:xfrm>
            <a:off x="5091068" y="2272284"/>
            <a:ext cx="347472" cy="347472"/>
          </a:xfrm>
          <a:prstGeom prst="ellipse">
            <a:avLst/>
          </a:prstGeom>
          <a:solidFill>
            <a:srgbClr val="2E9E5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00" b="1" i="0">
                <a:solidFill>
                  <a:srgbClr val="FFFFFF"/>
                </a:solidFill>
                <a:latin typeface="Segoe UI"/>
              </a:rPr>
              <a:t>S4</a:t>
            </a:r>
          </a:p>
        </p:txBody>
      </p:sp>
      <p:sp>
        <p:nvSpPr>
          <p:cNvPr id="36" name="Oval 35"/>
          <p:cNvSpPr/>
          <p:nvPr/>
        </p:nvSpPr>
        <p:spPr>
          <a:xfrm>
            <a:off x="5609843" y="1753508"/>
            <a:ext cx="347472" cy="347472"/>
          </a:xfrm>
          <a:prstGeom prst="ellipse">
            <a:avLst/>
          </a:prstGeom>
          <a:solidFill>
            <a:srgbClr val="2F6FD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00" b="1" i="0">
                <a:solidFill>
                  <a:srgbClr val="FFFFFF"/>
                </a:solidFill>
                <a:latin typeface="Segoe UI"/>
              </a:rPr>
              <a:t>S5</a:t>
            </a:r>
          </a:p>
        </p:txBody>
      </p:sp>
      <p:sp>
        <p:nvSpPr>
          <p:cNvPr id="37" name="Oval 36"/>
          <p:cNvSpPr/>
          <p:nvPr/>
        </p:nvSpPr>
        <p:spPr>
          <a:xfrm>
            <a:off x="6318503" y="1563624"/>
            <a:ext cx="347472" cy="347472"/>
          </a:xfrm>
          <a:prstGeom prst="ellipse">
            <a:avLst/>
          </a:prstGeom>
          <a:solidFill>
            <a:srgbClr val="C2477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00" b="1" i="0">
                <a:solidFill>
                  <a:srgbClr val="FFFFFF"/>
                </a:solidFill>
                <a:latin typeface="Segoe UI"/>
              </a:rPr>
              <a:t>S6</a:t>
            </a:r>
          </a:p>
        </p:txBody>
      </p:sp>
      <p:sp>
        <p:nvSpPr>
          <p:cNvPr id="38" name="Oval 37"/>
          <p:cNvSpPr/>
          <p:nvPr/>
        </p:nvSpPr>
        <p:spPr>
          <a:xfrm>
            <a:off x="7687529" y="3347773"/>
            <a:ext cx="347472" cy="347472"/>
          </a:xfrm>
          <a:prstGeom prst="ellipse">
            <a:avLst/>
          </a:prstGeom>
          <a:solidFill>
            <a:srgbClr val="D645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00" b="1" i="0">
                <a:solidFill>
                  <a:srgbClr val="FFFFFF"/>
                </a:solidFill>
                <a:latin typeface="Segoe UI"/>
              </a:rPr>
              <a:t>S7</a:t>
            </a:r>
          </a:p>
        </p:txBody>
      </p:sp>
      <p:sp>
        <p:nvSpPr>
          <p:cNvPr id="39" name="Oval 38"/>
          <p:cNvSpPr/>
          <p:nvPr/>
        </p:nvSpPr>
        <p:spPr>
          <a:xfrm>
            <a:off x="4949478" y="2614114"/>
            <a:ext cx="347472" cy="347472"/>
          </a:xfrm>
          <a:prstGeom prst="ellipse">
            <a:avLst/>
          </a:prstGeom>
          <a:solidFill>
            <a:srgbClr val="D645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00" b="1" i="0">
                <a:solidFill>
                  <a:srgbClr val="FFFFFF"/>
                </a:solidFill>
                <a:latin typeface="Segoe UI"/>
              </a:rPr>
              <a:t>S7</a:t>
            </a:r>
          </a:p>
        </p:txBody>
      </p:sp>
      <p:sp>
        <p:nvSpPr>
          <p:cNvPr id="40" name="TextBox 39"/>
          <p:cNvSpPr txBox="1"/>
          <p:nvPr/>
        </p:nvSpPr>
        <p:spPr>
          <a:xfrm>
            <a:off x="8321040" y="1280160"/>
            <a:ext cx="3429000" cy="3291840"/>
          </a:xfrm>
          <a:prstGeom prst="rect">
            <a:avLst/>
          </a:prstGeom>
          <a:noFill/>
        </p:spPr>
        <p:txBody>
          <a:bodyPr wrap="square" anchor="t" lIns="36576" rIns="36576" tIns="36576" bIns="36576">
            <a:spAutoFit/>
          </a:bodyPr>
          <a:lstStyle/>
          <a:p>
            <a:pPr algn="l">
              <a:spcAft>
                <a:spcPts val="800"/>
              </a:spcAft>
            </a:pPr>
            <a:r>
              <a:rPr sz="1600" b="1" i="0">
                <a:solidFill>
                  <a:srgbClr val="0F7C8C"/>
                </a:solidFill>
                <a:latin typeface="Segoe UI"/>
              </a:rPr>
              <a:t>Non-disruptive growth</a:t>
            </a:r>
          </a:p>
          <a:p>
            <a:pPr algn="l">
              <a:spcAft>
                <a:spcPts val="600"/>
              </a:spcAft>
            </a:pPr>
            <a:r>
              <a:rPr sz="1300" b="0" i="0">
                <a:solidFill>
                  <a:srgbClr val="2B2F36"/>
                </a:solidFill>
                <a:latin typeface="Segoe UI"/>
              </a:rPr>
              <a:t>•  Expansion planned at ~70% utilization</a:t>
            </a:r>
          </a:p>
          <a:p>
            <a:pPr algn="l">
              <a:spcAft>
                <a:spcPts val="600"/>
              </a:spcAft>
            </a:pPr>
            <a:r>
              <a:rPr sz="1300" b="0" i="0">
                <a:solidFill>
                  <a:srgbClr val="2B2F36"/>
                </a:solidFill>
                <a:latin typeface="Segoe UI"/>
              </a:rPr>
              <a:t>•  New nodes take over specific key ranges</a:t>
            </a:r>
          </a:p>
          <a:p>
            <a:pPr algn="l">
              <a:spcAft>
                <a:spcPts val="600"/>
              </a:spcAft>
            </a:pPr>
            <a:r>
              <a:rPr sz="1300" b="0" i="0">
                <a:solidFill>
                  <a:srgbClr val="2B2F36"/>
                </a:solidFill>
                <a:latin typeface="Segoe UI"/>
              </a:rPr>
              <a:t>•  Only data in those ranges moves; all other data stays in place</a:t>
            </a:r>
          </a:p>
          <a:p>
            <a:pPr algn="l">
              <a:spcAft>
                <a:spcPts val="600"/>
              </a:spcAft>
            </a:pPr>
            <a:r>
              <a:rPr sz="1300" b="0" i="0">
                <a:solidFill>
                  <a:srgbClr val="2B2F36"/>
                </a:solidFill>
                <a:latin typeface="Segoe UI"/>
              </a:rPr>
              <a:t>•  Clients keep reading and writing during rebalance</a:t>
            </a:r>
          </a:p>
          <a:p>
            <a:pPr algn="l"/>
            <a:r>
              <a:rPr sz="1300" b="0" i="0">
                <a:solidFill>
                  <a:srgbClr val="2B2F36"/>
                </a:solidFill>
                <a:latin typeface="Segoe UI"/>
              </a:rPr>
              <a:t>•  Decommissioning works in reverse: evacuate, then remove</a:t>
            </a:r>
          </a:p>
        </p:txBody>
      </p:sp>
      <p:sp>
        <p:nvSpPr>
          <p:cNvPr id="41" name="Rounded Rectangle 40"/>
          <p:cNvSpPr/>
          <p:nvPr/>
        </p:nvSpPr>
        <p:spPr>
          <a:xfrm>
            <a:off x="457200" y="4892040"/>
            <a:ext cx="2697480" cy="128016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400"/>
              </a:spcAft>
            </a:pPr>
            <a:r>
              <a:rPr sz="1300" b="1" i="0">
                <a:solidFill>
                  <a:srgbClr val="1F2A44"/>
                </a:solidFill>
                <a:latin typeface="Segoe UI"/>
              </a:rPr>
              <a:t>Add hardware</a:t>
            </a:r>
          </a:p>
          <a:p>
            <a:pPr algn="ctr"/>
            <a:r>
              <a:rPr sz="1100" b="0" i="0">
                <a:solidFill>
                  <a:srgbClr val="5B6577"/>
                </a:solidFill>
                <a:latin typeface="Segoe UI"/>
              </a:rPr>
              <a:t>New servers added evenly across racks</a:t>
            </a:r>
          </a:p>
        </p:txBody>
      </p:sp>
      <p:sp>
        <p:nvSpPr>
          <p:cNvPr id="42" name="Oval 41"/>
          <p:cNvSpPr/>
          <p:nvPr/>
        </p:nvSpPr>
        <p:spPr>
          <a:xfrm>
            <a:off x="1618488" y="4681728"/>
            <a:ext cx="384048" cy="384048"/>
          </a:xfrm>
          <a:prstGeom prst="ellipse">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Segoe UI"/>
              </a:rPr>
              <a:t>1</a:t>
            </a:r>
          </a:p>
        </p:txBody>
      </p:sp>
      <p:cxnSp>
        <p:nvCxnSpPr>
          <p:cNvPr id="43" name="Connector 42"/>
          <p:cNvCxnSpPr/>
          <p:nvPr/>
        </p:nvCxnSpPr>
        <p:spPr>
          <a:xfrm>
            <a:off x="3154680" y="5532120"/>
            <a:ext cx="164592" cy="0"/>
          </a:xfrm>
          <a:prstGeom prst="line">
            <a:avLst/>
          </a:prstGeom>
          <a:ln w="2540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3319272" y="4892040"/>
            <a:ext cx="2697480" cy="128016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400"/>
              </a:spcAft>
            </a:pPr>
            <a:r>
              <a:rPr sz="1300" b="1" i="0">
                <a:solidFill>
                  <a:srgbClr val="1F2A44"/>
                </a:solidFill>
                <a:latin typeface="Segoe UI"/>
              </a:rPr>
              <a:t>Extend key plan</a:t>
            </a:r>
          </a:p>
          <a:p>
            <a:pPr algn="ctr"/>
            <a:r>
              <a:rPr sz="1100" b="0" i="0">
                <a:solidFill>
                  <a:srgbClr val="5B6577"/>
                </a:solidFill>
                <a:latin typeface="Segoe UI"/>
              </a:rPr>
              <a:t>New nodes assigned key ranges</a:t>
            </a:r>
          </a:p>
        </p:txBody>
      </p:sp>
      <p:sp>
        <p:nvSpPr>
          <p:cNvPr id="45" name="Oval 44"/>
          <p:cNvSpPr/>
          <p:nvPr/>
        </p:nvSpPr>
        <p:spPr>
          <a:xfrm>
            <a:off x="4480560" y="4681728"/>
            <a:ext cx="384048" cy="384048"/>
          </a:xfrm>
          <a:prstGeom prst="ellipse">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Segoe UI"/>
              </a:rPr>
              <a:t>2</a:t>
            </a:r>
          </a:p>
        </p:txBody>
      </p:sp>
      <p:cxnSp>
        <p:nvCxnSpPr>
          <p:cNvPr id="46" name="Connector 45"/>
          <p:cNvCxnSpPr/>
          <p:nvPr/>
        </p:nvCxnSpPr>
        <p:spPr>
          <a:xfrm>
            <a:off x="6016752" y="5532120"/>
            <a:ext cx="164592" cy="0"/>
          </a:xfrm>
          <a:prstGeom prst="line">
            <a:avLst/>
          </a:prstGeom>
          <a:ln w="2540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6181344" y="4892040"/>
            <a:ext cx="2697480" cy="128016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400"/>
              </a:spcAft>
            </a:pPr>
            <a:r>
              <a:rPr sz="1300" b="1" i="0">
                <a:solidFill>
                  <a:srgbClr val="1F2A44"/>
                </a:solidFill>
                <a:latin typeface="Segoe UI"/>
              </a:rPr>
              <a:t>Background rebalance</a:t>
            </a:r>
          </a:p>
          <a:p>
            <a:pPr algn="ctr"/>
            <a:r>
              <a:rPr sz="1100" b="0" i="0">
                <a:solidFill>
                  <a:srgbClr val="5B6577"/>
                </a:solidFill>
                <a:latin typeface="Segoe UI"/>
              </a:rPr>
              <a:t>Affected data migrates, throttled to protect client I/O</a:t>
            </a:r>
          </a:p>
        </p:txBody>
      </p:sp>
      <p:sp>
        <p:nvSpPr>
          <p:cNvPr id="48" name="Oval 47"/>
          <p:cNvSpPr/>
          <p:nvPr/>
        </p:nvSpPr>
        <p:spPr>
          <a:xfrm>
            <a:off x="7342631" y="4681728"/>
            <a:ext cx="384048" cy="384048"/>
          </a:xfrm>
          <a:prstGeom prst="ellipse">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Segoe UI"/>
              </a:rPr>
              <a:t>3</a:t>
            </a:r>
          </a:p>
        </p:txBody>
      </p:sp>
      <p:cxnSp>
        <p:nvCxnSpPr>
          <p:cNvPr id="49" name="Connector 48"/>
          <p:cNvCxnSpPr/>
          <p:nvPr/>
        </p:nvCxnSpPr>
        <p:spPr>
          <a:xfrm>
            <a:off x="8878824" y="5532120"/>
            <a:ext cx="164592" cy="0"/>
          </a:xfrm>
          <a:prstGeom prst="line">
            <a:avLst/>
          </a:prstGeom>
          <a:ln w="2540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9043416" y="4892040"/>
            <a:ext cx="2697480" cy="128016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400"/>
              </a:spcAft>
            </a:pPr>
            <a:r>
              <a:rPr sz="1300" b="1" i="0">
                <a:solidFill>
                  <a:srgbClr val="1F2A44"/>
                </a:solidFill>
                <a:latin typeface="Segoe UI"/>
              </a:rPr>
              <a:t>More capacity &amp; throughput</a:t>
            </a:r>
          </a:p>
          <a:p>
            <a:pPr algn="ctr"/>
            <a:r>
              <a:rPr sz="1100" b="0" i="0">
                <a:solidFill>
                  <a:srgbClr val="5B6577"/>
                </a:solidFill>
                <a:latin typeface="Segoe UI"/>
              </a:rPr>
              <a:t>No downtime, no client reconfiguration</a:t>
            </a:r>
          </a:p>
        </p:txBody>
      </p:sp>
      <p:sp>
        <p:nvSpPr>
          <p:cNvPr id="51" name="Oval 50"/>
          <p:cNvSpPr/>
          <p:nvPr/>
        </p:nvSpPr>
        <p:spPr>
          <a:xfrm>
            <a:off x="10204704" y="4681728"/>
            <a:ext cx="384048" cy="384048"/>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Segoe UI"/>
              </a:rPr>
              <a:t>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 name="Rectangle 2"/>
          <p:cNvSpPr/>
          <p:nvPr/>
        </p:nvSpPr>
        <p:spPr>
          <a:xfrm>
            <a:off x="0" y="914400"/>
            <a:ext cx="12191695" cy="54864"/>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4" name="TextBox 3"/>
          <p:cNvSpPr txBox="1"/>
          <p:nvPr/>
        </p:nvSpPr>
        <p:spPr>
          <a:xfrm>
            <a:off x="457200" y="91440"/>
            <a:ext cx="11247120" cy="502920"/>
          </a:xfrm>
          <a:prstGeom prst="rect">
            <a:avLst/>
          </a:prstGeom>
          <a:noFill/>
        </p:spPr>
        <p:txBody>
          <a:bodyPr wrap="square" anchor="ctr" lIns="36576" rIns="36576" tIns="36576" bIns="36576">
            <a:spAutoFit/>
          </a:bodyPr>
          <a:lstStyle/>
          <a:p>
            <a:pPr algn="l"/>
            <a:r>
              <a:rPr sz="2600" b="1" i="0">
                <a:solidFill>
                  <a:srgbClr val="FFFFFF"/>
                </a:solidFill>
                <a:latin typeface="Segoe UI"/>
              </a:rPr>
              <a:t>Multi-Site and Disaster Recovery</a:t>
            </a:r>
          </a:p>
        </p:txBody>
      </p:sp>
      <p:sp>
        <p:nvSpPr>
          <p:cNvPr id="5" name="TextBox 4"/>
          <p:cNvSpPr txBox="1"/>
          <p:nvPr/>
        </p:nvSpPr>
        <p:spPr>
          <a:xfrm>
            <a:off x="457200" y="548640"/>
            <a:ext cx="11247120" cy="320040"/>
          </a:xfrm>
          <a:prstGeom prst="rect">
            <a:avLst/>
          </a:prstGeom>
          <a:noFill/>
        </p:spPr>
        <p:txBody>
          <a:bodyPr wrap="square" anchor="t" lIns="36576" rIns="36576" tIns="36576" bIns="36576">
            <a:spAutoFit/>
          </a:bodyPr>
          <a:lstStyle/>
          <a:p>
            <a:pPr algn="l"/>
            <a:r>
              <a:rPr sz="1300" b="0" i="0">
                <a:solidFill>
                  <a:srgbClr val="C9D3E3"/>
                </a:solidFill>
                <a:latin typeface="Segoe UI"/>
              </a:rPr>
              <a:t>Choose by recovery objective and distance</a:t>
            </a:r>
          </a:p>
        </p:txBody>
      </p:sp>
      <p:sp>
        <p:nvSpPr>
          <p:cNvPr id="6" name="TextBox 5"/>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i="0">
                <a:solidFill>
                  <a:srgbClr val="5B6577"/>
                </a:solidFill>
                <a:latin typeface="Segoe UI"/>
              </a:rPr>
              <a:t>Scality RING  |  Architecture, Deployment &amp; Operations</a:t>
            </a:r>
          </a:p>
        </p:txBody>
      </p:sp>
      <p:sp>
        <p:nvSpPr>
          <p:cNvPr id="7" name="TextBox 6"/>
          <p:cNvSpPr txBox="1"/>
          <p:nvPr/>
        </p:nvSpPr>
        <p:spPr>
          <a:xfrm>
            <a:off x="10789920" y="6473952"/>
            <a:ext cx="914400" cy="274320"/>
          </a:xfrm>
          <a:prstGeom prst="rect">
            <a:avLst/>
          </a:prstGeom>
          <a:noFill/>
        </p:spPr>
        <p:txBody>
          <a:bodyPr wrap="square" anchor="t" lIns="36576" rIns="36576" tIns="36576" bIns="36576">
            <a:spAutoFit/>
          </a:bodyPr>
          <a:lstStyle/>
          <a:p>
            <a:pPr algn="r"/>
            <a:r>
              <a:rPr sz="1000" b="0" i="0">
                <a:solidFill>
                  <a:srgbClr val="5B6577"/>
                </a:solidFill>
                <a:latin typeface="Segoe UI"/>
              </a:rPr>
              <a:t>14</a:t>
            </a:r>
          </a:p>
        </p:txBody>
      </p:sp>
      <p:sp>
        <p:nvSpPr>
          <p:cNvPr id="8" name="Rounded Rectangle 7"/>
          <p:cNvSpPr/>
          <p:nvPr/>
        </p:nvSpPr>
        <p:spPr>
          <a:xfrm>
            <a:off x="457200" y="1234440"/>
            <a:ext cx="5486400" cy="320040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9" name="TextBox 8"/>
          <p:cNvSpPr txBox="1"/>
          <p:nvPr/>
        </p:nvSpPr>
        <p:spPr>
          <a:xfrm>
            <a:off x="640080" y="1298448"/>
            <a:ext cx="5120640" cy="320040"/>
          </a:xfrm>
          <a:prstGeom prst="rect">
            <a:avLst/>
          </a:prstGeom>
          <a:noFill/>
        </p:spPr>
        <p:txBody>
          <a:bodyPr wrap="square" anchor="t" lIns="36576" rIns="36576" tIns="36576" bIns="36576">
            <a:spAutoFit/>
          </a:bodyPr>
          <a:lstStyle/>
          <a:p>
            <a:pPr algn="l"/>
            <a:r>
              <a:rPr sz="1400" b="1" i="0">
                <a:solidFill>
                  <a:srgbClr val="0F7C8C"/>
                </a:solidFill>
                <a:latin typeface="Segoe UI"/>
              </a:rPr>
              <a:t>Stretched cluster: synchronous</a:t>
            </a:r>
          </a:p>
        </p:txBody>
      </p:sp>
      <p:sp>
        <p:nvSpPr>
          <p:cNvPr id="10" name="Rounded Rectangle 9"/>
          <p:cNvSpPr/>
          <p:nvPr/>
        </p:nvSpPr>
        <p:spPr>
          <a:xfrm>
            <a:off x="822960" y="1828800"/>
            <a:ext cx="1737360" cy="960120"/>
          </a:xfrm>
          <a:prstGeom prst="roundRect">
            <a:avLst>
              <a:gd name="adj" fmla="val 10000"/>
            </a:avLst>
          </a:prstGeom>
          <a:solidFill>
            <a:srgbClr val="FFFFFF"/>
          </a:solidFill>
          <a:ln w="1905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1F2A44"/>
                </a:solidFill>
                <a:latin typeface="Segoe UI"/>
              </a:rPr>
              <a:t>Site A</a:t>
            </a:r>
          </a:p>
          <a:p>
            <a:pPr algn="ctr"/>
            <a:r>
              <a:rPr sz="1050" b="0" i="0">
                <a:solidFill>
                  <a:srgbClr val="5B6577"/>
                </a:solidFill>
                <a:latin typeface="Segoe UI"/>
              </a:rPr>
              <a:t>4 fragments · 2 metadata</a:t>
            </a:r>
          </a:p>
        </p:txBody>
      </p:sp>
      <p:sp>
        <p:nvSpPr>
          <p:cNvPr id="11" name="Rounded Rectangle 10"/>
          <p:cNvSpPr/>
          <p:nvPr/>
        </p:nvSpPr>
        <p:spPr>
          <a:xfrm>
            <a:off x="3566160" y="1828800"/>
            <a:ext cx="1737360" cy="960120"/>
          </a:xfrm>
          <a:prstGeom prst="roundRect">
            <a:avLst>
              <a:gd name="adj" fmla="val 10000"/>
            </a:avLst>
          </a:prstGeom>
          <a:solidFill>
            <a:srgbClr val="FFFFFF"/>
          </a:solidFill>
          <a:ln w="1905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1F2A44"/>
                </a:solidFill>
                <a:latin typeface="Segoe UI"/>
              </a:rPr>
              <a:t>Site B</a:t>
            </a:r>
          </a:p>
          <a:p>
            <a:pPr algn="ctr"/>
            <a:r>
              <a:rPr sz="1050" b="0" i="0">
                <a:solidFill>
                  <a:srgbClr val="5B6577"/>
                </a:solidFill>
                <a:latin typeface="Segoe UI"/>
              </a:rPr>
              <a:t>4 fragments · 2 metadata</a:t>
            </a:r>
          </a:p>
        </p:txBody>
      </p:sp>
      <p:sp>
        <p:nvSpPr>
          <p:cNvPr id="12" name="Rounded Rectangle 11"/>
          <p:cNvSpPr/>
          <p:nvPr/>
        </p:nvSpPr>
        <p:spPr>
          <a:xfrm>
            <a:off x="2194560" y="3246120"/>
            <a:ext cx="1737360" cy="960120"/>
          </a:xfrm>
          <a:prstGeom prst="roundRect">
            <a:avLst>
              <a:gd name="adj" fmla="val 10000"/>
            </a:avLst>
          </a:prstGeom>
          <a:solidFill>
            <a:srgbClr val="FFFFFF"/>
          </a:solidFill>
          <a:ln w="1905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1F2A44"/>
                </a:solidFill>
                <a:latin typeface="Segoe UI"/>
              </a:rPr>
              <a:t>Site C</a:t>
            </a:r>
          </a:p>
          <a:p>
            <a:pPr algn="ctr"/>
            <a:r>
              <a:rPr sz="1050" b="0" i="0">
                <a:solidFill>
                  <a:srgbClr val="5B6577"/>
                </a:solidFill>
                <a:latin typeface="Segoe UI"/>
              </a:rPr>
              <a:t>4 fragments · 1 metadata</a:t>
            </a:r>
          </a:p>
        </p:txBody>
      </p:sp>
      <p:cxnSp>
        <p:nvCxnSpPr>
          <p:cNvPr id="13" name="Connector 12"/>
          <p:cNvCxnSpPr/>
          <p:nvPr/>
        </p:nvCxnSpPr>
        <p:spPr>
          <a:xfrm>
            <a:off x="2560320" y="2304288"/>
            <a:ext cx="1005840" cy="0"/>
          </a:xfrm>
          <a:prstGeom prst="line">
            <a:avLst/>
          </a:prstGeom>
          <a:ln w="19050">
            <a:solidFill>
              <a:srgbClr val="0F7C8C"/>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691640" y="2788920"/>
            <a:ext cx="685800" cy="457200"/>
          </a:xfrm>
          <a:prstGeom prst="line">
            <a:avLst/>
          </a:prstGeom>
          <a:ln w="19050">
            <a:solidFill>
              <a:srgbClr val="0F7C8C"/>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3749039" y="2788920"/>
            <a:ext cx="685801" cy="457200"/>
          </a:xfrm>
          <a:prstGeom prst="line">
            <a:avLst/>
          </a:prstGeom>
          <a:ln w="19050">
            <a:solidFill>
              <a:srgbClr val="0F7C8C"/>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7200" y="4480560"/>
            <a:ext cx="5486400" cy="640080"/>
          </a:xfrm>
          <a:prstGeom prst="rect">
            <a:avLst/>
          </a:prstGeom>
          <a:noFill/>
        </p:spPr>
        <p:txBody>
          <a:bodyPr wrap="square" anchor="t" lIns="36576" rIns="36576" tIns="36576" bIns="36576">
            <a:spAutoFit/>
          </a:bodyPr>
          <a:lstStyle/>
          <a:p>
            <a:pPr algn="l"/>
            <a:r>
              <a:rPr sz="1200" b="0" i="0">
                <a:solidFill>
                  <a:srgbClr val="2B2F36"/>
                </a:solidFill>
                <a:latin typeface="Segoe UI"/>
              </a:rPr>
              <a:t>ARC 7+5  ·  survives loss of an entire site</a:t>
            </a:r>
          </a:p>
          <a:p>
            <a:pPr algn="l"/>
            <a:r>
              <a:rPr sz="1200" b="0" i="0">
                <a:solidFill>
                  <a:srgbClr val="2B2F36"/>
                </a:solidFill>
                <a:latin typeface="Segoe UI"/>
              </a:rPr>
              <a:t>RPO = 0  ·  automatic continuity  ·  metro distance</a:t>
            </a:r>
          </a:p>
        </p:txBody>
      </p:sp>
      <p:sp>
        <p:nvSpPr>
          <p:cNvPr id="17" name="Rounded Rectangle 16"/>
          <p:cNvSpPr/>
          <p:nvPr/>
        </p:nvSpPr>
        <p:spPr>
          <a:xfrm>
            <a:off x="6263640" y="1234440"/>
            <a:ext cx="5486400" cy="320040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8" name="TextBox 17"/>
          <p:cNvSpPr txBox="1"/>
          <p:nvPr/>
        </p:nvSpPr>
        <p:spPr>
          <a:xfrm>
            <a:off x="6446520" y="1298448"/>
            <a:ext cx="5120640" cy="320040"/>
          </a:xfrm>
          <a:prstGeom prst="rect">
            <a:avLst/>
          </a:prstGeom>
          <a:noFill/>
        </p:spPr>
        <p:txBody>
          <a:bodyPr wrap="square" anchor="t" lIns="36576" rIns="36576" tIns="36576" bIns="36576">
            <a:spAutoFit/>
          </a:bodyPr>
          <a:lstStyle/>
          <a:p>
            <a:pPr algn="l"/>
            <a:r>
              <a:rPr sz="1400" b="1" i="0">
                <a:solidFill>
                  <a:srgbClr val="E8892B"/>
                </a:solidFill>
                <a:latin typeface="Segoe UI"/>
              </a:rPr>
              <a:t>Asynchronous replication: any distance</a:t>
            </a:r>
          </a:p>
        </p:txBody>
      </p:sp>
      <p:sp>
        <p:nvSpPr>
          <p:cNvPr id="19" name="Rounded Rectangle 18"/>
          <p:cNvSpPr/>
          <p:nvPr/>
        </p:nvSpPr>
        <p:spPr>
          <a:xfrm>
            <a:off x="6583680" y="2240280"/>
            <a:ext cx="2011680" cy="1188720"/>
          </a:xfrm>
          <a:prstGeom prst="roundRect">
            <a:avLst>
              <a:gd name="adj" fmla="val 10000"/>
            </a:avLst>
          </a:prstGeom>
          <a:solidFill>
            <a:srgbClr val="FFFFFF"/>
          </a:solidFill>
          <a:ln w="19050">
            <a:solidFill>
              <a:srgbClr val="E8892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1F2A44"/>
                </a:solidFill>
                <a:latin typeface="Segoe UI"/>
              </a:rPr>
              <a:t>Primary site</a:t>
            </a:r>
          </a:p>
          <a:p>
            <a:pPr algn="ctr"/>
            <a:r>
              <a:rPr sz="1100" b="0" i="0">
                <a:solidFill>
                  <a:srgbClr val="5B6577"/>
                </a:solidFill>
                <a:latin typeface="Segoe UI"/>
              </a:rPr>
              <a:t>RING cluster 1</a:t>
            </a:r>
          </a:p>
        </p:txBody>
      </p:sp>
      <p:sp>
        <p:nvSpPr>
          <p:cNvPr id="20" name="Rounded Rectangle 19"/>
          <p:cNvSpPr/>
          <p:nvPr/>
        </p:nvSpPr>
        <p:spPr>
          <a:xfrm>
            <a:off x="9418320" y="2240280"/>
            <a:ext cx="2011680" cy="1188720"/>
          </a:xfrm>
          <a:prstGeom prst="roundRect">
            <a:avLst>
              <a:gd name="adj" fmla="val 10000"/>
            </a:avLst>
          </a:prstGeom>
          <a:solidFill>
            <a:srgbClr val="FFFFFF"/>
          </a:solidFill>
          <a:ln w="19050">
            <a:solidFill>
              <a:srgbClr val="E8892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1F2A44"/>
                </a:solidFill>
                <a:latin typeface="Segoe UI"/>
              </a:rPr>
              <a:t>DR site</a:t>
            </a:r>
          </a:p>
          <a:p>
            <a:pPr algn="ctr"/>
            <a:r>
              <a:rPr sz="1100" b="0" i="0">
                <a:solidFill>
                  <a:srgbClr val="5B6577"/>
                </a:solidFill>
                <a:latin typeface="Segoe UI"/>
              </a:rPr>
              <a:t>RING cluster 2</a:t>
            </a:r>
          </a:p>
        </p:txBody>
      </p:sp>
      <p:cxnSp>
        <p:nvCxnSpPr>
          <p:cNvPr id="21" name="Connector 20"/>
          <p:cNvCxnSpPr/>
          <p:nvPr/>
        </p:nvCxnSpPr>
        <p:spPr>
          <a:xfrm>
            <a:off x="8595360" y="2834640"/>
            <a:ext cx="822960" cy="0"/>
          </a:xfrm>
          <a:prstGeom prst="line">
            <a:avLst/>
          </a:prstGeom>
          <a:ln w="31750">
            <a:solidFill>
              <a:srgbClr val="E88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412480" y="2377440"/>
            <a:ext cx="1188720" cy="365760"/>
          </a:xfrm>
          <a:prstGeom prst="rect">
            <a:avLst/>
          </a:prstGeom>
          <a:noFill/>
        </p:spPr>
        <p:txBody>
          <a:bodyPr wrap="square" anchor="t" lIns="36576" rIns="36576" tIns="36576" bIns="36576">
            <a:spAutoFit/>
          </a:bodyPr>
          <a:lstStyle/>
          <a:p>
            <a:pPr algn="ctr"/>
            <a:r>
              <a:rPr sz="1050" b="0" i="0">
                <a:solidFill>
                  <a:srgbClr val="E8892B"/>
                </a:solidFill>
                <a:latin typeface="Segoe UI"/>
              </a:rPr>
              <a:t>async copy</a:t>
            </a:r>
          </a:p>
        </p:txBody>
      </p:sp>
      <p:sp>
        <p:nvSpPr>
          <p:cNvPr id="23" name="TextBox 22"/>
          <p:cNvSpPr txBox="1"/>
          <p:nvPr/>
        </p:nvSpPr>
        <p:spPr>
          <a:xfrm>
            <a:off x="6263640" y="4480560"/>
            <a:ext cx="5486400" cy="640080"/>
          </a:xfrm>
          <a:prstGeom prst="rect">
            <a:avLst/>
          </a:prstGeom>
          <a:noFill/>
        </p:spPr>
        <p:txBody>
          <a:bodyPr wrap="square" anchor="t" lIns="36576" rIns="36576" tIns="36576" bIns="36576">
            <a:spAutoFit/>
          </a:bodyPr>
          <a:lstStyle/>
          <a:p>
            <a:pPr algn="l"/>
            <a:r>
              <a:rPr sz="1200" b="0" i="0">
                <a:solidFill>
                  <a:srgbClr val="2B2F36"/>
                </a:solidFill>
                <a:latin typeface="Segoe UI"/>
              </a:rPr>
              <a:t>Independent clusters  ·  any distance</a:t>
            </a:r>
          </a:p>
          <a:p>
            <a:pPr algn="l"/>
            <a:r>
              <a:rPr sz="1200" b="0" i="0">
                <a:solidFill>
                  <a:srgbClr val="2B2F36"/>
                </a:solidFill>
                <a:latin typeface="Segoe UI"/>
              </a:rPr>
              <a:t>RPO = seconds to minutes  ·  controlled failover</a:t>
            </a:r>
          </a:p>
        </p:txBody>
      </p:sp>
      <p:graphicFrame>
        <p:nvGraphicFramePr>
          <p:cNvPr id="24" name="Table 23"/>
          <p:cNvGraphicFramePr>
            <a:graphicFrameLocks noGrp="1"/>
          </p:cNvGraphicFramePr>
          <p:nvPr/>
        </p:nvGraphicFramePr>
        <p:xfrm>
          <a:off x="457200" y="5120640"/>
          <a:ext cx="11292840" cy="1234440"/>
        </p:xfrm>
        <a:graphic>
          <a:graphicData uri="http://schemas.openxmlformats.org/drawingml/2006/table">
            <a:tbl>
              <a:tblPr firstRow="1" bandRow="1">
                <a:tableStyleId>{5C22544A-7EE6-4342-B048-85BDC9FD1C3A}</a:tableStyleId>
              </a:tblPr>
              <a:tblGrid>
                <a:gridCol w="2743200"/>
                <a:gridCol w="2194560"/>
                <a:gridCol w="2194560"/>
                <a:gridCol w="1645920"/>
                <a:gridCol w="2514600"/>
              </a:tblGrid>
              <a:tr h="246888">
                <a:tc>
                  <a:txBody>
                    <a:bodyPr wrap="square"/>
                    <a:lstStyle/>
                    <a:p>
                      <a:r>
                        <a:rPr sz="1000" b="1" i="0">
                          <a:solidFill>
                            <a:srgbClr val="FFFFFF"/>
                          </a:solidFill>
                          <a:latin typeface="Segoe UI"/>
                        </a:rPr>
                        <a:t>Option</a:t>
                      </a:r>
                    </a:p>
                  </a:txBody>
                  <a:tcPr marL="73152" marR="73152" marT="27432" marB="27432" anchor="ctr">
                    <a:solidFill>
                      <a:srgbClr val="1F2A44"/>
                    </a:solidFill>
                  </a:tcPr>
                </a:tc>
                <a:tc>
                  <a:txBody>
                    <a:bodyPr wrap="square"/>
                    <a:lstStyle/>
                    <a:p>
                      <a:r>
                        <a:rPr sz="1000" b="1" i="0">
                          <a:solidFill>
                            <a:srgbClr val="FFFFFF"/>
                          </a:solidFill>
                          <a:latin typeface="Segoe UI"/>
                        </a:rPr>
                        <a:t>Data loss (RPO)</a:t>
                      </a:r>
                    </a:p>
                  </a:txBody>
                  <a:tcPr marL="73152" marR="73152" marT="27432" marB="27432" anchor="ctr">
                    <a:solidFill>
                      <a:srgbClr val="1F2A44"/>
                    </a:solidFill>
                  </a:tcPr>
                </a:tc>
                <a:tc>
                  <a:txBody>
                    <a:bodyPr wrap="square"/>
                    <a:lstStyle/>
                    <a:p>
                      <a:r>
                        <a:rPr sz="1000" b="1" i="0">
                          <a:solidFill>
                            <a:srgbClr val="FFFFFF"/>
                          </a:solidFill>
                          <a:latin typeface="Segoe UI"/>
                        </a:rPr>
                        <a:t>Recovery (RTO)</a:t>
                      </a:r>
                    </a:p>
                  </a:txBody>
                  <a:tcPr marL="73152" marR="73152" marT="27432" marB="27432" anchor="ctr">
                    <a:solidFill>
                      <a:srgbClr val="1F2A44"/>
                    </a:solidFill>
                  </a:tcPr>
                </a:tc>
                <a:tc>
                  <a:txBody>
                    <a:bodyPr wrap="square"/>
                    <a:lstStyle/>
                    <a:p>
                      <a:r>
                        <a:rPr sz="1000" b="1" i="0">
                          <a:solidFill>
                            <a:srgbClr val="FFFFFF"/>
                          </a:solidFill>
                          <a:latin typeface="Segoe UI"/>
                        </a:rPr>
                        <a:t>Distance</a:t>
                      </a:r>
                    </a:p>
                  </a:txBody>
                  <a:tcPr marL="73152" marR="73152" marT="27432" marB="27432" anchor="ctr">
                    <a:solidFill>
                      <a:srgbClr val="1F2A44"/>
                    </a:solidFill>
                  </a:tcPr>
                </a:tc>
                <a:tc>
                  <a:txBody>
                    <a:bodyPr wrap="square"/>
                    <a:lstStyle/>
                    <a:p>
                      <a:r>
                        <a:rPr sz="1000" b="1" i="0">
                          <a:solidFill>
                            <a:srgbClr val="FFFFFF"/>
                          </a:solidFill>
                          <a:latin typeface="Segoe UI"/>
                        </a:rPr>
                        <a:t>Capacity overhead</a:t>
                      </a:r>
                    </a:p>
                  </a:txBody>
                  <a:tcPr marL="73152" marR="73152" marT="27432" marB="27432" anchor="ctr">
                    <a:solidFill>
                      <a:srgbClr val="1F2A44"/>
                    </a:solidFill>
                  </a:tcPr>
                </a:tc>
              </a:tr>
              <a:tr h="246888">
                <a:tc>
                  <a:txBody>
                    <a:bodyPr wrap="square"/>
                    <a:lstStyle/>
                    <a:p>
                      <a:r>
                        <a:rPr sz="1000" b="1" i="0">
                          <a:solidFill>
                            <a:srgbClr val="2B2F36"/>
                          </a:solidFill>
                          <a:latin typeface="Segoe UI"/>
                        </a:rPr>
                        <a:t>Single site</a:t>
                      </a:r>
                    </a:p>
                  </a:txBody>
                  <a:tcPr marL="73152" marR="73152" marT="27432" marB="27432" anchor="ctr">
                    <a:solidFill>
                      <a:srgbClr val="FFFFFF"/>
                    </a:solidFill>
                  </a:tcPr>
                </a:tc>
                <a:tc>
                  <a:txBody>
                    <a:bodyPr wrap="square"/>
                    <a:lstStyle/>
                    <a:p>
                      <a:r>
                        <a:rPr sz="1000" b="0" i="0">
                          <a:solidFill>
                            <a:srgbClr val="2B2F36"/>
                          </a:solidFill>
                          <a:latin typeface="Segoe UI"/>
                        </a:rPr>
                        <a:t>n/a</a:t>
                      </a:r>
                    </a:p>
                  </a:txBody>
                  <a:tcPr marL="73152" marR="73152" marT="27432" marB="27432" anchor="ctr">
                    <a:solidFill>
                      <a:srgbClr val="FFFFFF"/>
                    </a:solidFill>
                  </a:tcPr>
                </a:tc>
                <a:tc>
                  <a:txBody>
                    <a:bodyPr wrap="square"/>
                    <a:lstStyle/>
                    <a:p>
                      <a:r>
                        <a:rPr sz="1000" b="0" i="0">
                          <a:solidFill>
                            <a:srgbClr val="2B2F36"/>
                          </a:solidFill>
                          <a:latin typeface="Segoe UI"/>
                        </a:rPr>
                        <a:t>n/a</a:t>
                      </a:r>
                    </a:p>
                  </a:txBody>
                  <a:tcPr marL="73152" marR="73152" marT="27432" marB="27432" anchor="ctr">
                    <a:solidFill>
                      <a:srgbClr val="FFFFFF"/>
                    </a:solidFill>
                  </a:tcPr>
                </a:tc>
                <a:tc>
                  <a:txBody>
                    <a:bodyPr wrap="square"/>
                    <a:lstStyle/>
                    <a:p>
                      <a:r>
                        <a:rPr sz="1000" b="0" i="0">
                          <a:solidFill>
                            <a:srgbClr val="2B2F36"/>
                          </a:solidFill>
                          <a:latin typeface="Segoe UI"/>
                        </a:rPr>
                        <a:t>n/a</a:t>
                      </a:r>
                    </a:p>
                  </a:txBody>
                  <a:tcPr marL="73152" marR="73152" marT="27432" marB="27432" anchor="ctr">
                    <a:solidFill>
                      <a:srgbClr val="FFFFFF"/>
                    </a:solidFill>
                  </a:tcPr>
                </a:tc>
                <a:tc>
                  <a:txBody>
                    <a:bodyPr wrap="square"/>
                    <a:lstStyle/>
                    <a:p>
                      <a:r>
                        <a:rPr sz="1000" b="0" i="0">
                          <a:solidFill>
                            <a:srgbClr val="2B2F36"/>
                          </a:solidFill>
                          <a:latin typeface="Segoe UI"/>
                        </a:rPr>
                        <a:t>Lowest</a:t>
                      </a:r>
                    </a:p>
                  </a:txBody>
                  <a:tcPr marL="73152" marR="73152" marT="27432" marB="27432" anchor="ctr">
                    <a:solidFill>
                      <a:srgbClr val="FFFFFF"/>
                    </a:solidFill>
                  </a:tcPr>
                </a:tc>
              </a:tr>
              <a:tr h="246888">
                <a:tc>
                  <a:txBody>
                    <a:bodyPr wrap="square"/>
                    <a:lstStyle/>
                    <a:p>
                      <a:r>
                        <a:rPr sz="1000" b="1" i="0">
                          <a:solidFill>
                            <a:srgbClr val="2B2F36"/>
                          </a:solidFill>
                          <a:latin typeface="Segoe UI"/>
                        </a:rPr>
                        <a:t>Two sites + witness</a:t>
                      </a:r>
                    </a:p>
                  </a:txBody>
                  <a:tcPr marL="73152" marR="73152" marT="27432" marB="27432" anchor="ctr">
                    <a:solidFill>
                      <a:srgbClr val="F2F4F7"/>
                    </a:solidFill>
                  </a:tcPr>
                </a:tc>
                <a:tc>
                  <a:txBody>
                    <a:bodyPr wrap="square"/>
                    <a:lstStyle/>
                    <a:p>
                      <a:r>
                        <a:rPr sz="1000" b="0" i="0">
                          <a:solidFill>
                            <a:srgbClr val="2B2F36"/>
                          </a:solidFill>
                          <a:latin typeface="Segoe UI"/>
                        </a:rPr>
                        <a:t>Zero</a:t>
                      </a:r>
                    </a:p>
                  </a:txBody>
                  <a:tcPr marL="73152" marR="73152" marT="27432" marB="27432" anchor="ctr">
                    <a:solidFill>
                      <a:srgbClr val="F2F4F7"/>
                    </a:solidFill>
                  </a:tcPr>
                </a:tc>
                <a:tc>
                  <a:txBody>
                    <a:bodyPr wrap="square"/>
                    <a:lstStyle/>
                    <a:p>
                      <a:r>
                        <a:rPr sz="1000" b="0" i="0">
                          <a:solidFill>
                            <a:srgbClr val="2B2F36"/>
                          </a:solidFill>
                          <a:latin typeface="Segoe UI"/>
                        </a:rPr>
                        <a:t>Automatic</a:t>
                      </a:r>
                    </a:p>
                  </a:txBody>
                  <a:tcPr marL="73152" marR="73152" marT="27432" marB="27432" anchor="ctr">
                    <a:solidFill>
                      <a:srgbClr val="F2F4F7"/>
                    </a:solidFill>
                  </a:tcPr>
                </a:tc>
                <a:tc>
                  <a:txBody>
                    <a:bodyPr wrap="square"/>
                    <a:lstStyle/>
                    <a:p>
                      <a:r>
                        <a:rPr sz="1000" b="0" i="0">
                          <a:solidFill>
                            <a:srgbClr val="2B2F36"/>
                          </a:solidFill>
                          <a:latin typeface="Segoe UI"/>
                        </a:rPr>
                        <a:t>Metro</a:t>
                      </a:r>
                    </a:p>
                  </a:txBody>
                  <a:tcPr marL="73152" marR="73152" marT="27432" marB="27432" anchor="ctr">
                    <a:solidFill>
                      <a:srgbClr val="F2F4F7"/>
                    </a:solidFill>
                  </a:tcPr>
                </a:tc>
                <a:tc>
                  <a:txBody>
                    <a:bodyPr wrap="square"/>
                    <a:lstStyle/>
                    <a:p>
                      <a:r>
                        <a:rPr sz="1000" b="0" i="0">
                          <a:solidFill>
                            <a:srgbClr val="2B2F36"/>
                          </a:solidFill>
                          <a:latin typeface="Segoe UI"/>
                        </a:rPr>
                        <a:t>Higher</a:t>
                      </a:r>
                    </a:p>
                  </a:txBody>
                  <a:tcPr marL="73152" marR="73152" marT="27432" marB="27432" anchor="ctr">
                    <a:solidFill>
                      <a:srgbClr val="F2F4F7"/>
                    </a:solidFill>
                  </a:tcPr>
                </a:tc>
              </a:tr>
              <a:tr h="246888">
                <a:tc>
                  <a:txBody>
                    <a:bodyPr wrap="square"/>
                    <a:lstStyle/>
                    <a:p>
                      <a:r>
                        <a:rPr sz="1000" b="1" i="0">
                          <a:solidFill>
                            <a:srgbClr val="2B2F36"/>
                          </a:solidFill>
                          <a:latin typeface="Segoe UI"/>
                        </a:rPr>
                        <a:t>Stretched, three sites</a:t>
                      </a:r>
                    </a:p>
                  </a:txBody>
                  <a:tcPr marL="73152" marR="73152" marT="27432" marB="27432" anchor="ctr">
                    <a:solidFill>
                      <a:srgbClr val="FFFFFF"/>
                    </a:solidFill>
                  </a:tcPr>
                </a:tc>
                <a:tc>
                  <a:txBody>
                    <a:bodyPr wrap="square"/>
                    <a:lstStyle/>
                    <a:p>
                      <a:r>
                        <a:rPr sz="1000" b="0" i="0">
                          <a:solidFill>
                            <a:srgbClr val="2B2F36"/>
                          </a:solidFill>
                          <a:latin typeface="Segoe UI"/>
                        </a:rPr>
                        <a:t>Zero</a:t>
                      </a:r>
                    </a:p>
                  </a:txBody>
                  <a:tcPr marL="73152" marR="73152" marT="27432" marB="27432" anchor="ctr">
                    <a:solidFill>
                      <a:srgbClr val="FFFFFF"/>
                    </a:solidFill>
                  </a:tcPr>
                </a:tc>
                <a:tc>
                  <a:txBody>
                    <a:bodyPr wrap="square"/>
                    <a:lstStyle/>
                    <a:p>
                      <a:r>
                        <a:rPr sz="1000" b="0" i="0">
                          <a:solidFill>
                            <a:srgbClr val="2B2F36"/>
                          </a:solidFill>
                          <a:latin typeface="Segoe UI"/>
                        </a:rPr>
                        <a:t>Automatic</a:t>
                      </a:r>
                    </a:p>
                  </a:txBody>
                  <a:tcPr marL="73152" marR="73152" marT="27432" marB="27432" anchor="ctr">
                    <a:solidFill>
                      <a:srgbClr val="FFFFFF"/>
                    </a:solidFill>
                  </a:tcPr>
                </a:tc>
                <a:tc>
                  <a:txBody>
                    <a:bodyPr wrap="square"/>
                    <a:lstStyle/>
                    <a:p>
                      <a:r>
                        <a:rPr sz="1000" b="0" i="0">
                          <a:solidFill>
                            <a:srgbClr val="2B2F36"/>
                          </a:solidFill>
                          <a:latin typeface="Segoe UI"/>
                        </a:rPr>
                        <a:t>Metro</a:t>
                      </a:r>
                    </a:p>
                  </a:txBody>
                  <a:tcPr marL="73152" marR="73152" marT="27432" marB="27432" anchor="ctr">
                    <a:solidFill>
                      <a:srgbClr val="FFFFFF"/>
                    </a:solidFill>
                  </a:tcPr>
                </a:tc>
                <a:tc>
                  <a:txBody>
                    <a:bodyPr wrap="square"/>
                    <a:lstStyle/>
                    <a:p>
                      <a:r>
                        <a:rPr sz="1000" b="0" i="0">
                          <a:solidFill>
                            <a:srgbClr val="2B2F36"/>
                          </a:solidFill>
                          <a:latin typeface="Segoe UI"/>
                        </a:rPr>
                        <a:t>~1.7× (ARC 7+5)</a:t>
                      </a:r>
                    </a:p>
                  </a:txBody>
                  <a:tcPr marL="73152" marR="73152" marT="27432" marB="27432" anchor="ctr">
                    <a:solidFill>
                      <a:srgbClr val="FFFFFF"/>
                    </a:solidFill>
                  </a:tcPr>
                </a:tc>
              </a:tr>
              <a:tr h="246888">
                <a:tc>
                  <a:txBody>
                    <a:bodyPr wrap="square"/>
                    <a:lstStyle/>
                    <a:p>
                      <a:r>
                        <a:rPr sz="1000" b="1" i="0">
                          <a:solidFill>
                            <a:srgbClr val="2B2F36"/>
                          </a:solidFill>
                          <a:latin typeface="Segoe UI"/>
                        </a:rPr>
                        <a:t>Asynchronous replication</a:t>
                      </a:r>
                    </a:p>
                  </a:txBody>
                  <a:tcPr marL="73152" marR="73152" marT="27432" marB="27432" anchor="ctr">
                    <a:solidFill>
                      <a:srgbClr val="F2F4F7"/>
                    </a:solidFill>
                  </a:tcPr>
                </a:tc>
                <a:tc>
                  <a:txBody>
                    <a:bodyPr wrap="square"/>
                    <a:lstStyle/>
                    <a:p>
                      <a:r>
                        <a:rPr sz="1000" b="0" i="0">
                          <a:solidFill>
                            <a:srgbClr val="2B2F36"/>
                          </a:solidFill>
                          <a:latin typeface="Segoe UI"/>
                        </a:rPr>
                        <a:t>Seconds to minutes</a:t>
                      </a:r>
                    </a:p>
                  </a:txBody>
                  <a:tcPr marL="73152" marR="73152" marT="27432" marB="27432" anchor="ctr">
                    <a:solidFill>
                      <a:srgbClr val="F2F4F7"/>
                    </a:solidFill>
                  </a:tcPr>
                </a:tc>
                <a:tc>
                  <a:txBody>
                    <a:bodyPr wrap="square"/>
                    <a:lstStyle/>
                    <a:p>
                      <a:r>
                        <a:rPr sz="1000" b="0" i="0">
                          <a:solidFill>
                            <a:srgbClr val="2B2F36"/>
                          </a:solidFill>
                          <a:latin typeface="Segoe UI"/>
                        </a:rPr>
                        <a:t>Controlled failover</a:t>
                      </a:r>
                    </a:p>
                  </a:txBody>
                  <a:tcPr marL="73152" marR="73152" marT="27432" marB="27432" anchor="ctr">
                    <a:solidFill>
                      <a:srgbClr val="F2F4F7"/>
                    </a:solidFill>
                  </a:tcPr>
                </a:tc>
                <a:tc>
                  <a:txBody>
                    <a:bodyPr wrap="square"/>
                    <a:lstStyle/>
                    <a:p>
                      <a:r>
                        <a:rPr sz="1000" b="0" i="0">
                          <a:solidFill>
                            <a:srgbClr val="2B2F36"/>
                          </a:solidFill>
                          <a:latin typeface="Segoe UI"/>
                        </a:rPr>
                        <a:t>Any</a:t>
                      </a:r>
                    </a:p>
                  </a:txBody>
                  <a:tcPr marL="73152" marR="73152" marT="27432" marB="27432" anchor="ctr">
                    <a:solidFill>
                      <a:srgbClr val="F2F4F7"/>
                    </a:solidFill>
                  </a:tcPr>
                </a:tc>
                <a:tc>
                  <a:txBody>
                    <a:bodyPr wrap="square"/>
                    <a:lstStyle/>
                    <a:p>
                      <a:r>
                        <a:rPr sz="1000" b="0" i="0">
                          <a:solidFill>
                            <a:srgbClr val="2B2F36"/>
                          </a:solidFill>
                          <a:latin typeface="Segoe UI"/>
                        </a:rPr>
                        <a:t>2× single site</a:t>
                      </a:r>
                    </a:p>
                  </a:txBody>
                  <a:tcPr marL="73152" marR="73152" marT="27432" marB="27432" anchor="ctr">
                    <a:solidFill>
                      <a:srgbClr val="F2F4F7"/>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 name="Rectangle 2"/>
          <p:cNvSpPr/>
          <p:nvPr/>
        </p:nvSpPr>
        <p:spPr>
          <a:xfrm>
            <a:off x="0" y="914400"/>
            <a:ext cx="12191695" cy="54864"/>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4" name="TextBox 3"/>
          <p:cNvSpPr txBox="1"/>
          <p:nvPr/>
        </p:nvSpPr>
        <p:spPr>
          <a:xfrm>
            <a:off x="457200" y="91440"/>
            <a:ext cx="11247120" cy="502920"/>
          </a:xfrm>
          <a:prstGeom prst="rect">
            <a:avLst/>
          </a:prstGeom>
          <a:noFill/>
        </p:spPr>
        <p:txBody>
          <a:bodyPr wrap="square" anchor="ctr" lIns="36576" rIns="36576" tIns="36576" bIns="36576">
            <a:spAutoFit/>
          </a:bodyPr>
          <a:lstStyle/>
          <a:p>
            <a:pPr algn="l"/>
            <a:r>
              <a:rPr sz="2600" b="1" i="0">
                <a:solidFill>
                  <a:srgbClr val="FFFFFF"/>
                </a:solidFill>
                <a:latin typeface="Segoe UI"/>
              </a:rPr>
              <a:t>Network Architecture</a:t>
            </a:r>
          </a:p>
        </p:txBody>
      </p:sp>
      <p:sp>
        <p:nvSpPr>
          <p:cNvPr id="5" name="TextBox 4"/>
          <p:cNvSpPr txBox="1"/>
          <p:nvPr/>
        </p:nvSpPr>
        <p:spPr>
          <a:xfrm>
            <a:off x="457200" y="548640"/>
            <a:ext cx="11247120" cy="320040"/>
          </a:xfrm>
          <a:prstGeom prst="rect">
            <a:avLst/>
          </a:prstGeom>
          <a:noFill/>
        </p:spPr>
        <p:txBody>
          <a:bodyPr wrap="square" anchor="t" lIns="36576" rIns="36576" tIns="36576" bIns="36576">
            <a:spAutoFit/>
          </a:bodyPr>
          <a:lstStyle/>
          <a:p>
            <a:pPr algn="l"/>
            <a:r>
              <a:rPr sz="1300" b="0" i="0">
                <a:solidFill>
                  <a:srgbClr val="C9D3E3"/>
                </a:solidFill>
                <a:latin typeface="Segoe UI"/>
              </a:rPr>
              <a:t>Three isolated networks, fully redundant</a:t>
            </a:r>
          </a:p>
        </p:txBody>
      </p:sp>
      <p:sp>
        <p:nvSpPr>
          <p:cNvPr id="6" name="TextBox 5"/>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i="0">
                <a:solidFill>
                  <a:srgbClr val="5B6577"/>
                </a:solidFill>
                <a:latin typeface="Segoe UI"/>
              </a:rPr>
              <a:t>Scality RING  |  Architecture, Deployment &amp; Operations</a:t>
            </a:r>
          </a:p>
        </p:txBody>
      </p:sp>
      <p:sp>
        <p:nvSpPr>
          <p:cNvPr id="7" name="TextBox 6"/>
          <p:cNvSpPr txBox="1"/>
          <p:nvPr/>
        </p:nvSpPr>
        <p:spPr>
          <a:xfrm>
            <a:off x="10789920" y="6473952"/>
            <a:ext cx="914400" cy="274320"/>
          </a:xfrm>
          <a:prstGeom prst="rect">
            <a:avLst/>
          </a:prstGeom>
          <a:noFill/>
        </p:spPr>
        <p:txBody>
          <a:bodyPr wrap="square" anchor="t" lIns="36576" rIns="36576" tIns="36576" bIns="36576">
            <a:spAutoFit/>
          </a:bodyPr>
          <a:lstStyle/>
          <a:p>
            <a:pPr algn="r"/>
            <a:r>
              <a:rPr sz="1000" b="0" i="0">
                <a:solidFill>
                  <a:srgbClr val="5B6577"/>
                </a:solidFill>
                <a:latin typeface="Segoe UI"/>
              </a:rPr>
              <a:t>15</a:t>
            </a:r>
          </a:p>
        </p:txBody>
      </p:sp>
      <p:sp>
        <p:nvSpPr>
          <p:cNvPr id="8" name="Rounded Rectangle 7"/>
          <p:cNvSpPr/>
          <p:nvPr/>
        </p:nvSpPr>
        <p:spPr>
          <a:xfrm>
            <a:off x="3063240" y="1188720"/>
            <a:ext cx="2743200" cy="45720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Clients / applications</a:t>
            </a:r>
          </a:p>
        </p:txBody>
      </p:sp>
      <p:cxnSp>
        <p:nvCxnSpPr>
          <p:cNvPr id="9" name="Connector 8"/>
          <p:cNvCxnSpPr/>
          <p:nvPr/>
        </p:nvCxnSpPr>
        <p:spPr>
          <a:xfrm>
            <a:off x="4434840" y="1645920"/>
            <a:ext cx="0" cy="182880"/>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606040" y="1828800"/>
            <a:ext cx="1600200" cy="457200"/>
          </a:xfrm>
          <a:prstGeom prst="roundRect">
            <a:avLst>
              <a:gd name="adj" fmla="val 10000"/>
            </a:avLst>
          </a:prstGeom>
          <a:solidFill>
            <a:srgbClr val="FFFFFF"/>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0" i="0">
                <a:solidFill>
                  <a:srgbClr val="1F2A44"/>
                </a:solidFill>
                <a:latin typeface="Segoe UI"/>
              </a:rPr>
              <a:t>Load balancer 1</a:t>
            </a:r>
          </a:p>
        </p:txBody>
      </p:sp>
      <p:sp>
        <p:nvSpPr>
          <p:cNvPr id="11" name="Rounded Rectangle 10"/>
          <p:cNvSpPr/>
          <p:nvPr/>
        </p:nvSpPr>
        <p:spPr>
          <a:xfrm>
            <a:off x="4663440" y="1828800"/>
            <a:ext cx="1600200" cy="457200"/>
          </a:xfrm>
          <a:prstGeom prst="roundRect">
            <a:avLst>
              <a:gd name="adj" fmla="val 10000"/>
            </a:avLst>
          </a:prstGeom>
          <a:solidFill>
            <a:srgbClr val="FFFFFF"/>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0" i="0">
                <a:solidFill>
                  <a:srgbClr val="1F2A44"/>
                </a:solidFill>
                <a:latin typeface="Segoe UI"/>
              </a:rPr>
              <a:t>Load balancer 2</a:t>
            </a:r>
          </a:p>
        </p:txBody>
      </p:sp>
      <p:sp>
        <p:nvSpPr>
          <p:cNvPr id="12" name="TextBox 11"/>
          <p:cNvSpPr txBox="1"/>
          <p:nvPr/>
        </p:nvSpPr>
        <p:spPr>
          <a:xfrm>
            <a:off x="6355080" y="1874519"/>
            <a:ext cx="2011680" cy="365760"/>
          </a:xfrm>
          <a:prstGeom prst="rect">
            <a:avLst/>
          </a:prstGeom>
          <a:noFill/>
        </p:spPr>
        <p:txBody>
          <a:bodyPr wrap="square" anchor="t" lIns="36576" rIns="36576" tIns="36576" bIns="36576">
            <a:spAutoFit/>
          </a:bodyPr>
          <a:lstStyle/>
          <a:p>
            <a:pPr algn="l"/>
            <a:r>
              <a:rPr sz="1050" b="0" i="0">
                <a:solidFill>
                  <a:srgbClr val="5B6577"/>
                </a:solidFill>
                <a:latin typeface="Segoe UI"/>
              </a:rPr>
              <a:t>shared virtual IP</a:t>
            </a:r>
          </a:p>
        </p:txBody>
      </p:sp>
      <p:sp>
        <p:nvSpPr>
          <p:cNvPr id="13" name="Rectangle 12"/>
          <p:cNvSpPr/>
          <p:nvPr/>
        </p:nvSpPr>
        <p:spPr>
          <a:xfrm>
            <a:off x="457200" y="2468880"/>
            <a:ext cx="7955279" cy="292608"/>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50" b="1" i="0">
                <a:solidFill>
                  <a:srgbClr val="FFFFFF"/>
                </a:solidFill>
                <a:latin typeface="Segoe UI"/>
              </a:rPr>
              <a:t>FRONT-END NETWORK  ·  client traffic</a:t>
            </a:r>
          </a:p>
        </p:txBody>
      </p:sp>
      <p:cxnSp>
        <p:nvCxnSpPr>
          <p:cNvPr id="14" name="Connector 13"/>
          <p:cNvCxnSpPr/>
          <p:nvPr/>
        </p:nvCxnSpPr>
        <p:spPr>
          <a:xfrm>
            <a:off x="1508760" y="2761488"/>
            <a:ext cx="0" cy="182880"/>
          </a:xfrm>
          <a:prstGeom prst="line">
            <a:avLst/>
          </a:prstGeom>
          <a:ln w="19050">
            <a:solidFill>
              <a:srgbClr val="0F7C8C"/>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40080" y="2944368"/>
            <a:ext cx="1737360" cy="45720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Connector 1</a:t>
            </a:r>
          </a:p>
        </p:txBody>
      </p:sp>
      <p:cxnSp>
        <p:nvCxnSpPr>
          <p:cNvPr id="16" name="Connector 15"/>
          <p:cNvCxnSpPr/>
          <p:nvPr/>
        </p:nvCxnSpPr>
        <p:spPr>
          <a:xfrm>
            <a:off x="1508760" y="3401568"/>
            <a:ext cx="0" cy="182880"/>
          </a:xfrm>
          <a:prstGeom prst="line">
            <a:avLst/>
          </a:prstGeom>
          <a:ln w="19050">
            <a:solidFill>
              <a:srgbClr val="E8892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474720" y="2761488"/>
            <a:ext cx="0" cy="182880"/>
          </a:xfrm>
          <a:prstGeom prst="line">
            <a:avLst/>
          </a:prstGeom>
          <a:ln w="19050">
            <a:solidFill>
              <a:srgbClr val="0F7C8C"/>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606039" y="2944368"/>
            <a:ext cx="1737360" cy="45720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Connector 2</a:t>
            </a:r>
          </a:p>
        </p:txBody>
      </p:sp>
      <p:cxnSp>
        <p:nvCxnSpPr>
          <p:cNvPr id="19" name="Connector 18"/>
          <p:cNvCxnSpPr/>
          <p:nvPr/>
        </p:nvCxnSpPr>
        <p:spPr>
          <a:xfrm>
            <a:off x="3474720" y="3401568"/>
            <a:ext cx="0" cy="182880"/>
          </a:xfrm>
          <a:prstGeom prst="line">
            <a:avLst/>
          </a:prstGeom>
          <a:ln w="19050">
            <a:solidFill>
              <a:srgbClr val="E8892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440680" y="2761488"/>
            <a:ext cx="0" cy="182880"/>
          </a:xfrm>
          <a:prstGeom prst="line">
            <a:avLst/>
          </a:prstGeom>
          <a:ln w="19050">
            <a:solidFill>
              <a:srgbClr val="0F7C8C"/>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572000" y="2944368"/>
            <a:ext cx="1737360" cy="45720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Connector 3</a:t>
            </a:r>
          </a:p>
        </p:txBody>
      </p:sp>
      <p:cxnSp>
        <p:nvCxnSpPr>
          <p:cNvPr id="22" name="Connector 21"/>
          <p:cNvCxnSpPr/>
          <p:nvPr/>
        </p:nvCxnSpPr>
        <p:spPr>
          <a:xfrm>
            <a:off x="5440680" y="3401568"/>
            <a:ext cx="0" cy="182880"/>
          </a:xfrm>
          <a:prstGeom prst="line">
            <a:avLst/>
          </a:prstGeom>
          <a:ln w="19050">
            <a:solidFill>
              <a:srgbClr val="E8892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406640" y="2761488"/>
            <a:ext cx="0" cy="182880"/>
          </a:xfrm>
          <a:prstGeom prst="line">
            <a:avLst/>
          </a:prstGeom>
          <a:ln w="19050">
            <a:solidFill>
              <a:srgbClr val="0F7C8C"/>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537959" y="2944368"/>
            <a:ext cx="1737360" cy="45720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Connector 4</a:t>
            </a:r>
          </a:p>
        </p:txBody>
      </p:sp>
      <p:cxnSp>
        <p:nvCxnSpPr>
          <p:cNvPr id="25" name="Connector 24"/>
          <p:cNvCxnSpPr/>
          <p:nvPr/>
        </p:nvCxnSpPr>
        <p:spPr>
          <a:xfrm>
            <a:off x="7406640" y="3401568"/>
            <a:ext cx="0" cy="182880"/>
          </a:xfrm>
          <a:prstGeom prst="line">
            <a:avLst/>
          </a:prstGeom>
          <a:ln w="19050">
            <a:solidFill>
              <a:srgbClr val="E8892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57200" y="3584448"/>
            <a:ext cx="7955279" cy="292608"/>
          </a:xfrm>
          <a:prstGeom prst="rect">
            <a:avLst/>
          </a:prstGeom>
          <a:solidFill>
            <a:srgbClr val="E88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50" b="1" i="0">
                <a:solidFill>
                  <a:srgbClr val="FFFFFF"/>
                </a:solidFill>
                <a:latin typeface="Segoe UI"/>
              </a:rPr>
              <a:t>BACK-END NETWORK  ·  storage traffic  ·  jumbo frames</a:t>
            </a:r>
          </a:p>
        </p:txBody>
      </p:sp>
      <p:cxnSp>
        <p:nvCxnSpPr>
          <p:cNvPr id="27" name="Connector 26"/>
          <p:cNvCxnSpPr/>
          <p:nvPr/>
        </p:nvCxnSpPr>
        <p:spPr>
          <a:xfrm>
            <a:off x="3406140" y="3877056"/>
            <a:ext cx="0" cy="192024"/>
          </a:xfrm>
          <a:prstGeom prst="line">
            <a:avLst/>
          </a:prstGeom>
          <a:ln w="19050">
            <a:solidFill>
              <a:srgbClr val="E8892B"/>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2606040" y="4069080"/>
            <a:ext cx="1600200" cy="41148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Spine 1</a:t>
            </a:r>
          </a:p>
        </p:txBody>
      </p:sp>
      <p:cxnSp>
        <p:nvCxnSpPr>
          <p:cNvPr id="29" name="Connector 28"/>
          <p:cNvCxnSpPr/>
          <p:nvPr/>
        </p:nvCxnSpPr>
        <p:spPr>
          <a:xfrm>
            <a:off x="5463540" y="3877056"/>
            <a:ext cx="0" cy="192024"/>
          </a:xfrm>
          <a:prstGeom prst="line">
            <a:avLst/>
          </a:prstGeom>
          <a:ln w="19050">
            <a:solidFill>
              <a:srgbClr val="E8892B"/>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663440" y="4069080"/>
            <a:ext cx="1600200" cy="41148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Spine 2</a:t>
            </a:r>
          </a:p>
        </p:txBody>
      </p:sp>
      <p:cxnSp>
        <p:nvCxnSpPr>
          <p:cNvPr id="31" name="Connector 30"/>
          <p:cNvCxnSpPr/>
          <p:nvPr/>
        </p:nvCxnSpPr>
        <p:spPr>
          <a:xfrm flipH="1">
            <a:off x="1508760" y="4480560"/>
            <a:ext cx="1897380" cy="228600"/>
          </a:xfrm>
          <a:prstGeom prst="line">
            <a:avLst/>
          </a:prstGeom>
          <a:ln w="12700">
            <a:solidFill>
              <a:srgbClr val="AEB6C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1508760" y="4480560"/>
            <a:ext cx="3954780" cy="228600"/>
          </a:xfrm>
          <a:prstGeom prst="line">
            <a:avLst/>
          </a:prstGeom>
          <a:ln w="12700">
            <a:solidFill>
              <a:srgbClr val="AEB6C4"/>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40080" y="4709160"/>
            <a:ext cx="1737360" cy="365760"/>
          </a:xfrm>
          <a:prstGeom prst="roundRect">
            <a:avLst>
              <a:gd name="adj" fmla="val 10000"/>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FFFFFF"/>
                </a:solidFill>
                <a:latin typeface="Segoe UI"/>
              </a:rPr>
              <a:t>Leaf A + Leaf B</a:t>
            </a:r>
          </a:p>
        </p:txBody>
      </p:sp>
      <p:cxnSp>
        <p:nvCxnSpPr>
          <p:cNvPr id="34" name="Connector 33"/>
          <p:cNvCxnSpPr/>
          <p:nvPr/>
        </p:nvCxnSpPr>
        <p:spPr>
          <a:xfrm>
            <a:off x="1508760" y="5074920"/>
            <a:ext cx="0" cy="137160"/>
          </a:xfrm>
          <a:prstGeom prst="line">
            <a:avLst/>
          </a:prstGeom>
          <a:ln w="19050">
            <a:solidFill>
              <a:srgbClr val="4A5568"/>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40080" y="5212080"/>
            <a:ext cx="1737360" cy="566928"/>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1F2A44"/>
                </a:solidFill>
                <a:latin typeface="Segoe UI"/>
              </a:rPr>
              <a:t>Rack 1</a:t>
            </a:r>
          </a:p>
          <a:p>
            <a:pPr algn="ctr"/>
            <a:r>
              <a:rPr sz="950" b="0" i="0">
                <a:solidFill>
                  <a:srgbClr val="5B6577"/>
                </a:solidFill>
                <a:latin typeface="Segoe UI"/>
              </a:rPr>
              <a:t>3 storage servers</a:t>
            </a:r>
          </a:p>
        </p:txBody>
      </p:sp>
      <p:cxnSp>
        <p:nvCxnSpPr>
          <p:cNvPr id="36" name="Connector 35"/>
          <p:cNvCxnSpPr/>
          <p:nvPr/>
        </p:nvCxnSpPr>
        <p:spPr>
          <a:xfrm>
            <a:off x="3406140" y="4480560"/>
            <a:ext cx="68580" cy="228600"/>
          </a:xfrm>
          <a:prstGeom prst="line">
            <a:avLst/>
          </a:prstGeom>
          <a:ln w="12700">
            <a:solidFill>
              <a:srgbClr val="AEB6C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3474720" y="4480560"/>
            <a:ext cx="1988820" cy="228600"/>
          </a:xfrm>
          <a:prstGeom prst="line">
            <a:avLst/>
          </a:prstGeom>
          <a:ln w="12700">
            <a:solidFill>
              <a:srgbClr val="AEB6C4"/>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2606039" y="4709160"/>
            <a:ext cx="1737360" cy="365760"/>
          </a:xfrm>
          <a:prstGeom prst="roundRect">
            <a:avLst>
              <a:gd name="adj" fmla="val 10000"/>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FFFFFF"/>
                </a:solidFill>
                <a:latin typeface="Segoe UI"/>
              </a:rPr>
              <a:t>Leaf A + Leaf B</a:t>
            </a:r>
          </a:p>
        </p:txBody>
      </p:sp>
      <p:cxnSp>
        <p:nvCxnSpPr>
          <p:cNvPr id="39" name="Connector 38"/>
          <p:cNvCxnSpPr/>
          <p:nvPr/>
        </p:nvCxnSpPr>
        <p:spPr>
          <a:xfrm>
            <a:off x="3474720" y="5074920"/>
            <a:ext cx="0" cy="137160"/>
          </a:xfrm>
          <a:prstGeom prst="line">
            <a:avLst/>
          </a:prstGeom>
          <a:ln w="19050">
            <a:solidFill>
              <a:srgbClr val="4A5568"/>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2606039" y="5212080"/>
            <a:ext cx="1737360" cy="566928"/>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1F2A44"/>
                </a:solidFill>
                <a:latin typeface="Segoe UI"/>
              </a:rPr>
              <a:t>Rack 2</a:t>
            </a:r>
          </a:p>
          <a:p>
            <a:pPr algn="ctr"/>
            <a:r>
              <a:rPr sz="950" b="0" i="0">
                <a:solidFill>
                  <a:srgbClr val="5B6577"/>
                </a:solidFill>
                <a:latin typeface="Segoe UI"/>
              </a:rPr>
              <a:t>3 storage servers</a:t>
            </a:r>
          </a:p>
        </p:txBody>
      </p:sp>
      <p:cxnSp>
        <p:nvCxnSpPr>
          <p:cNvPr id="41" name="Connector 40"/>
          <p:cNvCxnSpPr/>
          <p:nvPr/>
        </p:nvCxnSpPr>
        <p:spPr>
          <a:xfrm>
            <a:off x="3406140" y="4480560"/>
            <a:ext cx="2034540" cy="228600"/>
          </a:xfrm>
          <a:prstGeom prst="line">
            <a:avLst/>
          </a:prstGeom>
          <a:ln w="12700">
            <a:solidFill>
              <a:srgbClr val="AEB6C4"/>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5440680" y="4480560"/>
            <a:ext cx="22860" cy="228600"/>
          </a:xfrm>
          <a:prstGeom prst="line">
            <a:avLst/>
          </a:prstGeom>
          <a:ln w="12700">
            <a:solidFill>
              <a:srgbClr val="AEB6C4"/>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4572000" y="4709160"/>
            <a:ext cx="1737360" cy="365760"/>
          </a:xfrm>
          <a:prstGeom prst="roundRect">
            <a:avLst>
              <a:gd name="adj" fmla="val 10000"/>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FFFFFF"/>
                </a:solidFill>
                <a:latin typeface="Segoe UI"/>
              </a:rPr>
              <a:t>Leaf A + Leaf B</a:t>
            </a:r>
          </a:p>
        </p:txBody>
      </p:sp>
      <p:cxnSp>
        <p:nvCxnSpPr>
          <p:cNvPr id="44" name="Connector 43"/>
          <p:cNvCxnSpPr/>
          <p:nvPr/>
        </p:nvCxnSpPr>
        <p:spPr>
          <a:xfrm>
            <a:off x="5440680" y="5074920"/>
            <a:ext cx="0" cy="137160"/>
          </a:xfrm>
          <a:prstGeom prst="line">
            <a:avLst/>
          </a:prstGeom>
          <a:ln w="19050">
            <a:solidFill>
              <a:srgbClr val="4A5568"/>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4572000" y="5212080"/>
            <a:ext cx="1737360" cy="566928"/>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1F2A44"/>
                </a:solidFill>
                <a:latin typeface="Segoe UI"/>
              </a:rPr>
              <a:t>Rack 3</a:t>
            </a:r>
          </a:p>
          <a:p>
            <a:pPr algn="ctr"/>
            <a:r>
              <a:rPr sz="950" b="0" i="0">
                <a:solidFill>
                  <a:srgbClr val="5B6577"/>
                </a:solidFill>
                <a:latin typeface="Segoe UI"/>
              </a:rPr>
              <a:t>3 storage servers</a:t>
            </a:r>
          </a:p>
        </p:txBody>
      </p:sp>
      <p:cxnSp>
        <p:nvCxnSpPr>
          <p:cNvPr id="46" name="Connector 45"/>
          <p:cNvCxnSpPr/>
          <p:nvPr/>
        </p:nvCxnSpPr>
        <p:spPr>
          <a:xfrm>
            <a:off x="3406140" y="4480560"/>
            <a:ext cx="4000500" cy="228600"/>
          </a:xfrm>
          <a:prstGeom prst="line">
            <a:avLst/>
          </a:prstGeom>
          <a:ln w="12700">
            <a:solidFill>
              <a:srgbClr val="AEB6C4"/>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463540" y="4480560"/>
            <a:ext cx="1943100" cy="228600"/>
          </a:xfrm>
          <a:prstGeom prst="line">
            <a:avLst/>
          </a:prstGeom>
          <a:ln w="12700">
            <a:solidFill>
              <a:srgbClr val="AEB6C4"/>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6537959" y="4709160"/>
            <a:ext cx="1737360" cy="365760"/>
          </a:xfrm>
          <a:prstGeom prst="roundRect">
            <a:avLst>
              <a:gd name="adj" fmla="val 10000"/>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FFFFFF"/>
                </a:solidFill>
                <a:latin typeface="Segoe UI"/>
              </a:rPr>
              <a:t>Leaf A + Leaf B</a:t>
            </a:r>
          </a:p>
        </p:txBody>
      </p:sp>
      <p:cxnSp>
        <p:nvCxnSpPr>
          <p:cNvPr id="49" name="Connector 48"/>
          <p:cNvCxnSpPr/>
          <p:nvPr/>
        </p:nvCxnSpPr>
        <p:spPr>
          <a:xfrm>
            <a:off x="7406640" y="5074920"/>
            <a:ext cx="0" cy="137160"/>
          </a:xfrm>
          <a:prstGeom prst="line">
            <a:avLst/>
          </a:prstGeom>
          <a:ln w="19050">
            <a:solidFill>
              <a:srgbClr val="4A5568"/>
            </a:solidFill>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6537959" y="5212080"/>
            <a:ext cx="1737360" cy="566928"/>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1F2A44"/>
                </a:solidFill>
                <a:latin typeface="Segoe UI"/>
              </a:rPr>
              <a:t>Rack 4</a:t>
            </a:r>
          </a:p>
          <a:p>
            <a:pPr algn="ctr"/>
            <a:r>
              <a:rPr sz="950" b="0" i="0">
                <a:solidFill>
                  <a:srgbClr val="5B6577"/>
                </a:solidFill>
                <a:latin typeface="Segoe UI"/>
              </a:rPr>
              <a:t>3 storage servers</a:t>
            </a:r>
          </a:p>
        </p:txBody>
      </p:sp>
      <p:sp>
        <p:nvSpPr>
          <p:cNvPr id="51" name="Rectangle 50"/>
          <p:cNvSpPr/>
          <p:nvPr/>
        </p:nvSpPr>
        <p:spPr>
          <a:xfrm>
            <a:off x="457200" y="5943600"/>
            <a:ext cx="7955279" cy="310896"/>
          </a:xfrm>
          <a:prstGeom prst="rect">
            <a:avLst/>
          </a:prstGeom>
          <a:noFill/>
          <a:ln w="12700">
            <a:solidFill>
              <a:srgbClr val="5B657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50" b="0" i="0">
                <a:solidFill>
                  <a:srgbClr val="5B6577"/>
                </a:solidFill>
                <a:latin typeface="Segoe UI"/>
              </a:rPr>
              <a:t>MANAGEMENT NETWORK (isolated)  ·  Supervisor  ·  monitoring  ·  out-of-band consoles</a:t>
            </a:r>
          </a:p>
        </p:txBody>
      </p:sp>
      <p:graphicFrame>
        <p:nvGraphicFramePr>
          <p:cNvPr id="52" name="Table 51"/>
          <p:cNvGraphicFramePr>
            <a:graphicFrameLocks noGrp="1"/>
          </p:cNvGraphicFramePr>
          <p:nvPr/>
        </p:nvGraphicFramePr>
        <p:xfrm>
          <a:off x="8686800" y="1188720"/>
          <a:ext cx="3063240" cy="2633472"/>
        </p:xfrm>
        <a:graphic>
          <a:graphicData uri="http://schemas.openxmlformats.org/drawingml/2006/table">
            <a:tbl>
              <a:tblPr firstRow="1" bandRow="1">
                <a:tableStyleId>{5C22544A-7EE6-4342-B048-85BDC9FD1C3A}</a:tableStyleId>
              </a:tblPr>
              <a:tblGrid>
                <a:gridCol w="1097280"/>
                <a:gridCol w="1965960"/>
              </a:tblGrid>
              <a:tr h="658368">
                <a:tc>
                  <a:txBody>
                    <a:bodyPr wrap="square"/>
                    <a:lstStyle/>
                    <a:p>
                      <a:r>
                        <a:rPr sz="1050" b="1" i="0">
                          <a:solidFill>
                            <a:srgbClr val="FFFFFF"/>
                          </a:solidFill>
                          <a:latin typeface="Segoe UI"/>
                        </a:rPr>
                        <a:t>Network</a:t>
                      </a:r>
                    </a:p>
                  </a:txBody>
                  <a:tcPr marL="73152" marR="73152" marT="27432" marB="27432" anchor="ctr">
                    <a:solidFill>
                      <a:srgbClr val="1F2A44"/>
                    </a:solidFill>
                  </a:tcPr>
                </a:tc>
                <a:tc>
                  <a:txBody>
                    <a:bodyPr wrap="square"/>
                    <a:lstStyle/>
                    <a:p>
                      <a:r>
                        <a:rPr sz="1050" b="1" i="0">
                          <a:solidFill>
                            <a:srgbClr val="FFFFFF"/>
                          </a:solidFill>
                          <a:latin typeface="Segoe UI"/>
                        </a:rPr>
                        <a:t>Design</a:t>
                      </a:r>
                    </a:p>
                  </a:txBody>
                  <a:tcPr marL="73152" marR="73152" marT="27432" marB="27432" anchor="ctr">
                    <a:solidFill>
                      <a:srgbClr val="1F2A44"/>
                    </a:solidFill>
                  </a:tcPr>
                </a:tc>
              </a:tr>
              <a:tr h="658368">
                <a:tc>
                  <a:txBody>
                    <a:bodyPr wrap="square"/>
                    <a:lstStyle/>
                    <a:p>
                      <a:r>
                        <a:rPr sz="1050" b="1" i="0">
                          <a:solidFill>
                            <a:srgbClr val="2B2F36"/>
                          </a:solidFill>
                          <a:latin typeface="Segoe UI"/>
                        </a:rPr>
                        <a:t>Front-end</a:t>
                      </a:r>
                    </a:p>
                  </a:txBody>
                  <a:tcPr marL="73152" marR="73152" marT="27432" marB="27432" anchor="ctr">
                    <a:solidFill>
                      <a:srgbClr val="FFFFFF"/>
                    </a:solidFill>
                  </a:tcPr>
                </a:tc>
                <a:tc>
                  <a:txBody>
                    <a:bodyPr wrap="square"/>
                    <a:lstStyle/>
                    <a:p>
                      <a:r>
                        <a:rPr sz="1050" b="0" i="0">
                          <a:solidFill>
                            <a:srgbClr val="2B2F36"/>
                          </a:solidFill>
                          <a:latin typeface="Segoe UI"/>
                        </a:rPr>
                        <a:t>Client S3 / NFS / SMB; load balancer pair; TLS</a:t>
                      </a:r>
                    </a:p>
                  </a:txBody>
                  <a:tcPr marL="73152" marR="73152" marT="27432" marB="27432" anchor="ctr">
                    <a:solidFill>
                      <a:srgbClr val="FFFFFF"/>
                    </a:solidFill>
                  </a:tcPr>
                </a:tc>
              </a:tr>
              <a:tr h="658368">
                <a:tc>
                  <a:txBody>
                    <a:bodyPr wrap="square"/>
                    <a:lstStyle/>
                    <a:p>
                      <a:r>
                        <a:rPr sz="1050" b="1" i="0">
                          <a:solidFill>
                            <a:srgbClr val="2B2F36"/>
                          </a:solidFill>
                          <a:latin typeface="Segoe UI"/>
                        </a:rPr>
                        <a:t>Back-end</a:t>
                      </a:r>
                    </a:p>
                  </a:txBody>
                  <a:tcPr marL="73152" marR="73152" marT="27432" marB="27432" anchor="ctr">
                    <a:solidFill>
                      <a:srgbClr val="F2F4F7"/>
                    </a:solidFill>
                  </a:tcPr>
                </a:tc>
                <a:tc>
                  <a:txBody>
                    <a:bodyPr wrap="square"/>
                    <a:lstStyle/>
                    <a:p>
                      <a:r>
                        <a:rPr sz="1050" b="0" i="0">
                          <a:solidFill>
                            <a:srgbClr val="2B2F36"/>
                          </a:solidFill>
                          <a:latin typeface="Segoe UI"/>
                        </a:rPr>
                        <a:t>Fragments, rebuild, rebalance; leaf-spine; 25/100 GbE</a:t>
                      </a:r>
                    </a:p>
                  </a:txBody>
                  <a:tcPr marL="73152" marR="73152" marT="27432" marB="27432" anchor="ctr">
                    <a:solidFill>
                      <a:srgbClr val="F2F4F7"/>
                    </a:solidFill>
                  </a:tcPr>
                </a:tc>
              </a:tr>
              <a:tr h="658368">
                <a:tc>
                  <a:txBody>
                    <a:bodyPr wrap="square"/>
                    <a:lstStyle/>
                    <a:p>
                      <a:r>
                        <a:rPr sz="1050" b="1" i="0">
                          <a:solidFill>
                            <a:srgbClr val="2B2F36"/>
                          </a:solidFill>
                          <a:latin typeface="Segoe UI"/>
                        </a:rPr>
                        <a:t>Management</a:t>
                      </a:r>
                    </a:p>
                  </a:txBody>
                  <a:tcPr marL="73152" marR="73152" marT="27432" marB="27432" anchor="ctr">
                    <a:solidFill>
                      <a:srgbClr val="FFFFFF"/>
                    </a:solidFill>
                  </a:tcPr>
                </a:tc>
                <a:tc>
                  <a:txBody>
                    <a:bodyPr wrap="square"/>
                    <a:lstStyle/>
                    <a:p>
                      <a:r>
                        <a:rPr sz="1050" b="0" i="0">
                          <a:solidFill>
                            <a:srgbClr val="2B2F36"/>
                          </a:solidFill>
                          <a:latin typeface="Segoe UI"/>
                        </a:rPr>
                        <a:t>Admin, monitoring, out-of-band; isolated</a:t>
                      </a:r>
                    </a:p>
                  </a:txBody>
                  <a:tcPr marL="73152" marR="73152" marT="27432" marB="27432" anchor="ctr">
                    <a:solidFill>
                      <a:srgbClr val="FFFFFF"/>
                    </a:solidFill>
                  </a:tcPr>
                </a:tc>
              </a:tr>
            </a:tbl>
          </a:graphicData>
        </a:graphic>
      </p:graphicFrame>
      <p:sp>
        <p:nvSpPr>
          <p:cNvPr id="53" name="TextBox 52"/>
          <p:cNvSpPr txBox="1"/>
          <p:nvPr/>
        </p:nvSpPr>
        <p:spPr>
          <a:xfrm>
            <a:off x="8686800" y="3977639"/>
            <a:ext cx="3063240" cy="2286000"/>
          </a:xfrm>
          <a:prstGeom prst="rect">
            <a:avLst/>
          </a:prstGeom>
          <a:noFill/>
        </p:spPr>
        <p:txBody>
          <a:bodyPr wrap="square" anchor="t" lIns="36576" rIns="36576" tIns="36576" bIns="36576">
            <a:spAutoFit/>
          </a:bodyPr>
          <a:lstStyle/>
          <a:p>
            <a:pPr algn="l">
              <a:spcAft>
                <a:spcPts val="500"/>
              </a:spcAft>
            </a:pPr>
            <a:r>
              <a:rPr sz="1300" b="1" i="0">
                <a:solidFill>
                  <a:srgbClr val="0F7C8C"/>
                </a:solidFill>
                <a:latin typeface="Segoe UI"/>
              </a:rPr>
              <a:t>Redundancy by design</a:t>
            </a:r>
          </a:p>
          <a:p>
            <a:pPr algn="l">
              <a:spcAft>
                <a:spcPts val="300"/>
              </a:spcAft>
            </a:pPr>
            <a:r>
              <a:rPr sz="1150" b="0" i="0">
                <a:solidFill>
                  <a:srgbClr val="2B2F36"/>
                </a:solidFill>
                <a:latin typeface="Segoe UI"/>
              </a:rPr>
              <a:t>•  2 bonded links per server</a:t>
            </a:r>
          </a:p>
          <a:p>
            <a:pPr algn="l">
              <a:spcAft>
                <a:spcPts val="300"/>
              </a:spcAft>
            </a:pPr>
            <a:r>
              <a:rPr sz="1150" b="0" i="0">
                <a:solidFill>
                  <a:srgbClr val="2B2F36"/>
                </a:solidFill>
                <a:latin typeface="Segoe UI"/>
              </a:rPr>
              <a:t>•  2 leaf switches per rack</a:t>
            </a:r>
          </a:p>
          <a:p>
            <a:pPr algn="l">
              <a:spcAft>
                <a:spcPts val="300"/>
              </a:spcAft>
            </a:pPr>
            <a:r>
              <a:rPr sz="1150" b="0" i="0">
                <a:solidFill>
                  <a:srgbClr val="2B2F36"/>
                </a:solidFill>
                <a:latin typeface="Segoe UI"/>
              </a:rPr>
              <a:t>•  2 spine switches</a:t>
            </a:r>
          </a:p>
          <a:p>
            <a:pPr algn="l">
              <a:spcAft>
                <a:spcPts val="300"/>
              </a:spcAft>
            </a:pPr>
            <a:r>
              <a:rPr sz="1150" b="0" i="0">
                <a:solidFill>
                  <a:srgbClr val="2B2F36"/>
                </a:solidFill>
                <a:latin typeface="Segoe UI"/>
              </a:rPr>
              <a:t>•  Load balancer pair, virtual IP</a:t>
            </a:r>
          </a:p>
          <a:p>
            <a:pPr algn="l"/>
            <a:r>
              <a:rPr sz="1150" b="0" i="0">
                <a:solidFill>
                  <a:srgbClr val="2B2F36"/>
                </a:solidFill>
                <a:latin typeface="Segoe UI"/>
              </a:rPr>
              <a:t>•  Back-end sized for erasure-coding traffic plus rebuild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 name="Rectangle 2"/>
          <p:cNvSpPr/>
          <p:nvPr/>
        </p:nvSpPr>
        <p:spPr>
          <a:xfrm>
            <a:off x="0" y="914400"/>
            <a:ext cx="12191695" cy="54864"/>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4" name="TextBox 3"/>
          <p:cNvSpPr txBox="1"/>
          <p:nvPr/>
        </p:nvSpPr>
        <p:spPr>
          <a:xfrm>
            <a:off x="457200" y="91440"/>
            <a:ext cx="11247120" cy="502920"/>
          </a:xfrm>
          <a:prstGeom prst="rect">
            <a:avLst/>
          </a:prstGeom>
          <a:noFill/>
        </p:spPr>
        <p:txBody>
          <a:bodyPr wrap="square" anchor="ctr" lIns="36576" rIns="36576" tIns="36576" bIns="36576">
            <a:spAutoFit/>
          </a:bodyPr>
          <a:lstStyle/>
          <a:p>
            <a:pPr algn="l"/>
            <a:r>
              <a:rPr sz="2600" b="1" i="0">
                <a:solidFill>
                  <a:srgbClr val="FFFFFF"/>
                </a:solidFill>
                <a:latin typeface="Segoe UI"/>
              </a:rPr>
              <a:t>Security and Ransomware Protection</a:t>
            </a:r>
          </a:p>
        </p:txBody>
      </p:sp>
      <p:sp>
        <p:nvSpPr>
          <p:cNvPr id="5" name="TextBox 4"/>
          <p:cNvSpPr txBox="1"/>
          <p:nvPr/>
        </p:nvSpPr>
        <p:spPr>
          <a:xfrm>
            <a:off x="457200" y="548640"/>
            <a:ext cx="11247120" cy="320040"/>
          </a:xfrm>
          <a:prstGeom prst="rect">
            <a:avLst/>
          </a:prstGeom>
          <a:noFill/>
        </p:spPr>
        <p:txBody>
          <a:bodyPr wrap="square" anchor="t" lIns="36576" rIns="36576" tIns="36576" bIns="36576">
            <a:spAutoFit/>
          </a:bodyPr>
          <a:lstStyle/>
          <a:p>
            <a:pPr algn="l"/>
            <a:r>
              <a:rPr sz="1300" b="0" i="0">
                <a:solidFill>
                  <a:srgbClr val="C9D3E3"/>
                </a:solidFill>
                <a:latin typeface="Segoe UI"/>
              </a:rPr>
              <a:t>Defence in depth around backup data</a:t>
            </a:r>
          </a:p>
        </p:txBody>
      </p:sp>
      <p:sp>
        <p:nvSpPr>
          <p:cNvPr id="6" name="TextBox 5"/>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i="0">
                <a:solidFill>
                  <a:srgbClr val="5B6577"/>
                </a:solidFill>
                <a:latin typeface="Segoe UI"/>
              </a:rPr>
              <a:t>Scality RING  |  Architecture, Deployment &amp; Operations</a:t>
            </a:r>
          </a:p>
        </p:txBody>
      </p:sp>
      <p:sp>
        <p:nvSpPr>
          <p:cNvPr id="7" name="TextBox 6"/>
          <p:cNvSpPr txBox="1"/>
          <p:nvPr/>
        </p:nvSpPr>
        <p:spPr>
          <a:xfrm>
            <a:off x="10789920" y="6473952"/>
            <a:ext cx="914400" cy="274320"/>
          </a:xfrm>
          <a:prstGeom prst="rect">
            <a:avLst/>
          </a:prstGeom>
          <a:noFill/>
        </p:spPr>
        <p:txBody>
          <a:bodyPr wrap="square" anchor="t" lIns="36576" rIns="36576" tIns="36576" bIns="36576">
            <a:spAutoFit/>
          </a:bodyPr>
          <a:lstStyle/>
          <a:p>
            <a:pPr algn="r"/>
            <a:r>
              <a:rPr sz="1000" b="0" i="0">
                <a:solidFill>
                  <a:srgbClr val="5B6577"/>
                </a:solidFill>
                <a:latin typeface="Segoe UI"/>
              </a:rPr>
              <a:t>16</a:t>
            </a:r>
          </a:p>
        </p:txBody>
      </p:sp>
      <p:sp>
        <p:nvSpPr>
          <p:cNvPr id="8" name="Rounded Rectangle 7"/>
          <p:cNvSpPr/>
          <p:nvPr/>
        </p:nvSpPr>
        <p:spPr>
          <a:xfrm>
            <a:off x="457200" y="1234440"/>
            <a:ext cx="5852160" cy="4983480"/>
          </a:xfrm>
          <a:prstGeom prst="roundRect">
            <a:avLst>
              <a:gd name="adj" fmla="val 6000"/>
            </a:avLst>
          </a:prstGeom>
          <a:solidFill>
            <a:srgbClr val="EEF1F5"/>
          </a:solidFill>
          <a:ln w="15875">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9" name="TextBox 8"/>
          <p:cNvSpPr txBox="1"/>
          <p:nvPr/>
        </p:nvSpPr>
        <p:spPr>
          <a:xfrm>
            <a:off x="548640" y="1280160"/>
            <a:ext cx="5669280" cy="365760"/>
          </a:xfrm>
          <a:prstGeom prst="rect">
            <a:avLst/>
          </a:prstGeom>
          <a:noFill/>
        </p:spPr>
        <p:txBody>
          <a:bodyPr wrap="square" anchor="t" lIns="36576" rIns="36576" tIns="36576" bIns="36576">
            <a:spAutoFit/>
          </a:bodyPr>
          <a:lstStyle/>
          <a:p>
            <a:pPr algn="ctr"/>
            <a:r>
              <a:rPr sz="1150" b="1" i="0">
                <a:solidFill>
                  <a:srgbClr val="1F2A44"/>
                </a:solidFill>
                <a:latin typeface="Segoe UI"/>
              </a:rPr>
              <a:t>Network isolation  ·  MFA for administrators</a:t>
            </a:r>
          </a:p>
        </p:txBody>
      </p:sp>
      <p:sp>
        <p:nvSpPr>
          <p:cNvPr id="10" name="Rounded Rectangle 9"/>
          <p:cNvSpPr/>
          <p:nvPr/>
        </p:nvSpPr>
        <p:spPr>
          <a:xfrm>
            <a:off x="841247" y="1673352"/>
            <a:ext cx="5084064" cy="4453128"/>
          </a:xfrm>
          <a:prstGeom prst="roundRect">
            <a:avLst>
              <a:gd name="adj" fmla="val 6000"/>
            </a:avLst>
          </a:prstGeom>
          <a:solidFill>
            <a:srgbClr val="E3EAF2"/>
          </a:solidFill>
          <a:ln w="15875">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1" name="TextBox 10"/>
          <p:cNvSpPr txBox="1"/>
          <p:nvPr/>
        </p:nvSpPr>
        <p:spPr>
          <a:xfrm>
            <a:off x="932688" y="1719072"/>
            <a:ext cx="4901184" cy="365760"/>
          </a:xfrm>
          <a:prstGeom prst="rect">
            <a:avLst/>
          </a:prstGeom>
          <a:noFill/>
        </p:spPr>
        <p:txBody>
          <a:bodyPr wrap="square" anchor="t" lIns="36576" rIns="36576" tIns="36576" bIns="36576">
            <a:spAutoFit/>
          </a:bodyPr>
          <a:lstStyle/>
          <a:p>
            <a:pPr algn="ctr"/>
            <a:r>
              <a:rPr sz="1150" b="1" i="0">
                <a:solidFill>
                  <a:srgbClr val="1F2A44"/>
                </a:solidFill>
                <a:latin typeface="Segoe UI"/>
              </a:rPr>
              <a:t>Encryption in transit (TLS)</a:t>
            </a:r>
          </a:p>
        </p:txBody>
      </p:sp>
      <p:sp>
        <p:nvSpPr>
          <p:cNvPr id="12" name="Rounded Rectangle 11"/>
          <p:cNvSpPr/>
          <p:nvPr/>
        </p:nvSpPr>
        <p:spPr>
          <a:xfrm>
            <a:off x="1225295" y="2112264"/>
            <a:ext cx="4315968" cy="3922776"/>
          </a:xfrm>
          <a:prstGeom prst="roundRect">
            <a:avLst>
              <a:gd name="adj" fmla="val 6000"/>
            </a:avLst>
          </a:prstGeom>
          <a:solidFill>
            <a:srgbClr val="D7E3EE"/>
          </a:solidFill>
          <a:ln w="15875">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3" name="TextBox 12"/>
          <p:cNvSpPr txBox="1"/>
          <p:nvPr/>
        </p:nvSpPr>
        <p:spPr>
          <a:xfrm>
            <a:off x="1316736" y="2157984"/>
            <a:ext cx="4133088" cy="365760"/>
          </a:xfrm>
          <a:prstGeom prst="rect">
            <a:avLst/>
          </a:prstGeom>
          <a:noFill/>
        </p:spPr>
        <p:txBody>
          <a:bodyPr wrap="square" anchor="t" lIns="36576" rIns="36576" tIns="36576" bIns="36576">
            <a:spAutoFit/>
          </a:bodyPr>
          <a:lstStyle/>
          <a:p>
            <a:pPr algn="ctr"/>
            <a:r>
              <a:rPr sz="1150" b="1" i="0">
                <a:solidFill>
                  <a:srgbClr val="1F2A44"/>
                </a:solidFill>
                <a:latin typeface="Segoe UI"/>
              </a:rPr>
              <a:t>IAM  ·  signed requests  ·  least privilege</a:t>
            </a:r>
          </a:p>
        </p:txBody>
      </p:sp>
      <p:sp>
        <p:nvSpPr>
          <p:cNvPr id="14" name="Rounded Rectangle 13"/>
          <p:cNvSpPr/>
          <p:nvPr/>
        </p:nvSpPr>
        <p:spPr>
          <a:xfrm>
            <a:off x="1609344" y="2551176"/>
            <a:ext cx="3547872" cy="3392424"/>
          </a:xfrm>
          <a:prstGeom prst="roundRect">
            <a:avLst>
              <a:gd name="adj" fmla="val 6000"/>
            </a:avLst>
          </a:prstGeom>
          <a:solidFill>
            <a:srgbClr val="D7EEF1"/>
          </a:solidFill>
          <a:ln w="15875">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 name="TextBox 14"/>
          <p:cNvSpPr txBox="1"/>
          <p:nvPr/>
        </p:nvSpPr>
        <p:spPr>
          <a:xfrm>
            <a:off x="1700784" y="2596896"/>
            <a:ext cx="3364992" cy="365760"/>
          </a:xfrm>
          <a:prstGeom prst="rect">
            <a:avLst/>
          </a:prstGeom>
          <a:noFill/>
        </p:spPr>
        <p:txBody>
          <a:bodyPr wrap="square" anchor="t" lIns="36576" rIns="36576" tIns="36576" bIns="36576">
            <a:spAutoFit/>
          </a:bodyPr>
          <a:lstStyle/>
          <a:p>
            <a:pPr algn="ctr"/>
            <a:r>
              <a:rPr sz="1150" b="1" i="0">
                <a:solidFill>
                  <a:srgbClr val="0F7C8C"/>
                </a:solidFill>
                <a:latin typeface="Segoe UI"/>
              </a:rPr>
              <a:t>Versioning</a:t>
            </a:r>
          </a:p>
        </p:txBody>
      </p:sp>
      <p:sp>
        <p:nvSpPr>
          <p:cNvPr id="16" name="Rounded Rectangle 15"/>
          <p:cNvSpPr/>
          <p:nvPr/>
        </p:nvSpPr>
        <p:spPr>
          <a:xfrm>
            <a:off x="1993391" y="2990088"/>
            <a:ext cx="2779776" cy="2862072"/>
          </a:xfrm>
          <a:prstGeom prst="roundRect">
            <a:avLst>
              <a:gd name="adj" fmla="val 6000"/>
            </a:avLst>
          </a:prstGeom>
          <a:solidFill>
            <a:srgbClr val="FBE6CF"/>
          </a:solidFill>
          <a:ln w="15875">
            <a:solidFill>
              <a:srgbClr val="E8892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7" name="TextBox 16"/>
          <p:cNvSpPr txBox="1"/>
          <p:nvPr/>
        </p:nvSpPr>
        <p:spPr>
          <a:xfrm>
            <a:off x="2084831" y="3035808"/>
            <a:ext cx="2596896" cy="365760"/>
          </a:xfrm>
          <a:prstGeom prst="rect">
            <a:avLst/>
          </a:prstGeom>
          <a:noFill/>
        </p:spPr>
        <p:txBody>
          <a:bodyPr wrap="square" anchor="t" lIns="36576" rIns="36576" tIns="36576" bIns="36576">
            <a:spAutoFit/>
          </a:bodyPr>
          <a:lstStyle/>
          <a:p>
            <a:pPr algn="ctr"/>
            <a:r>
              <a:rPr sz="1150" b="1" i="0">
                <a:solidFill>
                  <a:srgbClr val="E8892B"/>
                </a:solidFill>
                <a:latin typeface="Segoe UI"/>
              </a:rPr>
              <a:t>Object Lock (Compliance mode)</a:t>
            </a:r>
          </a:p>
        </p:txBody>
      </p:sp>
      <p:sp>
        <p:nvSpPr>
          <p:cNvPr id="18" name="Rounded Rectangle 17"/>
          <p:cNvSpPr/>
          <p:nvPr/>
        </p:nvSpPr>
        <p:spPr>
          <a:xfrm>
            <a:off x="2377440" y="3474720"/>
            <a:ext cx="2011680" cy="219456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400" b="1" i="0">
                <a:solidFill>
                  <a:srgbClr val="FFFFFF"/>
                </a:solidFill>
                <a:latin typeface="Segoe UI"/>
              </a:rPr>
              <a:t>Backup data</a:t>
            </a:r>
          </a:p>
          <a:p>
            <a:pPr algn="ctr"/>
            <a:r>
              <a:rPr sz="1100" b="0" i="0">
                <a:solidFill>
                  <a:srgbClr val="FFFFFF"/>
                </a:solidFill>
                <a:latin typeface="Segoe UI"/>
              </a:rPr>
              <a:t>Encrypted at rest</a:t>
            </a:r>
          </a:p>
          <a:p>
            <a:pPr algn="ctr"/>
            <a:r>
              <a:rPr sz="1100" b="0" i="0">
                <a:solidFill>
                  <a:srgbClr val="FFFFFF"/>
                </a:solidFill>
                <a:latin typeface="Segoe UI"/>
              </a:rPr>
              <a:t>(external KMS)</a:t>
            </a:r>
          </a:p>
        </p:txBody>
      </p:sp>
      <p:sp>
        <p:nvSpPr>
          <p:cNvPr id="19" name="TextBox 18"/>
          <p:cNvSpPr txBox="1"/>
          <p:nvPr/>
        </p:nvSpPr>
        <p:spPr>
          <a:xfrm>
            <a:off x="6675120" y="1234440"/>
            <a:ext cx="5074920" cy="411480"/>
          </a:xfrm>
          <a:prstGeom prst="rect">
            <a:avLst/>
          </a:prstGeom>
          <a:noFill/>
        </p:spPr>
        <p:txBody>
          <a:bodyPr wrap="square" anchor="t" lIns="36576" rIns="36576" tIns="36576" bIns="36576">
            <a:spAutoFit/>
          </a:bodyPr>
          <a:lstStyle/>
          <a:p>
            <a:pPr algn="l"/>
            <a:r>
              <a:rPr sz="1600" b="1" i="0">
                <a:solidFill>
                  <a:srgbClr val="0F7C8C"/>
                </a:solidFill>
                <a:latin typeface="Segoe UI"/>
              </a:rPr>
              <a:t>Ransomware resilience scenario</a:t>
            </a:r>
          </a:p>
        </p:txBody>
      </p:sp>
      <p:sp>
        <p:nvSpPr>
          <p:cNvPr id="20" name="Rounded Rectangle 19"/>
          <p:cNvSpPr/>
          <p:nvPr/>
        </p:nvSpPr>
        <p:spPr>
          <a:xfrm>
            <a:off x="6675120" y="1737360"/>
            <a:ext cx="5074920" cy="685800"/>
          </a:xfrm>
          <a:prstGeom prst="roundRect">
            <a:avLst>
              <a:gd name="adj" fmla="val 10000"/>
            </a:avLst>
          </a:prstGeom>
          <a:solidFill>
            <a:srgbClr val="F9DEDE"/>
          </a:solidFill>
          <a:ln w="12700">
            <a:solidFill>
              <a:srgbClr val="D6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l"/>
            <a:r>
              <a:rPr sz="1250" b="1" i="0">
                <a:solidFill>
                  <a:srgbClr val="2B2F36"/>
                </a:solidFill>
                <a:latin typeface="Segoe UI"/>
              </a:rPr>
              <a:t>1   Attacker obtains administrator credentials</a:t>
            </a:r>
          </a:p>
        </p:txBody>
      </p:sp>
      <p:cxnSp>
        <p:nvCxnSpPr>
          <p:cNvPr id="21" name="Connector 20"/>
          <p:cNvCxnSpPr/>
          <p:nvPr/>
        </p:nvCxnSpPr>
        <p:spPr>
          <a:xfrm>
            <a:off x="9208008" y="2423160"/>
            <a:ext cx="0" cy="228600"/>
          </a:xfrm>
          <a:prstGeom prst="line">
            <a:avLst/>
          </a:prstGeom>
          <a:ln w="25400">
            <a:solidFill>
              <a:srgbClr val="D645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675120" y="2651760"/>
            <a:ext cx="5074920" cy="685800"/>
          </a:xfrm>
          <a:prstGeom prst="roundRect">
            <a:avLst>
              <a:gd name="adj" fmla="val 10000"/>
            </a:avLst>
          </a:prstGeom>
          <a:solidFill>
            <a:srgbClr val="F9DEDE"/>
          </a:solidFill>
          <a:ln w="12700">
            <a:solidFill>
              <a:srgbClr val="D6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l"/>
            <a:r>
              <a:rPr sz="1250" b="1" i="0">
                <a:solidFill>
                  <a:srgbClr val="2B2F36"/>
                </a:solidFill>
                <a:latin typeface="Segoe UI"/>
              </a:rPr>
              <a:t>2   Attempts to delete or encrypt backup objects</a:t>
            </a:r>
          </a:p>
        </p:txBody>
      </p:sp>
      <p:cxnSp>
        <p:nvCxnSpPr>
          <p:cNvPr id="23" name="Connector 22"/>
          <p:cNvCxnSpPr/>
          <p:nvPr/>
        </p:nvCxnSpPr>
        <p:spPr>
          <a:xfrm>
            <a:off x="9208008" y="3337560"/>
            <a:ext cx="0" cy="228600"/>
          </a:xfrm>
          <a:prstGeom prst="line">
            <a:avLst/>
          </a:prstGeom>
          <a:ln w="25400">
            <a:solidFill>
              <a:srgbClr val="D645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3566160"/>
            <a:ext cx="5074920" cy="685800"/>
          </a:xfrm>
          <a:prstGeom prst="roundRect">
            <a:avLst>
              <a:gd name="adj" fmla="val 10000"/>
            </a:avLst>
          </a:prstGeom>
          <a:solidFill>
            <a:srgbClr val="DDF2E5"/>
          </a:solidFill>
          <a:ln w="1270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l"/>
            <a:r>
              <a:rPr sz="1250" b="1" i="0">
                <a:solidFill>
                  <a:srgbClr val="2B2F36"/>
                </a:solidFill>
                <a:latin typeface="Segoe UI"/>
              </a:rPr>
              <a:t>3   Object Lock refuses every change until retention expires</a:t>
            </a:r>
          </a:p>
        </p:txBody>
      </p:sp>
      <p:cxnSp>
        <p:nvCxnSpPr>
          <p:cNvPr id="25" name="Connector 24"/>
          <p:cNvCxnSpPr/>
          <p:nvPr/>
        </p:nvCxnSpPr>
        <p:spPr>
          <a:xfrm>
            <a:off x="9208008" y="4251960"/>
            <a:ext cx="0" cy="228600"/>
          </a:xfrm>
          <a:prstGeom prst="line">
            <a:avLst/>
          </a:prstGeom>
          <a:ln w="25400">
            <a:solidFill>
              <a:srgbClr val="2E9E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675120" y="4480560"/>
            <a:ext cx="5074920" cy="685800"/>
          </a:xfrm>
          <a:prstGeom prst="roundRect">
            <a:avLst>
              <a:gd name="adj" fmla="val 10000"/>
            </a:avLst>
          </a:prstGeom>
          <a:solidFill>
            <a:srgbClr val="DDF2E5"/>
          </a:solidFill>
          <a:ln w="1270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l"/>
            <a:r>
              <a:rPr sz="1250" b="1" i="0">
                <a:solidFill>
                  <a:srgbClr val="2B2F36"/>
                </a:solidFill>
                <a:latin typeface="Segoe UI"/>
              </a:rPr>
              <a:t>4   Clean restore from immutable backups; no ransom</a:t>
            </a:r>
          </a:p>
        </p:txBody>
      </p:sp>
      <p:sp>
        <p:nvSpPr>
          <p:cNvPr id="27" name="TextBox 26"/>
          <p:cNvSpPr txBox="1"/>
          <p:nvPr/>
        </p:nvSpPr>
        <p:spPr>
          <a:xfrm>
            <a:off x="6675120" y="5440680"/>
            <a:ext cx="5074920" cy="822960"/>
          </a:xfrm>
          <a:prstGeom prst="rect">
            <a:avLst/>
          </a:prstGeom>
          <a:noFill/>
        </p:spPr>
        <p:txBody>
          <a:bodyPr wrap="square" anchor="t" lIns="36576" rIns="36576" tIns="36576" bIns="36576">
            <a:spAutoFit/>
          </a:bodyPr>
          <a:lstStyle/>
          <a:p>
            <a:pPr algn="l"/>
            <a:r>
              <a:rPr sz="1100" b="0" i="0">
                <a:solidFill>
                  <a:srgbClr val="5B6577"/>
                </a:solidFill>
                <a:latin typeface="Segoe UI"/>
              </a:rPr>
              <a:t>Compliance mode cannot be shortened or removed by any user, including administrators. Supported natively by backup software (e.g. Veeam immutable backups).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 name="Rectangle 2"/>
          <p:cNvSpPr/>
          <p:nvPr/>
        </p:nvSpPr>
        <p:spPr>
          <a:xfrm>
            <a:off x="0" y="914400"/>
            <a:ext cx="12191695" cy="54864"/>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4" name="TextBox 3"/>
          <p:cNvSpPr txBox="1"/>
          <p:nvPr/>
        </p:nvSpPr>
        <p:spPr>
          <a:xfrm>
            <a:off x="457200" y="91440"/>
            <a:ext cx="11247120" cy="502920"/>
          </a:xfrm>
          <a:prstGeom prst="rect">
            <a:avLst/>
          </a:prstGeom>
          <a:noFill/>
        </p:spPr>
        <p:txBody>
          <a:bodyPr wrap="square" anchor="ctr" lIns="36576" rIns="36576" tIns="36576" bIns="36576">
            <a:spAutoFit/>
          </a:bodyPr>
          <a:lstStyle/>
          <a:p>
            <a:pPr algn="l"/>
            <a:r>
              <a:rPr sz="2600" b="1" i="0">
                <a:solidFill>
                  <a:srgbClr val="FFFFFF"/>
                </a:solidFill>
                <a:latin typeface="Segoe UI"/>
              </a:rPr>
              <a:t>Our Deployment: Reference Architecture</a:t>
            </a:r>
          </a:p>
        </p:txBody>
      </p:sp>
      <p:sp>
        <p:nvSpPr>
          <p:cNvPr id="5" name="TextBox 4"/>
          <p:cNvSpPr txBox="1"/>
          <p:nvPr/>
        </p:nvSpPr>
        <p:spPr>
          <a:xfrm>
            <a:off x="457200" y="548640"/>
            <a:ext cx="11247120" cy="320040"/>
          </a:xfrm>
          <a:prstGeom prst="rect">
            <a:avLst/>
          </a:prstGeom>
          <a:noFill/>
        </p:spPr>
        <p:txBody>
          <a:bodyPr wrap="square" anchor="t" lIns="36576" rIns="36576" tIns="36576" bIns="36576">
            <a:spAutoFit/>
          </a:bodyPr>
          <a:lstStyle/>
          <a:p>
            <a:pPr algn="l"/>
            <a:r>
              <a:rPr sz="1300" b="0" i="0">
                <a:solidFill>
                  <a:srgbClr val="C9D3E3"/>
                </a:solidFill>
                <a:latin typeface="Segoe UI"/>
              </a:rPr>
              <a:t>Rack layout and component placement</a:t>
            </a:r>
          </a:p>
        </p:txBody>
      </p:sp>
      <p:sp>
        <p:nvSpPr>
          <p:cNvPr id="6" name="TextBox 5"/>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i="0">
                <a:solidFill>
                  <a:srgbClr val="5B6577"/>
                </a:solidFill>
                <a:latin typeface="Segoe UI"/>
              </a:rPr>
              <a:t>Scality RING  |  Architecture, Deployment &amp; Operations</a:t>
            </a:r>
          </a:p>
        </p:txBody>
      </p:sp>
      <p:sp>
        <p:nvSpPr>
          <p:cNvPr id="7" name="TextBox 6"/>
          <p:cNvSpPr txBox="1"/>
          <p:nvPr/>
        </p:nvSpPr>
        <p:spPr>
          <a:xfrm>
            <a:off x="10789920" y="6473952"/>
            <a:ext cx="914400" cy="274320"/>
          </a:xfrm>
          <a:prstGeom prst="rect">
            <a:avLst/>
          </a:prstGeom>
          <a:noFill/>
        </p:spPr>
        <p:txBody>
          <a:bodyPr wrap="square" anchor="t" lIns="36576" rIns="36576" tIns="36576" bIns="36576">
            <a:spAutoFit/>
          </a:bodyPr>
          <a:lstStyle/>
          <a:p>
            <a:pPr algn="r"/>
            <a:r>
              <a:rPr sz="1000" b="0" i="0">
                <a:solidFill>
                  <a:srgbClr val="5B6577"/>
                </a:solidFill>
                <a:latin typeface="Segoe UI"/>
              </a:rPr>
              <a:t>17</a:t>
            </a:r>
          </a:p>
        </p:txBody>
      </p:sp>
      <p:sp>
        <p:nvSpPr>
          <p:cNvPr id="8" name="Rectangle 7"/>
          <p:cNvSpPr/>
          <p:nvPr/>
        </p:nvSpPr>
        <p:spPr>
          <a:xfrm>
            <a:off x="457200" y="1188720"/>
            <a:ext cx="7680960" cy="384048"/>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Spine switches (×2)  ·  Load balancer pair (VIP)  ·  uplinks to client network</a:t>
            </a:r>
          </a:p>
        </p:txBody>
      </p:sp>
      <p:sp>
        <p:nvSpPr>
          <p:cNvPr id="9" name="TextBox 8"/>
          <p:cNvSpPr txBox="1"/>
          <p:nvPr/>
        </p:nvSpPr>
        <p:spPr>
          <a:xfrm>
            <a:off x="457200" y="1691640"/>
            <a:ext cx="1783080" cy="320040"/>
          </a:xfrm>
          <a:prstGeom prst="rect">
            <a:avLst/>
          </a:prstGeom>
          <a:noFill/>
        </p:spPr>
        <p:txBody>
          <a:bodyPr wrap="square" anchor="t" lIns="36576" rIns="36576" tIns="36576" bIns="36576">
            <a:spAutoFit/>
          </a:bodyPr>
          <a:lstStyle/>
          <a:p>
            <a:pPr algn="ctr"/>
            <a:r>
              <a:rPr sz="1300" b="1" i="0">
                <a:solidFill>
                  <a:srgbClr val="1F2A44"/>
                </a:solidFill>
                <a:latin typeface="Segoe UI"/>
              </a:rPr>
              <a:t>Rack 1</a:t>
            </a:r>
          </a:p>
        </p:txBody>
      </p:sp>
      <p:sp>
        <p:nvSpPr>
          <p:cNvPr id="10" name="Rectangle 9"/>
          <p:cNvSpPr/>
          <p:nvPr/>
        </p:nvSpPr>
        <p:spPr>
          <a:xfrm>
            <a:off x="457200" y="2011680"/>
            <a:ext cx="1783080" cy="4206240"/>
          </a:xfrm>
          <a:prstGeom prst="rect">
            <a:avLst/>
          </a:prstGeom>
          <a:solidFill>
            <a:srgbClr val="FAFBFC"/>
          </a:solidFill>
          <a:ln w="25400">
            <a:solidFill>
              <a:srgbClr val="4A556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1" name="Rectangle 10"/>
          <p:cNvSpPr/>
          <p:nvPr/>
        </p:nvSpPr>
        <p:spPr>
          <a:xfrm>
            <a:off x="566928" y="2148840"/>
            <a:ext cx="1563624" cy="402336"/>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Leaf A</a:t>
            </a:r>
          </a:p>
        </p:txBody>
      </p:sp>
      <p:sp>
        <p:nvSpPr>
          <p:cNvPr id="12" name="Rectangle 11"/>
          <p:cNvSpPr/>
          <p:nvPr/>
        </p:nvSpPr>
        <p:spPr>
          <a:xfrm>
            <a:off x="566928" y="2633472"/>
            <a:ext cx="1563624" cy="402336"/>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Leaf B</a:t>
            </a:r>
          </a:p>
        </p:txBody>
      </p:sp>
      <p:sp>
        <p:nvSpPr>
          <p:cNvPr id="13" name="Rectangle 12"/>
          <p:cNvSpPr/>
          <p:nvPr/>
        </p:nvSpPr>
        <p:spPr>
          <a:xfrm>
            <a:off x="566928" y="3118104"/>
            <a:ext cx="1563624" cy="402336"/>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Storage 1</a:t>
            </a:r>
          </a:p>
        </p:txBody>
      </p:sp>
      <p:sp>
        <p:nvSpPr>
          <p:cNvPr id="14" name="Rectangle 13"/>
          <p:cNvSpPr/>
          <p:nvPr/>
        </p:nvSpPr>
        <p:spPr>
          <a:xfrm>
            <a:off x="566928" y="3602736"/>
            <a:ext cx="1563624" cy="402336"/>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Storage 2</a:t>
            </a:r>
          </a:p>
        </p:txBody>
      </p:sp>
      <p:sp>
        <p:nvSpPr>
          <p:cNvPr id="15" name="Rectangle 14"/>
          <p:cNvSpPr/>
          <p:nvPr/>
        </p:nvSpPr>
        <p:spPr>
          <a:xfrm>
            <a:off x="566928" y="4087368"/>
            <a:ext cx="1563624" cy="402336"/>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Storage 3</a:t>
            </a:r>
          </a:p>
        </p:txBody>
      </p:sp>
      <p:sp>
        <p:nvSpPr>
          <p:cNvPr id="16" name="Rectangle 15"/>
          <p:cNvSpPr/>
          <p:nvPr/>
        </p:nvSpPr>
        <p:spPr>
          <a:xfrm>
            <a:off x="566928" y="4572000"/>
            <a:ext cx="1563624" cy="402336"/>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Connector 1</a:t>
            </a:r>
          </a:p>
        </p:txBody>
      </p:sp>
      <p:sp>
        <p:nvSpPr>
          <p:cNvPr id="17" name="Rectangle 16"/>
          <p:cNvSpPr/>
          <p:nvPr/>
        </p:nvSpPr>
        <p:spPr>
          <a:xfrm>
            <a:off x="566928" y="5056632"/>
            <a:ext cx="1563624" cy="402336"/>
          </a:xfrm>
          <a:prstGeom prst="rect">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Metadata 1</a:t>
            </a:r>
          </a:p>
        </p:txBody>
      </p:sp>
      <p:sp>
        <p:nvSpPr>
          <p:cNvPr id="18" name="Rectangle 17"/>
          <p:cNvSpPr/>
          <p:nvPr/>
        </p:nvSpPr>
        <p:spPr>
          <a:xfrm>
            <a:off x="566928" y="5541264"/>
            <a:ext cx="1563624" cy="402336"/>
          </a:xfrm>
          <a:prstGeom prst="rect">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Metadata 2</a:t>
            </a:r>
          </a:p>
        </p:txBody>
      </p:sp>
      <p:sp>
        <p:nvSpPr>
          <p:cNvPr id="19" name="TextBox 18"/>
          <p:cNvSpPr txBox="1"/>
          <p:nvPr/>
        </p:nvSpPr>
        <p:spPr>
          <a:xfrm>
            <a:off x="2423160" y="1691640"/>
            <a:ext cx="1783080" cy="320040"/>
          </a:xfrm>
          <a:prstGeom prst="rect">
            <a:avLst/>
          </a:prstGeom>
          <a:noFill/>
        </p:spPr>
        <p:txBody>
          <a:bodyPr wrap="square" anchor="t" lIns="36576" rIns="36576" tIns="36576" bIns="36576">
            <a:spAutoFit/>
          </a:bodyPr>
          <a:lstStyle/>
          <a:p>
            <a:pPr algn="ctr"/>
            <a:r>
              <a:rPr sz="1300" b="1" i="0">
                <a:solidFill>
                  <a:srgbClr val="1F2A44"/>
                </a:solidFill>
                <a:latin typeface="Segoe UI"/>
              </a:rPr>
              <a:t>Rack 2</a:t>
            </a:r>
          </a:p>
        </p:txBody>
      </p:sp>
      <p:sp>
        <p:nvSpPr>
          <p:cNvPr id="20" name="Rectangle 19"/>
          <p:cNvSpPr/>
          <p:nvPr/>
        </p:nvSpPr>
        <p:spPr>
          <a:xfrm>
            <a:off x="2423160" y="2011680"/>
            <a:ext cx="1783080" cy="4206240"/>
          </a:xfrm>
          <a:prstGeom prst="rect">
            <a:avLst/>
          </a:prstGeom>
          <a:solidFill>
            <a:srgbClr val="FAFBFC"/>
          </a:solidFill>
          <a:ln w="25400">
            <a:solidFill>
              <a:srgbClr val="4A556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21" name="Rectangle 20"/>
          <p:cNvSpPr/>
          <p:nvPr/>
        </p:nvSpPr>
        <p:spPr>
          <a:xfrm>
            <a:off x="2532888" y="2148840"/>
            <a:ext cx="1563624" cy="402336"/>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Leaf A</a:t>
            </a:r>
          </a:p>
        </p:txBody>
      </p:sp>
      <p:sp>
        <p:nvSpPr>
          <p:cNvPr id="22" name="Rectangle 21"/>
          <p:cNvSpPr/>
          <p:nvPr/>
        </p:nvSpPr>
        <p:spPr>
          <a:xfrm>
            <a:off x="2532888" y="2633472"/>
            <a:ext cx="1563624" cy="402336"/>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Leaf B</a:t>
            </a:r>
          </a:p>
        </p:txBody>
      </p:sp>
      <p:sp>
        <p:nvSpPr>
          <p:cNvPr id="23" name="Rectangle 22"/>
          <p:cNvSpPr/>
          <p:nvPr/>
        </p:nvSpPr>
        <p:spPr>
          <a:xfrm>
            <a:off x="2532888" y="3118104"/>
            <a:ext cx="1563624" cy="402336"/>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Storage 4</a:t>
            </a:r>
          </a:p>
        </p:txBody>
      </p:sp>
      <p:sp>
        <p:nvSpPr>
          <p:cNvPr id="24" name="Rectangle 23"/>
          <p:cNvSpPr/>
          <p:nvPr/>
        </p:nvSpPr>
        <p:spPr>
          <a:xfrm>
            <a:off x="2532888" y="3602736"/>
            <a:ext cx="1563624" cy="402336"/>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Storage 5</a:t>
            </a:r>
          </a:p>
        </p:txBody>
      </p:sp>
      <p:sp>
        <p:nvSpPr>
          <p:cNvPr id="25" name="Rectangle 24"/>
          <p:cNvSpPr/>
          <p:nvPr/>
        </p:nvSpPr>
        <p:spPr>
          <a:xfrm>
            <a:off x="2532888" y="4087368"/>
            <a:ext cx="1563624" cy="402336"/>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Storage 6</a:t>
            </a:r>
          </a:p>
        </p:txBody>
      </p:sp>
      <p:sp>
        <p:nvSpPr>
          <p:cNvPr id="26" name="Rectangle 25"/>
          <p:cNvSpPr/>
          <p:nvPr/>
        </p:nvSpPr>
        <p:spPr>
          <a:xfrm>
            <a:off x="2532888" y="4572000"/>
            <a:ext cx="1563624" cy="402336"/>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Connector 2</a:t>
            </a:r>
          </a:p>
        </p:txBody>
      </p:sp>
      <p:sp>
        <p:nvSpPr>
          <p:cNvPr id="27" name="Rectangle 26"/>
          <p:cNvSpPr/>
          <p:nvPr/>
        </p:nvSpPr>
        <p:spPr>
          <a:xfrm>
            <a:off x="2532888" y="5056632"/>
            <a:ext cx="1563624" cy="402336"/>
          </a:xfrm>
          <a:prstGeom prst="rect">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Metadata 3</a:t>
            </a:r>
          </a:p>
        </p:txBody>
      </p:sp>
      <p:sp>
        <p:nvSpPr>
          <p:cNvPr id="28" name="TextBox 27"/>
          <p:cNvSpPr txBox="1"/>
          <p:nvPr/>
        </p:nvSpPr>
        <p:spPr>
          <a:xfrm>
            <a:off x="4389120" y="1691640"/>
            <a:ext cx="1783080" cy="320040"/>
          </a:xfrm>
          <a:prstGeom prst="rect">
            <a:avLst/>
          </a:prstGeom>
          <a:noFill/>
        </p:spPr>
        <p:txBody>
          <a:bodyPr wrap="square" anchor="t" lIns="36576" rIns="36576" tIns="36576" bIns="36576">
            <a:spAutoFit/>
          </a:bodyPr>
          <a:lstStyle/>
          <a:p>
            <a:pPr algn="ctr"/>
            <a:r>
              <a:rPr sz="1300" b="1" i="0">
                <a:solidFill>
                  <a:srgbClr val="1F2A44"/>
                </a:solidFill>
                <a:latin typeface="Segoe UI"/>
              </a:rPr>
              <a:t>Rack 3</a:t>
            </a:r>
          </a:p>
        </p:txBody>
      </p:sp>
      <p:sp>
        <p:nvSpPr>
          <p:cNvPr id="29" name="Rectangle 28"/>
          <p:cNvSpPr/>
          <p:nvPr/>
        </p:nvSpPr>
        <p:spPr>
          <a:xfrm>
            <a:off x="4389120" y="2011680"/>
            <a:ext cx="1783080" cy="4206240"/>
          </a:xfrm>
          <a:prstGeom prst="rect">
            <a:avLst/>
          </a:prstGeom>
          <a:solidFill>
            <a:srgbClr val="FAFBFC"/>
          </a:solidFill>
          <a:ln w="25400">
            <a:solidFill>
              <a:srgbClr val="4A556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0" name="Rectangle 29"/>
          <p:cNvSpPr/>
          <p:nvPr/>
        </p:nvSpPr>
        <p:spPr>
          <a:xfrm>
            <a:off x="4498848" y="2148840"/>
            <a:ext cx="1563624" cy="402336"/>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Leaf A</a:t>
            </a:r>
          </a:p>
        </p:txBody>
      </p:sp>
      <p:sp>
        <p:nvSpPr>
          <p:cNvPr id="31" name="Rectangle 30"/>
          <p:cNvSpPr/>
          <p:nvPr/>
        </p:nvSpPr>
        <p:spPr>
          <a:xfrm>
            <a:off x="4498848" y="2633472"/>
            <a:ext cx="1563624" cy="402336"/>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Leaf B</a:t>
            </a:r>
          </a:p>
        </p:txBody>
      </p:sp>
      <p:sp>
        <p:nvSpPr>
          <p:cNvPr id="32" name="Rectangle 31"/>
          <p:cNvSpPr/>
          <p:nvPr/>
        </p:nvSpPr>
        <p:spPr>
          <a:xfrm>
            <a:off x="4498848" y="3118104"/>
            <a:ext cx="1563624" cy="402336"/>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Storage 7</a:t>
            </a:r>
          </a:p>
        </p:txBody>
      </p:sp>
      <p:sp>
        <p:nvSpPr>
          <p:cNvPr id="33" name="Rectangle 32"/>
          <p:cNvSpPr/>
          <p:nvPr/>
        </p:nvSpPr>
        <p:spPr>
          <a:xfrm>
            <a:off x="4498848" y="3602736"/>
            <a:ext cx="1563624" cy="402336"/>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Storage 8</a:t>
            </a:r>
          </a:p>
        </p:txBody>
      </p:sp>
      <p:sp>
        <p:nvSpPr>
          <p:cNvPr id="34" name="Rectangle 33"/>
          <p:cNvSpPr/>
          <p:nvPr/>
        </p:nvSpPr>
        <p:spPr>
          <a:xfrm>
            <a:off x="4498848" y="4087368"/>
            <a:ext cx="1563624" cy="402336"/>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Storage 9</a:t>
            </a:r>
          </a:p>
        </p:txBody>
      </p:sp>
      <p:sp>
        <p:nvSpPr>
          <p:cNvPr id="35" name="Rectangle 34"/>
          <p:cNvSpPr/>
          <p:nvPr/>
        </p:nvSpPr>
        <p:spPr>
          <a:xfrm>
            <a:off x="4498848" y="4572000"/>
            <a:ext cx="1563624" cy="402336"/>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Connector 3</a:t>
            </a:r>
          </a:p>
        </p:txBody>
      </p:sp>
      <p:sp>
        <p:nvSpPr>
          <p:cNvPr id="36" name="Rectangle 35"/>
          <p:cNvSpPr/>
          <p:nvPr/>
        </p:nvSpPr>
        <p:spPr>
          <a:xfrm>
            <a:off x="4498848" y="5056632"/>
            <a:ext cx="1563624" cy="402336"/>
          </a:xfrm>
          <a:prstGeom prst="rect">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Metadata 4</a:t>
            </a:r>
          </a:p>
        </p:txBody>
      </p:sp>
      <p:sp>
        <p:nvSpPr>
          <p:cNvPr id="37" name="TextBox 36"/>
          <p:cNvSpPr txBox="1"/>
          <p:nvPr/>
        </p:nvSpPr>
        <p:spPr>
          <a:xfrm>
            <a:off x="6355079" y="1691640"/>
            <a:ext cx="1783080" cy="320040"/>
          </a:xfrm>
          <a:prstGeom prst="rect">
            <a:avLst/>
          </a:prstGeom>
          <a:noFill/>
        </p:spPr>
        <p:txBody>
          <a:bodyPr wrap="square" anchor="t" lIns="36576" rIns="36576" tIns="36576" bIns="36576">
            <a:spAutoFit/>
          </a:bodyPr>
          <a:lstStyle/>
          <a:p>
            <a:pPr algn="ctr"/>
            <a:r>
              <a:rPr sz="1300" b="1" i="0">
                <a:solidFill>
                  <a:srgbClr val="1F2A44"/>
                </a:solidFill>
                <a:latin typeface="Segoe UI"/>
              </a:rPr>
              <a:t>Rack 4</a:t>
            </a:r>
          </a:p>
        </p:txBody>
      </p:sp>
      <p:sp>
        <p:nvSpPr>
          <p:cNvPr id="38" name="Rectangle 37"/>
          <p:cNvSpPr/>
          <p:nvPr/>
        </p:nvSpPr>
        <p:spPr>
          <a:xfrm>
            <a:off x="6355079" y="2011680"/>
            <a:ext cx="1783080" cy="4206240"/>
          </a:xfrm>
          <a:prstGeom prst="rect">
            <a:avLst/>
          </a:prstGeom>
          <a:solidFill>
            <a:srgbClr val="FAFBFC"/>
          </a:solidFill>
          <a:ln w="25400">
            <a:solidFill>
              <a:srgbClr val="4A556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9" name="Rectangle 38"/>
          <p:cNvSpPr/>
          <p:nvPr/>
        </p:nvSpPr>
        <p:spPr>
          <a:xfrm>
            <a:off x="6464807" y="2148840"/>
            <a:ext cx="1563624" cy="402336"/>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Leaf A</a:t>
            </a:r>
          </a:p>
        </p:txBody>
      </p:sp>
      <p:sp>
        <p:nvSpPr>
          <p:cNvPr id="40" name="Rectangle 39"/>
          <p:cNvSpPr/>
          <p:nvPr/>
        </p:nvSpPr>
        <p:spPr>
          <a:xfrm>
            <a:off x="6464807" y="2633472"/>
            <a:ext cx="1563624" cy="402336"/>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Leaf B</a:t>
            </a:r>
          </a:p>
        </p:txBody>
      </p:sp>
      <p:sp>
        <p:nvSpPr>
          <p:cNvPr id="41" name="Rectangle 40"/>
          <p:cNvSpPr/>
          <p:nvPr/>
        </p:nvSpPr>
        <p:spPr>
          <a:xfrm>
            <a:off x="6464807" y="3118104"/>
            <a:ext cx="1563624" cy="402336"/>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Storage 10</a:t>
            </a:r>
          </a:p>
        </p:txBody>
      </p:sp>
      <p:sp>
        <p:nvSpPr>
          <p:cNvPr id="42" name="Rectangle 41"/>
          <p:cNvSpPr/>
          <p:nvPr/>
        </p:nvSpPr>
        <p:spPr>
          <a:xfrm>
            <a:off x="6464807" y="3602736"/>
            <a:ext cx="1563624" cy="402336"/>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Storage 11</a:t>
            </a:r>
          </a:p>
        </p:txBody>
      </p:sp>
      <p:sp>
        <p:nvSpPr>
          <p:cNvPr id="43" name="Rectangle 42"/>
          <p:cNvSpPr/>
          <p:nvPr/>
        </p:nvSpPr>
        <p:spPr>
          <a:xfrm>
            <a:off x="6464807" y="4087368"/>
            <a:ext cx="1563624" cy="402336"/>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Storage 12</a:t>
            </a:r>
          </a:p>
        </p:txBody>
      </p:sp>
      <p:sp>
        <p:nvSpPr>
          <p:cNvPr id="44" name="Rectangle 43"/>
          <p:cNvSpPr/>
          <p:nvPr/>
        </p:nvSpPr>
        <p:spPr>
          <a:xfrm>
            <a:off x="6464807" y="4572000"/>
            <a:ext cx="1563624" cy="402336"/>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Connector 4</a:t>
            </a:r>
          </a:p>
        </p:txBody>
      </p:sp>
      <p:sp>
        <p:nvSpPr>
          <p:cNvPr id="45" name="Rectangle 44"/>
          <p:cNvSpPr/>
          <p:nvPr/>
        </p:nvSpPr>
        <p:spPr>
          <a:xfrm>
            <a:off x="6464807" y="5056632"/>
            <a:ext cx="1563624" cy="402336"/>
          </a:xfrm>
          <a:prstGeom prst="rect">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Metadata 5</a:t>
            </a:r>
          </a:p>
        </p:txBody>
      </p:sp>
      <p:sp>
        <p:nvSpPr>
          <p:cNvPr id="46" name="Rectangle 45"/>
          <p:cNvSpPr/>
          <p:nvPr/>
        </p:nvSpPr>
        <p:spPr>
          <a:xfrm>
            <a:off x="6464807" y="5541264"/>
            <a:ext cx="1563624" cy="402336"/>
          </a:xfrm>
          <a:prstGeom prst="rect">
            <a:avLst/>
          </a:prstGeom>
          <a:solidFill>
            <a:srgbClr val="5B65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Segoe UI"/>
              </a:rPr>
              <a:t>Supervisor</a:t>
            </a:r>
          </a:p>
        </p:txBody>
      </p:sp>
      <p:sp>
        <p:nvSpPr>
          <p:cNvPr id="47" name="TextBox 46"/>
          <p:cNvSpPr txBox="1"/>
          <p:nvPr/>
        </p:nvSpPr>
        <p:spPr>
          <a:xfrm>
            <a:off x="8412480" y="1188720"/>
            <a:ext cx="3337560" cy="320040"/>
          </a:xfrm>
          <a:prstGeom prst="rect">
            <a:avLst/>
          </a:prstGeom>
          <a:noFill/>
        </p:spPr>
        <p:txBody>
          <a:bodyPr wrap="square" anchor="t" lIns="36576" rIns="36576" tIns="36576" bIns="36576">
            <a:spAutoFit/>
          </a:bodyPr>
          <a:lstStyle/>
          <a:p>
            <a:pPr algn="l"/>
            <a:r>
              <a:rPr sz="1500" b="1" i="0">
                <a:solidFill>
                  <a:srgbClr val="0F7C8C"/>
                </a:solidFill>
                <a:latin typeface="Segoe UI"/>
              </a:rPr>
              <a:t>Reference design</a:t>
            </a:r>
          </a:p>
        </p:txBody>
      </p:sp>
      <p:sp>
        <p:nvSpPr>
          <p:cNvPr id="48" name="TextBox 47"/>
          <p:cNvSpPr txBox="1"/>
          <p:nvPr/>
        </p:nvSpPr>
        <p:spPr>
          <a:xfrm>
            <a:off x="8412480" y="1508760"/>
            <a:ext cx="3337560" cy="274320"/>
          </a:xfrm>
          <a:prstGeom prst="rect">
            <a:avLst/>
          </a:prstGeom>
          <a:noFill/>
        </p:spPr>
        <p:txBody>
          <a:bodyPr wrap="square" anchor="t" lIns="36576" rIns="36576" tIns="36576" bIns="36576">
            <a:spAutoFit/>
          </a:bodyPr>
          <a:lstStyle/>
          <a:p>
            <a:pPr algn="l"/>
            <a:r>
              <a:rPr sz="1000" b="0" i="0">
                <a:solidFill>
                  <a:srgbClr val="E8892B"/>
                </a:solidFill>
                <a:latin typeface="Segoe UI"/>
              </a:rPr>
              <a:t>Illustrative values; adapt to the actual environment</a:t>
            </a:r>
          </a:p>
        </p:txBody>
      </p:sp>
      <p:graphicFrame>
        <p:nvGraphicFramePr>
          <p:cNvPr id="49" name="Table 48"/>
          <p:cNvGraphicFramePr>
            <a:graphicFrameLocks noGrp="1"/>
          </p:cNvGraphicFramePr>
          <p:nvPr/>
        </p:nvGraphicFramePr>
        <p:xfrm>
          <a:off x="8412480" y="1828800"/>
          <a:ext cx="3337560" cy="4279392"/>
        </p:xfrm>
        <a:graphic>
          <a:graphicData uri="http://schemas.openxmlformats.org/drawingml/2006/table">
            <a:tbl>
              <a:tblPr firstRow="1" bandRow="1">
                <a:tableStyleId>{5C22544A-7EE6-4342-B048-85BDC9FD1C3A}</a:tableStyleId>
              </a:tblPr>
              <a:tblGrid>
                <a:gridCol w="1188720"/>
                <a:gridCol w="2148840"/>
              </a:tblGrid>
              <a:tr h="475488">
                <a:tc>
                  <a:txBody>
                    <a:bodyPr wrap="square"/>
                    <a:lstStyle/>
                    <a:p>
                      <a:r>
                        <a:rPr sz="1050" b="1" i="0">
                          <a:solidFill>
                            <a:srgbClr val="FFFFFF"/>
                          </a:solidFill>
                          <a:latin typeface="Segoe UI"/>
                        </a:rPr>
                        <a:t>Item</a:t>
                      </a:r>
                    </a:p>
                  </a:txBody>
                  <a:tcPr marL="73152" marR="73152" marT="27432" marB="27432" anchor="ctr">
                    <a:solidFill>
                      <a:srgbClr val="1F2A44"/>
                    </a:solidFill>
                  </a:tcPr>
                </a:tc>
                <a:tc>
                  <a:txBody>
                    <a:bodyPr wrap="square"/>
                    <a:lstStyle/>
                    <a:p>
                      <a:r>
                        <a:rPr sz="1050" b="1" i="0">
                          <a:solidFill>
                            <a:srgbClr val="FFFFFF"/>
                          </a:solidFill>
                          <a:latin typeface="Segoe UI"/>
                        </a:rPr>
                        <a:t>Value</a:t>
                      </a:r>
                    </a:p>
                  </a:txBody>
                  <a:tcPr marL="73152" marR="73152" marT="27432" marB="27432" anchor="ctr">
                    <a:solidFill>
                      <a:srgbClr val="1F2A44"/>
                    </a:solidFill>
                  </a:tcPr>
                </a:tc>
              </a:tr>
              <a:tr h="475488">
                <a:tc>
                  <a:txBody>
                    <a:bodyPr wrap="square"/>
                    <a:lstStyle/>
                    <a:p>
                      <a:r>
                        <a:rPr sz="1050" b="1" i="0">
                          <a:solidFill>
                            <a:srgbClr val="2B2F36"/>
                          </a:solidFill>
                          <a:latin typeface="Segoe UI"/>
                        </a:rPr>
                        <a:t>Storage servers</a:t>
                      </a:r>
                    </a:p>
                  </a:txBody>
                  <a:tcPr marL="73152" marR="73152" marT="27432" marB="27432" anchor="ctr">
                    <a:solidFill>
                      <a:srgbClr val="FFFFFF"/>
                    </a:solidFill>
                  </a:tcPr>
                </a:tc>
                <a:tc>
                  <a:txBody>
                    <a:bodyPr wrap="square"/>
                    <a:lstStyle/>
                    <a:p>
                      <a:r>
                        <a:rPr sz="1050" b="0" i="0">
                          <a:solidFill>
                            <a:srgbClr val="2B2F36"/>
                          </a:solidFill>
                          <a:latin typeface="Segoe UI"/>
                        </a:rPr>
                        <a:t>12 × (32 × 20 TB HDD + NVMe)</a:t>
                      </a:r>
                    </a:p>
                  </a:txBody>
                  <a:tcPr marL="73152" marR="73152" marT="27432" marB="27432" anchor="ctr">
                    <a:solidFill>
                      <a:srgbClr val="FFFFFF"/>
                    </a:solidFill>
                  </a:tcPr>
                </a:tc>
              </a:tr>
              <a:tr h="475488">
                <a:tc>
                  <a:txBody>
                    <a:bodyPr wrap="square"/>
                    <a:lstStyle/>
                    <a:p>
                      <a:r>
                        <a:rPr sz="1050" b="1" i="0">
                          <a:solidFill>
                            <a:srgbClr val="2B2F36"/>
                          </a:solidFill>
                          <a:latin typeface="Segoe UI"/>
                        </a:rPr>
                        <a:t>Raw / usable</a:t>
                      </a:r>
                    </a:p>
                  </a:txBody>
                  <a:tcPr marL="73152" marR="73152" marT="27432" marB="27432" anchor="ctr">
                    <a:solidFill>
                      <a:srgbClr val="F2F4F7"/>
                    </a:solidFill>
                  </a:tcPr>
                </a:tc>
                <a:tc>
                  <a:txBody>
                    <a:bodyPr wrap="square"/>
                    <a:lstStyle/>
                    <a:p>
                      <a:r>
                        <a:rPr sz="1050" b="0" i="0">
                          <a:solidFill>
                            <a:srgbClr val="2B2F36"/>
                          </a:solidFill>
                          <a:latin typeface="Segoe UI"/>
                        </a:rPr>
                        <a:t>7.68 PB / 5.76 PB</a:t>
                      </a:r>
                    </a:p>
                  </a:txBody>
                  <a:tcPr marL="73152" marR="73152" marT="27432" marB="27432" anchor="ctr">
                    <a:solidFill>
                      <a:srgbClr val="F2F4F7"/>
                    </a:solidFill>
                  </a:tcPr>
                </a:tc>
              </a:tr>
              <a:tr h="475488">
                <a:tc>
                  <a:txBody>
                    <a:bodyPr wrap="square"/>
                    <a:lstStyle/>
                    <a:p>
                      <a:r>
                        <a:rPr sz="1050" b="1" i="0">
                          <a:solidFill>
                            <a:srgbClr val="2B2F36"/>
                          </a:solidFill>
                          <a:latin typeface="Segoe UI"/>
                        </a:rPr>
                        <a:t>Protection</a:t>
                      </a:r>
                    </a:p>
                  </a:txBody>
                  <a:tcPr marL="73152" marR="73152" marT="27432" marB="27432" anchor="ctr">
                    <a:solidFill>
                      <a:srgbClr val="FFFFFF"/>
                    </a:solidFill>
                  </a:tcPr>
                </a:tc>
                <a:tc>
                  <a:txBody>
                    <a:bodyPr wrap="square"/>
                    <a:lstStyle/>
                    <a:p>
                      <a:r>
                        <a:rPr sz="1050" b="0" i="0">
                          <a:solidFill>
                            <a:srgbClr val="2B2F36"/>
                          </a:solidFill>
                          <a:latin typeface="Segoe UI"/>
                        </a:rPr>
                        <a:t>ARC 9+3; 3 copies for small objects</a:t>
                      </a:r>
                    </a:p>
                  </a:txBody>
                  <a:tcPr marL="73152" marR="73152" marT="27432" marB="27432" anchor="ctr">
                    <a:solidFill>
                      <a:srgbClr val="FFFFFF"/>
                    </a:solidFill>
                  </a:tcPr>
                </a:tc>
              </a:tr>
              <a:tr h="475488">
                <a:tc>
                  <a:txBody>
                    <a:bodyPr wrap="square"/>
                    <a:lstStyle/>
                    <a:p>
                      <a:r>
                        <a:rPr sz="1050" b="1" i="0">
                          <a:solidFill>
                            <a:srgbClr val="2B2F36"/>
                          </a:solidFill>
                          <a:latin typeface="Segoe UI"/>
                        </a:rPr>
                        <a:t>Fault tolerance</a:t>
                      </a:r>
                    </a:p>
                  </a:txBody>
                  <a:tcPr marL="73152" marR="73152" marT="27432" marB="27432" anchor="ctr">
                    <a:solidFill>
                      <a:srgbClr val="F2F4F7"/>
                    </a:solidFill>
                  </a:tcPr>
                </a:tc>
                <a:tc>
                  <a:txBody>
                    <a:bodyPr wrap="square"/>
                    <a:lstStyle/>
                    <a:p>
                      <a:r>
                        <a:rPr sz="1050" b="0" i="0">
                          <a:solidFill>
                            <a:srgbClr val="2B2F36"/>
                          </a:solidFill>
                          <a:latin typeface="Segoe UI"/>
                        </a:rPr>
                        <a:t>Any 3 servers or 1 full rack</a:t>
                      </a:r>
                    </a:p>
                  </a:txBody>
                  <a:tcPr marL="73152" marR="73152" marT="27432" marB="27432" anchor="ctr">
                    <a:solidFill>
                      <a:srgbClr val="F2F4F7"/>
                    </a:solidFill>
                  </a:tcPr>
                </a:tc>
              </a:tr>
              <a:tr h="475488">
                <a:tc>
                  <a:txBody>
                    <a:bodyPr wrap="square"/>
                    <a:lstStyle/>
                    <a:p>
                      <a:r>
                        <a:rPr sz="1050" b="1" i="0">
                          <a:solidFill>
                            <a:srgbClr val="2B2F36"/>
                          </a:solidFill>
                          <a:latin typeface="Segoe UI"/>
                        </a:rPr>
                        <a:t>Connectors</a:t>
                      </a:r>
                    </a:p>
                  </a:txBody>
                  <a:tcPr marL="73152" marR="73152" marT="27432" marB="27432" anchor="ctr">
                    <a:solidFill>
                      <a:srgbClr val="FFFFFF"/>
                    </a:solidFill>
                  </a:tcPr>
                </a:tc>
                <a:tc>
                  <a:txBody>
                    <a:bodyPr wrap="square"/>
                    <a:lstStyle/>
                    <a:p>
                      <a:r>
                        <a:rPr sz="1050" b="0" i="0">
                          <a:solidFill>
                            <a:srgbClr val="2B2F36"/>
                          </a:solidFill>
                          <a:latin typeface="Segoe UI"/>
                        </a:rPr>
                        <a:t>4 (N+1)</a:t>
                      </a:r>
                    </a:p>
                  </a:txBody>
                  <a:tcPr marL="73152" marR="73152" marT="27432" marB="27432" anchor="ctr">
                    <a:solidFill>
                      <a:srgbClr val="FFFFFF"/>
                    </a:solidFill>
                  </a:tcPr>
                </a:tc>
              </a:tr>
              <a:tr h="475488">
                <a:tc>
                  <a:txBody>
                    <a:bodyPr wrap="square"/>
                    <a:lstStyle/>
                    <a:p>
                      <a:r>
                        <a:rPr sz="1050" b="1" i="0">
                          <a:solidFill>
                            <a:srgbClr val="2B2F36"/>
                          </a:solidFill>
                          <a:latin typeface="Segoe UI"/>
                        </a:rPr>
                        <a:t>Metadata</a:t>
                      </a:r>
                    </a:p>
                  </a:txBody>
                  <a:tcPr marL="73152" marR="73152" marT="27432" marB="27432" anchor="ctr">
                    <a:solidFill>
                      <a:srgbClr val="F2F4F7"/>
                    </a:solidFill>
                  </a:tcPr>
                </a:tc>
                <a:tc>
                  <a:txBody>
                    <a:bodyPr wrap="square"/>
                    <a:lstStyle/>
                    <a:p>
                      <a:r>
                        <a:rPr sz="1050" b="0" i="0">
                          <a:solidFill>
                            <a:srgbClr val="2B2F36"/>
                          </a:solidFill>
                          <a:latin typeface="Segoe UI"/>
                        </a:rPr>
                        <a:t>5 nodes, 2/1/1/1 across racks</a:t>
                      </a:r>
                    </a:p>
                  </a:txBody>
                  <a:tcPr marL="73152" marR="73152" marT="27432" marB="27432" anchor="ctr">
                    <a:solidFill>
                      <a:srgbClr val="F2F4F7"/>
                    </a:solidFill>
                  </a:tcPr>
                </a:tc>
              </a:tr>
              <a:tr h="475488">
                <a:tc>
                  <a:txBody>
                    <a:bodyPr wrap="square"/>
                    <a:lstStyle/>
                    <a:p>
                      <a:r>
                        <a:rPr sz="1050" b="1" i="0">
                          <a:solidFill>
                            <a:srgbClr val="2B2F36"/>
                          </a:solidFill>
                          <a:latin typeface="Segoe UI"/>
                        </a:rPr>
                        <a:t>Network</a:t>
                      </a:r>
                    </a:p>
                  </a:txBody>
                  <a:tcPr marL="73152" marR="73152" marT="27432" marB="27432" anchor="ctr">
                    <a:solidFill>
                      <a:srgbClr val="FFFFFF"/>
                    </a:solidFill>
                  </a:tcPr>
                </a:tc>
                <a:tc>
                  <a:txBody>
                    <a:bodyPr wrap="square"/>
                    <a:lstStyle/>
                    <a:p>
                      <a:r>
                        <a:rPr sz="1050" b="0" i="0">
                          <a:solidFill>
                            <a:srgbClr val="2B2F36"/>
                          </a:solidFill>
                          <a:latin typeface="Segoe UI"/>
                        </a:rPr>
                        <a:t>2× 25 GbE per server; 100 GbE spine</a:t>
                      </a:r>
                    </a:p>
                  </a:txBody>
                  <a:tcPr marL="73152" marR="73152" marT="27432" marB="27432" anchor="ctr">
                    <a:solidFill>
                      <a:srgbClr val="FFFFFF"/>
                    </a:solidFill>
                  </a:tcPr>
                </a:tc>
              </a:tr>
              <a:tr h="475488">
                <a:tc>
                  <a:txBody>
                    <a:bodyPr wrap="square"/>
                    <a:lstStyle/>
                    <a:p>
                      <a:r>
                        <a:rPr sz="1050" b="1" i="0">
                          <a:solidFill>
                            <a:srgbClr val="2B2F36"/>
                          </a:solidFill>
                          <a:latin typeface="Segoe UI"/>
                        </a:rPr>
                        <a:t>DR</a:t>
                      </a:r>
                    </a:p>
                  </a:txBody>
                  <a:tcPr marL="73152" marR="73152" marT="27432" marB="27432" anchor="ctr">
                    <a:solidFill>
                      <a:srgbClr val="F2F4F7"/>
                    </a:solidFill>
                  </a:tcPr>
                </a:tc>
                <a:tc>
                  <a:txBody>
                    <a:bodyPr wrap="square"/>
                    <a:lstStyle/>
                    <a:p>
                      <a:r>
                        <a:rPr sz="1050" b="0" i="0">
                          <a:solidFill>
                            <a:srgbClr val="2B2F36"/>
                          </a:solidFill>
                          <a:latin typeface="Segoe UI"/>
                        </a:rPr>
                        <a:t>Async replication to second site</a:t>
                      </a:r>
                    </a:p>
                  </a:txBody>
                  <a:tcPr marL="73152" marR="73152" marT="27432" marB="27432" anchor="ctr">
                    <a:solidFill>
                      <a:srgbClr val="F2F4F7"/>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 name="Rectangle 2"/>
          <p:cNvSpPr/>
          <p:nvPr/>
        </p:nvSpPr>
        <p:spPr>
          <a:xfrm>
            <a:off x="0" y="914400"/>
            <a:ext cx="12191695" cy="54864"/>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4" name="TextBox 3"/>
          <p:cNvSpPr txBox="1"/>
          <p:nvPr/>
        </p:nvSpPr>
        <p:spPr>
          <a:xfrm>
            <a:off x="457200" y="91440"/>
            <a:ext cx="11247120" cy="502920"/>
          </a:xfrm>
          <a:prstGeom prst="rect">
            <a:avLst/>
          </a:prstGeom>
          <a:noFill/>
        </p:spPr>
        <p:txBody>
          <a:bodyPr wrap="square" anchor="ctr" lIns="36576" rIns="36576" tIns="36576" bIns="36576">
            <a:spAutoFit/>
          </a:bodyPr>
          <a:lstStyle/>
          <a:p>
            <a:pPr algn="l"/>
            <a:r>
              <a:rPr sz="2600" b="1" i="0">
                <a:solidFill>
                  <a:srgbClr val="FFFFFF"/>
                </a:solidFill>
                <a:latin typeface="Segoe UI"/>
              </a:rPr>
              <a:t>Capacity and Performance Sizing</a:t>
            </a:r>
          </a:p>
        </p:txBody>
      </p:sp>
      <p:sp>
        <p:nvSpPr>
          <p:cNvPr id="5" name="TextBox 4"/>
          <p:cNvSpPr txBox="1"/>
          <p:nvPr/>
        </p:nvSpPr>
        <p:spPr>
          <a:xfrm>
            <a:off x="457200" y="548640"/>
            <a:ext cx="11247120" cy="320040"/>
          </a:xfrm>
          <a:prstGeom prst="rect">
            <a:avLst/>
          </a:prstGeom>
          <a:noFill/>
        </p:spPr>
        <p:txBody>
          <a:bodyPr wrap="square" anchor="t" lIns="36576" rIns="36576" tIns="36576" bIns="36576">
            <a:spAutoFit/>
          </a:bodyPr>
          <a:lstStyle/>
          <a:p>
            <a:pPr algn="l"/>
            <a:r>
              <a:rPr sz="1300" b="0" i="0">
                <a:solidFill>
                  <a:srgbClr val="C9D3E3"/>
                </a:solidFill>
                <a:latin typeface="Segoe UI"/>
              </a:rPr>
              <a:t>Sized for three years of growth with rebuild headroom</a:t>
            </a:r>
          </a:p>
        </p:txBody>
      </p:sp>
      <p:sp>
        <p:nvSpPr>
          <p:cNvPr id="6" name="TextBox 5"/>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i="0">
                <a:solidFill>
                  <a:srgbClr val="5B6577"/>
                </a:solidFill>
                <a:latin typeface="Segoe UI"/>
              </a:rPr>
              <a:t>Scality RING  |  Architecture, Deployment &amp; Operations</a:t>
            </a:r>
          </a:p>
        </p:txBody>
      </p:sp>
      <p:sp>
        <p:nvSpPr>
          <p:cNvPr id="7" name="TextBox 6"/>
          <p:cNvSpPr txBox="1"/>
          <p:nvPr/>
        </p:nvSpPr>
        <p:spPr>
          <a:xfrm>
            <a:off x="10789920" y="6473952"/>
            <a:ext cx="914400" cy="274320"/>
          </a:xfrm>
          <a:prstGeom prst="rect">
            <a:avLst/>
          </a:prstGeom>
          <a:noFill/>
        </p:spPr>
        <p:txBody>
          <a:bodyPr wrap="square" anchor="t" lIns="36576" rIns="36576" tIns="36576" bIns="36576">
            <a:spAutoFit/>
          </a:bodyPr>
          <a:lstStyle/>
          <a:p>
            <a:pPr algn="r"/>
            <a:r>
              <a:rPr sz="1000" b="0" i="0">
                <a:solidFill>
                  <a:srgbClr val="5B6577"/>
                </a:solidFill>
                <a:latin typeface="Segoe UI"/>
              </a:rPr>
              <a:t>18</a:t>
            </a:r>
          </a:p>
        </p:txBody>
      </p:sp>
      <p:sp>
        <p:nvSpPr>
          <p:cNvPr id="8" name="TextBox 7"/>
          <p:cNvSpPr txBox="1"/>
          <p:nvPr/>
        </p:nvSpPr>
        <p:spPr>
          <a:xfrm>
            <a:off x="457200" y="1188720"/>
            <a:ext cx="5943600" cy="365760"/>
          </a:xfrm>
          <a:prstGeom prst="rect">
            <a:avLst/>
          </a:prstGeom>
          <a:noFill/>
        </p:spPr>
        <p:txBody>
          <a:bodyPr wrap="square" anchor="t" lIns="36576" rIns="36576" tIns="36576" bIns="36576">
            <a:spAutoFit/>
          </a:bodyPr>
          <a:lstStyle/>
          <a:p>
            <a:pPr algn="l"/>
            <a:r>
              <a:rPr sz="1500" b="1" i="0">
                <a:solidFill>
                  <a:srgbClr val="1F2A44"/>
                </a:solidFill>
                <a:latin typeface="Segoe UI"/>
              </a:rPr>
              <a:t>Data growth vs. capacity (PB)</a:t>
            </a:r>
          </a:p>
        </p:txBody>
      </p:sp>
      <p:sp>
        <p:nvSpPr>
          <p:cNvPr id="9" name="Rectangle 8"/>
          <p:cNvSpPr/>
          <p:nvPr/>
        </p:nvSpPr>
        <p:spPr>
          <a:xfrm>
            <a:off x="1188720" y="4572000"/>
            <a:ext cx="822960" cy="11887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0" name="TextBox 9"/>
          <p:cNvSpPr txBox="1"/>
          <p:nvPr/>
        </p:nvSpPr>
        <p:spPr>
          <a:xfrm>
            <a:off x="1005840" y="4251960"/>
            <a:ext cx="1188720" cy="274320"/>
          </a:xfrm>
          <a:prstGeom prst="rect">
            <a:avLst/>
          </a:prstGeom>
          <a:noFill/>
        </p:spPr>
        <p:txBody>
          <a:bodyPr wrap="square" anchor="t" lIns="36576" rIns="36576" tIns="36576" bIns="36576">
            <a:spAutoFit/>
          </a:bodyPr>
          <a:lstStyle/>
          <a:p>
            <a:pPr algn="ctr"/>
            <a:r>
              <a:rPr sz="1200" b="1" i="0">
                <a:solidFill>
                  <a:srgbClr val="1F2A44"/>
                </a:solidFill>
                <a:latin typeface="Segoe UI"/>
              </a:rPr>
              <a:t>2.0</a:t>
            </a:r>
          </a:p>
        </p:txBody>
      </p:sp>
      <p:sp>
        <p:nvSpPr>
          <p:cNvPr id="11" name="TextBox 10"/>
          <p:cNvSpPr txBox="1"/>
          <p:nvPr/>
        </p:nvSpPr>
        <p:spPr>
          <a:xfrm>
            <a:off x="1005840" y="5806440"/>
            <a:ext cx="1188720" cy="274320"/>
          </a:xfrm>
          <a:prstGeom prst="rect">
            <a:avLst/>
          </a:prstGeom>
          <a:noFill/>
        </p:spPr>
        <p:txBody>
          <a:bodyPr wrap="square" anchor="t" lIns="36576" rIns="36576" tIns="36576" bIns="36576">
            <a:spAutoFit/>
          </a:bodyPr>
          <a:lstStyle/>
          <a:p>
            <a:pPr algn="ctr"/>
            <a:r>
              <a:rPr sz="1100" b="0" i="0">
                <a:solidFill>
                  <a:srgbClr val="5B6577"/>
                </a:solidFill>
                <a:latin typeface="Segoe UI"/>
              </a:rPr>
              <a:t>Year 0</a:t>
            </a:r>
          </a:p>
        </p:txBody>
      </p:sp>
      <p:sp>
        <p:nvSpPr>
          <p:cNvPr id="12" name="Rectangle 11"/>
          <p:cNvSpPr/>
          <p:nvPr/>
        </p:nvSpPr>
        <p:spPr>
          <a:xfrm>
            <a:off x="2377440" y="4215383"/>
            <a:ext cx="822960" cy="1545336"/>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3" name="TextBox 12"/>
          <p:cNvSpPr txBox="1"/>
          <p:nvPr/>
        </p:nvSpPr>
        <p:spPr>
          <a:xfrm>
            <a:off x="2194560" y="3895344"/>
            <a:ext cx="1188720" cy="274320"/>
          </a:xfrm>
          <a:prstGeom prst="rect">
            <a:avLst/>
          </a:prstGeom>
          <a:noFill/>
        </p:spPr>
        <p:txBody>
          <a:bodyPr wrap="square" anchor="t" lIns="36576" rIns="36576" tIns="36576" bIns="36576">
            <a:spAutoFit/>
          </a:bodyPr>
          <a:lstStyle/>
          <a:p>
            <a:pPr algn="ctr"/>
            <a:r>
              <a:rPr sz="1200" b="1" i="0">
                <a:solidFill>
                  <a:srgbClr val="1F2A44"/>
                </a:solidFill>
                <a:latin typeface="Segoe UI"/>
              </a:rPr>
              <a:t>2.6</a:t>
            </a:r>
          </a:p>
        </p:txBody>
      </p:sp>
      <p:sp>
        <p:nvSpPr>
          <p:cNvPr id="14" name="TextBox 13"/>
          <p:cNvSpPr txBox="1"/>
          <p:nvPr/>
        </p:nvSpPr>
        <p:spPr>
          <a:xfrm>
            <a:off x="2194560" y="5806440"/>
            <a:ext cx="1188720" cy="274320"/>
          </a:xfrm>
          <a:prstGeom prst="rect">
            <a:avLst/>
          </a:prstGeom>
          <a:noFill/>
        </p:spPr>
        <p:txBody>
          <a:bodyPr wrap="square" anchor="t" lIns="36576" rIns="36576" tIns="36576" bIns="36576">
            <a:spAutoFit/>
          </a:bodyPr>
          <a:lstStyle/>
          <a:p>
            <a:pPr algn="ctr"/>
            <a:r>
              <a:rPr sz="1100" b="0" i="0">
                <a:solidFill>
                  <a:srgbClr val="5B6577"/>
                </a:solidFill>
                <a:latin typeface="Segoe UI"/>
              </a:rPr>
              <a:t>Year 1</a:t>
            </a:r>
          </a:p>
        </p:txBody>
      </p:sp>
      <p:sp>
        <p:nvSpPr>
          <p:cNvPr id="15" name="Rectangle 14"/>
          <p:cNvSpPr/>
          <p:nvPr/>
        </p:nvSpPr>
        <p:spPr>
          <a:xfrm>
            <a:off x="3566160" y="3739896"/>
            <a:ext cx="822960" cy="2020824"/>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 name="TextBox 15"/>
          <p:cNvSpPr txBox="1"/>
          <p:nvPr/>
        </p:nvSpPr>
        <p:spPr>
          <a:xfrm>
            <a:off x="3383280" y="3419856"/>
            <a:ext cx="1188720" cy="274320"/>
          </a:xfrm>
          <a:prstGeom prst="rect">
            <a:avLst/>
          </a:prstGeom>
          <a:noFill/>
        </p:spPr>
        <p:txBody>
          <a:bodyPr wrap="square" anchor="t" lIns="36576" rIns="36576" tIns="36576" bIns="36576">
            <a:spAutoFit/>
          </a:bodyPr>
          <a:lstStyle/>
          <a:p>
            <a:pPr algn="ctr"/>
            <a:r>
              <a:rPr sz="1200" b="1" i="0">
                <a:solidFill>
                  <a:srgbClr val="1F2A44"/>
                </a:solidFill>
                <a:latin typeface="Segoe UI"/>
              </a:rPr>
              <a:t>3.4</a:t>
            </a:r>
          </a:p>
        </p:txBody>
      </p:sp>
      <p:sp>
        <p:nvSpPr>
          <p:cNvPr id="17" name="TextBox 16"/>
          <p:cNvSpPr txBox="1"/>
          <p:nvPr/>
        </p:nvSpPr>
        <p:spPr>
          <a:xfrm>
            <a:off x="3383280" y="5806440"/>
            <a:ext cx="1188720" cy="274320"/>
          </a:xfrm>
          <a:prstGeom prst="rect">
            <a:avLst/>
          </a:prstGeom>
          <a:noFill/>
        </p:spPr>
        <p:txBody>
          <a:bodyPr wrap="square" anchor="t" lIns="36576" rIns="36576" tIns="36576" bIns="36576">
            <a:spAutoFit/>
          </a:bodyPr>
          <a:lstStyle/>
          <a:p>
            <a:pPr algn="ctr"/>
            <a:r>
              <a:rPr sz="1100" b="0" i="0">
                <a:solidFill>
                  <a:srgbClr val="5B6577"/>
                </a:solidFill>
                <a:latin typeface="Segoe UI"/>
              </a:rPr>
              <a:t>Year 2</a:t>
            </a:r>
          </a:p>
        </p:txBody>
      </p:sp>
      <p:sp>
        <p:nvSpPr>
          <p:cNvPr id="18" name="Rectangle 17"/>
          <p:cNvSpPr/>
          <p:nvPr/>
        </p:nvSpPr>
        <p:spPr>
          <a:xfrm>
            <a:off x="4754880" y="3145535"/>
            <a:ext cx="822960" cy="2615184"/>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9" name="TextBox 18"/>
          <p:cNvSpPr txBox="1"/>
          <p:nvPr/>
        </p:nvSpPr>
        <p:spPr>
          <a:xfrm>
            <a:off x="4572000" y="2825495"/>
            <a:ext cx="1188720" cy="274320"/>
          </a:xfrm>
          <a:prstGeom prst="rect">
            <a:avLst/>
          </a:prstGeom>
          <a:noFill/>
        </p:spPr>
        <p:txBody>
          <a:bodyPr wrap="square" anchor="t" lIns="36576" rIns="36576" tIns="36576" bIns="36576">
            <a:spAutoFit/>
          </a:bodyPr>
          <a:lstStyle/>
          <a:p>
            <a:pPr algn="ctr"/>
            <a:r>
              <a:rPr sz="1200" b="1" i="0">
                <a:solidFill>
                  <a:srgbClr val="1F2A44"/>
                </a:solidFill>
                <a:latin typeface="Segoe UI"/>
              </a:rPr>
              <a:t>4.4</a:t>
            </a:r>
          </a:p>
        </p:txBody>
      </p:sp>
      <p:sp>
        <p:nvSpPr>
          <p:cNvPr id="20" name="TextBox 19"/>
          <p:cNvSpPr txBox="1"/>
          <p:nvPr/>
        </p:nvSpPr>
        <p:spPr>
          <a:xfrm>
            <a:off x="4572000" y="5806440"/>
            <a:ext cx="1188720" cy="274320"/>
          </a:xfrm>
          <a:prstGeom prst="rect">
            <a:avLst/>
          </a:prstGeom>
          <a:noFill/>
        </p:spPr>
        <p:txBody>
          <a:bodyPr wrap="square" anchor="t" lIns="36576" rIns="36576" tIns="36576" bIns="36576">
            <a:spAutoFit/>
          </a:bodyPr>
          <a:lstStyle/>
          <a:p>
            <a:pPr algn="ctr"/>
            <a:r>
              <a:rPr sz="1100" b="0" i="0">
                <a:solidFill>
                  <a:srgbClr val="5B6577"/>
                </a:solidFill>
                <a:latin typeface="Segoe UI"/>
              </a:rPr>
              <a:t>Year 3</a:t>
            </a:r>
          </a:p>
        </p:txBody>
      </p:sp>
      <p:cxnSp>
        <p:nvCxnSpPr>
          <p:cNvPr id="21" name="Connector 20"/>
          <p:cNvCxnSpPr/>
          <p:nvPr/>
        </p:nvCxnSpPr>
        <p:spPr>
          <a:xfrm>
            <a:off x="914400" y="5760720"/>
            <a:ext cx="5029200" cy="0"/>
          </a:xfrm>
          <a:prstGeom prst="line">
            <a:avLst/>
          </a:prstGeom>
          <a:ln w="15875">
            <a:solidFill>
              <a:srgbClr val="4A556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14400" y="2337206"/>
            <a:ext cx="5029200" cy="0"/>
          </a:xfrm>
          <a:prstGeom prst="line">
            <a:avLst/>
          </a:prstGeom>
          <a:ln w="19050">
            <a:solidFill>
              <a:srgbClr val="1F2A44"/>
            </a:solidFill>
            <a:prstDash val="dash"/>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14400" y="2044598"/>
            <a:ext cx="2743200" cy="274320"/>
          </a:xfrm>
          <a:prstGeom prst="rect">
            <a:avLst/>
          </a:prstGeom>
          <a:noFill/>
        </p:spPr>
        <p:txBody>
          <a:bodyPr wrap="square" anchor="t" lIns="36576" rIns="36576" tIns="36576" bIns="36576">
            <a:spAutoFit/>
          </a:bodyPr>
          <a:lstStyle/>
          <a:p>
            <a:pPr algn="l"/>
            <a:r>
              <a:rPr sz="1050" b="1" i="0">
                <a:solidFill>
                  <a:srgbClr val="1F2A44"/>
                </a:solidFill>
                <a:latin typeface="Segoe UI"/>
              </a:rPr>
              <a:t>Usable capacity 5.76 PB</a:t>
            </a:r>
          </a:p>
        </p:txBody>
      </p:sp>
      <p:cxnSp>
        <p:nvCxnSpPr>
          <p:cNvPr id="24" name="Connector 23"/>
          <p:cNvCxnSpPr/>
          <p:nvPr/>
        </p:nvCxnSpPr>
        <p:spPr>
          <a:xfrm>
            <a:off x="914400" y="3026664"/>
            <a:ext cx="5029200" cy="0"/>
          </a:xfrm>
          <a:prstGeom prst="line">
            <a:avLst/>
          </a:prstGeom>
          <a:ln w="19050">
            <a:solidFill>
              <a:srgbClr val="E8892B"/>
            </a:solidFill>
            <a:prstDash val="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14400" y="2734056"/>
            <a:ext cx="2743200" cy="274320"/>
          </a:xfrm>
          <a:prstGeom prst="rect">
            <a:avLst/>
          </a:prstGeom>
          <a:noFill/>
        </p:spPr>
        <p:txBody>
          <a:bodyPr wrap="square" anchor="t" lIns="36576" rIns="36576" tIns="36576" bIns="36576">
            <a:spAutoFit/>
          </a:bodyPr>
          <a:lstStyle/>
          <a:p>
            <a:pPr algn="l"/>
            <a:r>
              <a:rPr sz="1050" b="1" i="0">
                <a:solidFill>
                  <a:srgbClr val="E8892B"/>
                </a:solidFill>
                <a:latin typeface="Segoe UI"/>
              </a:rPr>
              <a:t>80% safe limit 4.6 PB</a:t>
            </a:r>
          </a:p>
        </p:txBody>
      </p:sp>
      <p:sp>
        <p:nvSpPr>
          <p:cNvPr id="26" name="Rounded Rectangle 25"/>
          <p:cNvSpPr/>
          <p:nvPr/>
        </p:nvSpPr>
        <p:spPr>
          <a:xfrm>
            <a:off x="6675120" y="1234440"/>
            <a:ext cx="5074920" cy="54864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l"/>
            <a:r>
              <a:rPr sz="1200" b="0" i="0">
                <a:solidFill>
                  <a:srgbClr val="2B2F36"/>
                </a:solidFill>
                <a:latin typeface="Segoe UI"/>
              </a:rPr>
              <a:t>Data today: 2.0 PB</a:t>
            </a:r>
          </a:p>
        </p:txBody>
      </p:sp>
      <p:cxnSp>
        <p:nvCxnSpPr>
          <p:cNvPr id="27" name="Connector 26"/>
          <p:cNvCxnSpPr/>
          <p:nvPr/>
        </p:nvCxnSpPr>
        <p:spPr>
          <a:xfrm>
            <a:off x="9208008" y="1783080"/>
            <a:ext cx="0" cy="128015"/>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675120" y="1911095"/>
            <a:ext cx="5074920" cy="54864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l"/>
            <a:r>
              <a:rPr sz="1200" b="0" i="0">
                <a:solidFill>
                  <a:srgbClr val="2B2F36"/>
                </a:solidFill>
                <a:latin typeface="Segoe UI"/>
              </a:rPr>
              <a:t>3-year growth at 30% per year: 4.4 PB</a:t>
            </a:r>
          </a:p>
        </p:txBody>
      </p:sp>
      <p:cxnSp>
        <p:nvCxnSpPr>
          <p:cNvPr id="29" name="Connector 28"/>
          <p:cNvCxnSpPr/>
          <p:nvPr/>
        </p:nvCxnSpPr>
        <p:spPr>
          <a:xfrm>
            <a:off x="9208008" y="2459736"/>
            <a:ext cx="0" cy="128016"/>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675120" y="2587752"/>
            <a:ext cx="5074920" cy="54864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l"/>
            <a:r>
              <a:rPr sz="1200" b="0" i="0">
                <a:solidFill>
                  <a:srgbClr val="2B2F36"/>
                </a:solidFill>
                <a:latin typeface="Segoe UI"/>
              </a:rPr>
              <a:t>Keep ≤ 80% utilization: 5.5 PB usable needed</a:t>
            </a:r>
          </a:p>
        </p:txBody>
      </p:sp>
      <p:cxnSp>
        <p:nvCxnSpPr>
          <p:cNvPr id="31" name="Connector 30"/>
          <p:cNvCxnSpPr/>
          <p:nvPr/>
        </p:nvCxnSpPr>
        <p:spPr>
          <a:xfrm>
            <a:off x="9208008" y="3136392"/>
            <a:ext cx="0" cy="128016"/>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675120" y="3264408"/>
            <a:ext cx="5074920" cy="54864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l"/>
            <a:r>
              <a:rPr sz="1200" b="0" i="0">
                <a:solidFill>
                  <a:srgbClr val="2B2F36"/>
                </a:solidFill>
                <a:latin typeface="Segoe UI"/>
              </a:rPr>
              <a:t>ARC 9+3 overhead ×1.33: 7.3 PB raw needed</a:t>
            </a:r>
          </a:p>
        </p:txBody>
      </p:sp>
      <p:cxnSp>
        <p:nvCxnSpPr>
          <p:cNvPr id="33" name="Connector 32"/>
          <p:cNvCxnSpPr/>
          <p:nvPr/>
        </p:nvCxnSpPr>
        <p:spPr>
          <a:xfrm>
            <a:off x="9208008" y="3813048"/>
            <a:ext cx="0" cy="128015"/>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675120" y="3941064"/>
            <a:ext cx="5074920" cy="548640"/>
          </a:xfrm>
          <a:prstGeom prst="roundRect">
            <a:avLst>
              <a:gd name="adj" fmla="val 10000"/>
            </a:avLst>
          </a:prstGeom>
          <a:solidFill>
            <a:srgbClr val="F2F4F7"/>
          </a:solidFill>
          <a:ln w="12700">
            <a:solidFill>
              <a:srgbClr val="AEB6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l"/>
            <a:r>
              <a:rPr sz="1200" b="0" i="0">
                <a:solidFill>
                  <a:srgbClr val="2B2F36"/>
                </a:solidFill>
                <a:latin typeface="Segoe UI"/>
              </a:rPr>
              <a:t>12 servers × 32 × 20 TB = 7.68 PB raw</a:t>
            </a:r>
          </a:p>
        </p:txBody>
      </p:sp>
      <p:cxnSp>
        <p:nvCxnSpPr>
          <p:cNvPr id="35" name="Connector 34"/>
          <p:cNvCxnSpPr/>
          <p:nvPr/>
        </p:nvCxnSpPr>
        <p:spPr>
          <a:xfrm>
            <a:off x="9208008" y="4489704"/>
            <a:ext cx="0" cy="128016"/>
          </a:xfrm>
          <a:prstGeom prst="line">
            <a:avLst/>
          </a:prstGeom>
          <a:ln w="19050">
            <a:solidFill>
              <a:srgbClr val="5B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675120" y="4617720"/>
            <a:ext cx="5074920" cy="548640"/>
          </a:xfrm>
          <a:prstGeom prst="roundRect">
            <a:avLst>
              <a:gd name="adj" fmla="val 10000"/>
            </a:avLst>
          </a:prstGeom>
          <a:solidFill>
            <a:srgbClr val="DDF2E5"/>
          </a:solidFill>
          <a:ln w="1270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l"/>
            <a:r>
              <a:rPr sz="1200" b="1" i="0">
                <a:solidFill>
                  <a:srgbClr val="2E9E5B"/>
                </a:solidFill>
                <a:latin typeface="Segoe UI"/>
              </a:rPr>
              <a:t>Result: 5.76 PB usable · 4.6 PB at 80%  ✔</a:t>
            </a:r>
          </a:p>
        </p:txBody>
      </p:sp>
      <p:sp>
        <p:nvSpPr>
          <p:cNvPr id="37" name="Rounded Rectangle 36"/>
          <p:cNvSpPr/>
          <p:nvPr/>
        </p:nvSpPr>
        <p:spPr>
          <a:xfrm>
            <a:off x="6675120" y="5440680"/>
            <a:ext cx="5074920" cy="777240"/>
          </a:xfrm>
          <a:prstGeom prst="roundRect">
            <a:avLst>
              <a:gd name="adj" fmla="val 10000"/>
            </a:avLst>
          </a:prstGeom>
          <a:solidFill>
            <a:srgbClr val="D7EEF1"/>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l"/>
            <a:r>
              <a:rPr sz="1100" b="0" i="0">
                <a:solidFill>
                  <a:srgbClr val="1F2A44"/>
                </a:solidFill>
                <a:latin typeface="Segoe UI"/>
              </a:rPr>
              <a:t>Performance: 100 TB nightly in 8 h = 3.5 GB/s client ingest, about 4.6 GB/s back-end; 3 connectors + 1 spare (per-connector throughput validated in PoC)</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 name="Rectangle 2"/>
          <p:cNvSpPr/>
          <p:nvPr/>
        </p:nvSpPr>
        <p:spPr>
          <a:xfrm>
            <a:off x="0" y="914400"/>
            <a:ext cx="12191695" cy="54864"/>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4" name="TextBox 3"/>
          <p:cNvSpPr txBox="1"/>
          <p:nvPr/>
        </p:nvSpPr>
        <p:spPr>
          <a:xfrm>
            <a:off x="457200" y="91440"/>
            <a:ext cx="11247120" cy="502920"/>
          </a:xfrm>
          <a:prstGeom prst="rect">
            <a:avLst/>
          </a:prstGeom>
          <a:noFill/>
        </p:spPr>
        <p:txBody>
          <a:bodyPr wrap="square" anchor="ctr" lIns="36576" rIns="36576" tIns="36576" bIns="36576">
            <a:spAutoFit/>
          </a:bodyPr>
          <a:lstStyle/>
          <a:p>
            <a:pPr algn="l"/>
            <a:r>
              <a:rPr sz="2600" b="1" i="0">
                <a:solidFill>
                  <a:srgbClr val="FFFFFF"/>
                </a:solidFill>
                <a:latin typeface="Segoe UI"/>
              </a:rPr>
              <a:t>Operations: Monitoring and Management</a:t>
            </a:r>
          </a:p>
        </p:txBody>
      </p:sp>
      <p:sp>
        <p:nvSpPr>
          <p:cNvPr id="5" name="TextBox 4"/>
          <p:cNvSpPr txBox="1"/>
          <p:nvPr/>
        </p:nvSpPr>
        <p:spPr>
          <a:xfrm>
            <a:off x="457200" y="548640"/>
            <a:ext cx="11247120" cy="320040"/>
          </a:xfrm>
          <a:prstGeom prst="rect">
            <a:avLst/>
          </a:prstGeom>
          <a:noFill/>
        </p:spPr>
        <p:txBody>
          <a:bodyPr wrap="square" anchor="t" lIns="36576" rIns="36576" tIns="36576" bIns="36576">
            <a:spAutoFit/>
          </a:bodyPr>
          <a:lstStyle/>
          <a:p>
            <a:pPr algn="l"/>
            <a:r>
              <a:rPr sz="1300" b="0" i="0">
                <a:solidFill>
                  <a:srgbClr val="C9D3E3"/>
                </a:solidFill>
                <a:latin typeface="Segoe UI"/>
              </a:rPr>
              <a:t>What we watch and how we manage it</a:t>
            </a:r>
          </a:p>
        </p:txBody>
      </p:sp>
      <p:sp>
        <p:nvSpPr>
          <p:cNvPr id="6" name="TextBox 5"/>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i="0">
                <a:solidFill>
                  <a:srgbClr val="5B6577"/>
                </a:solidFill>
                <a:latin typeface="Segoe UI"/>
              </a:rPr>
              <a:t>Scality RING  |  Architecture, Deployment &amp; Operations</a:t>
            </a:r>
          </a:p>
        </p:txBody>
      </p:sp>
      <p:sp>
        <p:nvSpPr>
          <p:cNvPr id="7" name="TextBox 6"/>
          <p:cNvSpPr txBox="1"/>
          <p:nvPr/>
        </p:nvSpPr>
        <p:spPr>
          <a:xfrm>
            <a:off x="10789920" y="6473952"/>
            <a:ext cx="914400" cy="274320"/>
          </a:xfrm>
          <a:prstGeom prst="rect">
            <a:avLst/>
          </a:prstGeom>
          <a:noFill/>
        </p:spPr>
        <p:txBody>
          <a:bodyPr wrap="square" anchor="t" lIns="36576" rIns="36576" tIns="36576" bIns="36576">
            <a:spAutoFit/>
          </a:bodyPr>
          <a:lstStyle/>
          <a:p>
            <a:pPr algn="r"/>
            <a:r>
              <a:rPr sz="1000" b="0" i="0">
                <a:solidFill>
                  <a:srgbClr val="5B6577"/>
                </a:solidFill>
                <a:latin typeface="Segoe UI"/>
              </a:rPr>
              <a:t>19</a:t>
            </a:r>
          </a:p>
        </p:txBody>
      </p:sp>
      <p:sp>
        <p:nvSpPr>
          <p:cNvPr id="8" name="Rounded Rectangle 7"/>
          <p:cNvSpPr/>
          <p:nvPr/>
        </p:nvSpPr>
        <p:spPr>
          <a:xfrm>
            <a:off x="457200" y="1234440"/>
            <a:ext cx="3639312" cy="137160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54864" bIns="54864"/>
          <a:lstStyle/>
          <a:p>
            <a:pPr algn="l">
              <a:spcAft>
                <a:spcPts val="400"/>
              </a:spcAft>
            </a:pPr>
            <a:r>
              <a:rPr sz="1400" b="1" i="0">
                <a:solidFill>
                  <a:srgbClr val="1F2A44"/>
                </a:solidFill>
                <a:latin typeface="Segoe UI"/>
              </a:rPr>
              <a:t>Capacity utilization</a:t>
            </a:r>
          </a:p>
          <a:p>
            <a:pPr algn="l">
              <a:spcAft>
                <a:spcPts val="300"/>
              </a:spcAft>
            </a:pPr>
            <a:r>
              <a:rPr sz="1200" b="1" i="0">
                <a:solidFill>
                  <a:srgbClr val="E8892B"/>
                </a:solidFill>
                <a:latin typeface="Segoe UI"/>
              </a:rPr>
              <a:t>Warning 70%  ·  Critical 80%</a:t>
            </a:r>
          </a:p>
          <a:p>
            <a:pPr algn="l"/>
            <a:r>
              <a:rPr sz="1100" b="0" i="0">
                <a:solidFill>
                  <a:srgbClr val="5B6577"/>
                </a:solidFill>
                <a:latin typeface="Segoe UI"/>
              </a:rPr>
              <a:t>Triggers expansion planning</a:t>
            </a:r>
          </a:p>
        </p:txBody>
      </p:sp>
      <p:sp>
        <p:nvSpPr>
          <p:cNvPr id="9" name="Rectangle 8"/>
          <p:cNvSpPr/>
          <p:nvPr/>
        </p:nvSpPr>
        <p:spPr>
          <a:xfrm>
            <a:off x="457200" y="1234440"/>
            <a:ext cx="73152" cy="137160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0" name="Rounded Rectangle 9"/>
          <p:cNvSpPr/>
          <p:nvPr/>
        </p:nvSpPr>
        <p:spPr>
          <a:xfrm>
            <a:off x="4279392" y="1234440"/>
            <a:ext cx="3639312" cy="137160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54864" bIns="54864"/>
          <a:lstStyle/>
          <a:p>
            <a:pPr algn="l">
              <a:spcAft>
                <a:spcPts val="400"/>
              </a:spcAft>
            </a:pPr>
            <a:r>
              <a:rPr sz="1400" b="1" i="0">
                <a:solidFill>
                  <a:srgbClr val="1F2A44"/>
                </a:solidFill>
                <a:latin typeface="Segoe UI"/>
              </a:rPr>
              <a:t>Component health</a:t>
            </a:r>
          </a:p>
          <a:p>
            <a:pPr algn="l">
              <a:spcAft>
                <a:spcPts val="300"/>
              </a:spcAft>
            </a:pPr>
            <a:r>
              <a:rPr sz="1200" b="1" i="0">
                <a:solidFill>
                  <a:srgbClr val="E8892B"/>
                </a:solidFill>
                <a:latin typeface="Segoe UI"/>
              </a:rPr>
              <a:t>Any node, disk or server down</a:t>
            </a:r>
          </a:p>
          <a:p>
            <a:pPr algn="l"/>
            <a:r>
              <a:rPr sz="1100" b="0" i="0">
                <a:solidFill>
                  <a:srgbClr val="5B6577"/>
                </a:solidFill>
                <a:latin typeface="Segoe UI"/>
              </a:rPr>
              <a:t>Protection-margin awareness</a:t>
            </a:r>
          </a:p>
        </p:txBody>
      </p:sp>
      <p:sp>
        <p:nvSpPr>
          <p:cNvPr id="11" name="Rectangle 10"/>
          <p:cNvSpPr/>
          <p:nvPr/>
        </p:nvSpPr>
        <p:spPr>
          <a:xfrm>
            <a:off x="4279392" y="1234440"/>
            <a:ext cx="73152" cy="137160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2" name="Rounded Rectangle 11"/>
          <p:cNvSpPr/>
          <p:nvPr/>
        </p:nvSpPr>
        <p:spPr>
          <a:xfrm>
            <a:off x="8101583" y="1234440"/>
            <a:ext cx="3639312" cy="137160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54864" bIns="54864"/>
          <a:lstStyle/>
          <a:p>
            <a:pPr algn="l">
              <a:spcAft>
                <a:spcPts val="400"/>
              </a:spcAft>
            </a:pPr>
            <a:r>
              <a:rPr sz="1400" b="1" i="0">
                <a:solidFill>
                  <a:srgbClr val="1F2A44"/>
                </a:solidFill>
                <a:latin typeface="Segoe UI"/>
              </a:rPr>
              <a:t>Rebuild &amp; repair backlog</a:t>
            </a:r>
          </a:p>
          <a:p>
            <a:pPr algn="l">
              <a:spcAft>
                <a:spcPts val="300"/>
              </a:spcAft>
            </a:pPr>
            <a:r>
              <a:rPr sz="1200" b="1" i="0">
                <a:solidFill>
                  <a:srgbClr val="E8892B"/>
                </a:solidFill>
                <a:latin typeface="Segoe UI"/>
              </a:rPr>
              <a:t>Not draining within 1 hour</a:t>
            </a:r>
          </a:p>
          <a:p>
            <a:pPr algn="l"/>
            <a:r>
              <a:rPr sz="1100" b="0" i="0">
                <a:solidFill>
                  <a:srgbClr val="5B6577"/>
                </a:solidFill>
                <a:latin typeface="Segoe UI"/>
              </a:rPr>
              <a:t>Detects stuck or overloaded tasks</a:t>
            </a:r>
          </a:p>
        </p:txBody>
      </p:sp>
      <p:sp>
        <p:nvSpPr>
          <p:cNvPr id="13" name="Rectangle 12"/>
          <p:cNvSpPr/>
          <p:nvPr/>
        </p:nvSpPr>
        <p:spPr>
          <a:xfrm>
            <a:off x="8101583" y="1234440"/>
            <a:ext cx="73152" cy="137160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4" name="Rounded Rectangle 13"/>
          <p:cNvSpPr/>
          <p:nvPr/>
        </p:nvSpPr>
        <p:spPr>
          <a:xfrm>
            <a:off x="457200" y="2770632"/>
            <a:ext cx="3639312" cy="137160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54864" bIns="54864"/>
          <a:lstStyle/>
          <a:p>
            <a:pPr algn="l">
              <a:spcAft>
                <a:spcPts val="400"/>
              </a:spcAft>
            </a:pPr>
            <a:r>
              <a:rPr sz="1400" b="1" i="0">
                <a:solidFill>
                  <a:srgbClr val="1F2A44"/>
                </a:solidFill>
                <a:latin typeface="Segoe UI"/>
              </a:rPr>
              <a:t>S3 latency (p99)</a:t>
            </a:r>
          </a:p>
          <a:p>
            <a:pPr algn="l">
              <a:spcAft>
                <a:spcPts val="300"/>
              </a:spcAft>
            </a:pPr>
            <a:r>
              <a:rPr sz="1200" b="1" i="0">
                <a:solidFill>
                  <a:srgbClr val="E8892B"/>
                </a:solidFill>
                <a:latin typeface="Segoe UI"/>
              </a:rPr>
              <a:t>Warning 2×  ·  Critical 5× baseline</a:t>
            </a:r>
          </a:p>
          <a:p>
            <a:pPr algn="l"/>
            <a:r>
              <a:rPr sz="1100" b="0" i="0">
                <a:solidFill>
                  <a:srgbClr val="5B6577"/>
                </a:solidFill>
                <a:latin typeface="Segoe UI"/>
              </a:rPr>
              <a:t>User-visible performance</a:t>
            </a:r>
          </a:p>
        </p:txBody>
      </p:sp>
      <p:sp>
        <p:nvSpPr>
          <p:cNvPr id="15" name="Rectangle 14"/>
          <p:cNvSpPr/>
          <p:nvPr/>
        </p:nvSpPr>
        <p:spPr>
          <a:xfrm>
            <a:off x="457200" y="2770632"/>
            <a:ext cx="73152" cy="137160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 name="Rounded Rectangle 15"/>
          <p:cNvSpPr/>
          <p:nvPr/>
        </p:nvSpPr>
        <p:spPr>
          <a:xfrm>
            <a:off x="4279392" y="2770632"/>
            <a:ext cx="3639312" cy="137160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54864" bIns="54864"/>
          <a:lstStyle/>
          <a:p>
            <a:pPr algn="l">
              <a:spcAft>
                <a:spcPts val="400"/>
              </a:spcAft>
            </a:pPr>
            <a:r>
              <a:rPr sz="1400" b="1" i="0">
                <a:solidFill>
                  <a:srgbClr val="1F2A44"/>
                </a:solidFill>
                <a:latin typeface="Segoe UI"/>
              </a:rPr>
              <a:t>S3 error rate (5xx)</a:t>
            </a:r>
          </a:p>
          <a:p>
            <a:pPr algn="l">
              <a:spcAft>
                <a:spcPts val="300"/>
              </a:spcAft>
            </a:pPr>
            <a:r>
              <a:rPr sz="1200" b="1" i="0">
                <a:solidFill>
                  <a:srgbClr val="E8892B"/>
                </a:solidFill>
                <a:latin typeface="Segoe UI"/>
              </a:rPr>
              <a:t>Warning &gt;0.1%  ·  Critical &gt;1%</a:t>
            </a:r>
          </a:p>
          <a:p>
            <a:pPr algn="l"/>
            <a:r>
              <a:rPr sz="1100" b="0" i="0">
                <a:solidFill>
                  <a:srgbClr val="5B6577"/>
                </a:solidFill>
                <a:latin typeface="Segoe UI"/>
              </a:rPr>
              <a:t>Service quality</a:t>
            </a:r>
          </a:p>
        </p:txBody>
      </p:sp>
      <p:sp>
        <p:nvSpPr>
          <p:cNvPr id="17" name="Rectangle 16"/>
          <p:cNvSpPr/>
          <p:nvPr/>
        </p:nvSpPr>
        <p:spPr>
          <a:xfrm>
            <a:off x="4279392" y="2770632"/>
            <a:ext cx="73152" cy="137160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8" name="Rounded Rectangle 17"/>
          <p:cNvSpPr/>
          <p:nvPr/>
        </p:nvSpPr>
        <p:spPr>
          <a:xfrm>
            <a:off x="8101583" y="2770632"/>
            <a:ext cx="3639312" cy="137160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54864" bIns="54864"/>
          <a:lstStyle/>
          <a:p>
            <a:pPr algn="l">
              <a:spcAft>
                <a:spcPts val="400"/>
              </a:spcAft>
            </a:pPr>
            <a:r>
              <a:rPr sz="1400" b="1" i="0">
                <a:solidFill>
                  <a:srgbClr val="1F2A44"/>
                </a:solidFill>
                <a:latin typeface="Segoe UI"/>
              </a:rPr>
              <a:t>Replication lag (DR)</a:t>
            </a:r>
          </a:p>
          <a:p>
            <a:pPr algn="l">
              <a:spcAft>
                <a:spcPts val="300"/>
              </a:spcAft>
            </a:pPr>
            <a:r>
              <a:rPr sz="1200" b="1" i="0">
                <a:solidFill>
                  <a:srgbClr val="E8892B"/>
                </a:solidFill>
                <a:latin typeface="Segoe UI"/>
              </a:rPr>
              <a:t>Warning minutes  ·  Critical hours</a:t>
            </a:r>
          </a:p>
          <a:p>
            <a:pPr algn="l"/>
            <a:r>
              <a:rPr sz="1100" b="0" i="0">
                <a:solidFill>
                  <a:srgbClr val="5B6577"/>
                </a:solidFill>
                <a:latin typeface="Segoe UI"/>
              </a:rPr>
              <a:t>RPO compliance</a:t>
            </a:r>
          </a:p>
        </p:txBody>
      </p:sp>
      <p:sp>
        <p:nvSpPr>
          <p:cNvPr id="19" name="Rectangle 18"/>
          <p:cNvSpPr/>
          <p:nvPr/>
        </p:nvSpPr>
        <p:spPr>
          <a:xfrm>
            <a:off x="8101583" y="2770632"/>
            <a:ext cx="73152" cy="137160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20" name="TextBox 19"/>
          <p:cNvSpPr txBox="1"/>
          <p:nvPr/>
        </p:nvSpPr>
        <p:spPr>
          <a:xfrm>
            <a:off x="457200" y="4389120"/>
            <a:ext cx="10972800" cy="365760"/>
          </a:xfrm>
          <a:prstGeom prst="rect">
            <a:avLst/>
          </a:prstGeom>
          <a:noFill/>
        </p:spPr>
        <p:txBody>
          <a:bodyPr wrap="square" anchor="t" lIns="36576" rIns="36576" tIns="36576" bIns="36576">
            <a:spAutoFit/>
          </a:bodyPr>
          <a:lstStyle/>
          <a:p>
            <a:pPr algn="l"/>
            <a:r>
              <a:rPr sz="1500" b="1" i="0">
                <a:solidFill>
                  <a:srgbClr val="0F7C8C"/>
                </a:solidFill>
                <a:latin typeface="Segoe UI"/>
              </a:rPr>
              <a:t>Management toolchain</a:t>
            </a:r>
          </a:p>
        </p:txBody>
      </p:sp>
      <p:sp>
        <p:nvSpPr>
          <p:cNvPr id="21" name="Rounded Rectangle 20"/>
          <p:cNvSpPr/>
          <p:nvPr/>
        </p:nvSpPr>
        <p:spPr>
          <a:xfrm>
            <a:off x="457200" y="4800600"/>
            <a:ext cx="2697480" cy="132588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400"/>
              </a:spcAft>
            </a:pPr>
            <a:r>
              <a:rPr sz="1300" b="1" i="0">
                <a:solidFill>
                  <a:srgbClr val="FFFFFF"/>
                </a:solidFill>
                <a:latin typeface="Segoe UI"/>
              </a:rPr>
              <a:t>Supervisor</a:t>
            </a:r>
          </a:p>
          <a:p>
            <a:pPr algn="ctr"/>
            <a:r>
              <a:rPr sz="1100" b="0" i="0">
                <a:solidFill>
                  <a:srgbClr val="DCE3EE"/>
                </a:solidFill>
                <a:latin typeface="Segoe UI"/>
              </a:rPr>
              <a:t>Cluster configuration, topology and task control (UI + CLI)</a:t>
            </a:r>
          </a:p>
        </p:txBody>
      </p:sp>
      <p:sp>
        <p:nvSpPr>
          <p:cNvPr id="22" name="Rounded Rectangle 21"/>
          <p:cNvSpPr/>
          <p:nvPr/>
        </p:nvSpPr>
        <p:spPr>
          <a:xfrm>
            <a:off x="3319272" y="4800600"/>
            <a:ext cx="2697480" cy="132588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400"/>
              </a:spcAft>
            </a:pPr>
            <a:r>
              <a:rPr sz="1300" b="1" i="0">
                <a:solidFill>
                  <a:srgbClr val="FFFFFF"/>
                </a:solidFill>
                <a:latin typeface="Segoe UI"/>
              </a:rPr>
              <a:t>Metrics &amp; dashboards</a:t>
            </a:r>
          </a:p>
          <a:p>
            <a:pPr algn="ctr"/>
            <a:r>
              <a:rPr sz="1100" b="0" i="0">
                <a:solidFill>
                  <a:srgbClr val="DCE3EE"/>
                </a:solidFill>
                <a:latin typeface="Segoe UI"/>
              </a:rPr>
              <a:t>Prometheus and Grafana: capacity, latency, health</a:t>
            </a:r>
          </a:p>
        </p:txBody>
      </p:sp>
      <p:sp>
        <p:nvSpPr>
          <p:cNvPr id="23" name="Rounded Rectangle 22"/>
          <p:cNvSpPr/>
          <p:nvPr/>
        </p:nvSpPr>
        <p:spPr>
          <a:xfrm>
            <a:off x="6181344" y="4800600"/>
            <a:ext cx="2697480" cy="132588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400"/>
              </a:spcAft>
            </a:pPr>
            <a:r>
              <a:rPr sz="1300" b="1" i="0">
                <a:solidFill>
                  <a:srgbClr val="FFFFFF"/>
                </a:solidFill>
                <a:latin typeface="Segoe UI"/>
              </a:rPr>
              <a:t>Alerting</a:t>
            </a:r>
          </a:p>
          <a:p>
            <a:pPr algn="ctr"/>
            <a:r>
              <a:rPr sz="1100" b="0" i="0">
                <a:solidFill>
                  <a:srgbClr val="DCE3EE"/>
                </a:solidFill>
                <a:latin typeface="Segoe UI"/>
              </a:rPr>
              <a:t>Routed to email, on-call and ITSM tickets</a:t>
            </a:r>
          </a:p>
        </p:txBody>
      </p:sp>
      <p:sp>
        <p:nvSpPr>
          <p:cNvPr id="24" name="Rounded Rectangle 23"/>
          <p:cNvSpPr/>
          <p:nvPr/>
        </p:nvSpPr>
        <p:spPr>
          <a:xfrm>
            <a:off x="9043416" y="4800600"/>
            <a:ext cx="2697480" cy="132588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400"/>
              </a:spcAft>
            </a:pPr>
            <a:r>
              <a:rPr sz="1300" b="1" i="0">
                <a:solidFill>
                  <a:srgbClr val="FFFFFF"/>
                </a:solidFill>
                <a:latin typeface="Segoe UI"/>
              </a:rPr>
              <a:t>Logs &amp; audit</a:t>
            </a:r>
          </a:p>
          <a:p>
            <a:pPr algn="ctr"/>
            <a:r>
              <a:rPr sz="1100" b="0" i="0">
                <a:solidFill>
                  <a:srgbClr val="DCE3EE"/>
                </a:solidFill>
                <a:latin typeface="Segoe UI"/>
              </a:rPr>
              <a:t>Centralized logging and SIEM integration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 name="Rectangle 2"/>
          <p:cNvSpPr/>
          <p:nvPr/>
        </p:nvSpPr>
        <p:spPr>
          <a:xfrm>
            <a:off x="0" y="914400"/>
            <a:ext cx="12191695" cy="54864"/>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4" name="TextBox 3"/>
          <p:cNvSpPr txBox="1"/>
          <p:nvPr/>
        </p:nvSpPr>
        <p:spPr>
          <a:xfrm>
            <a:off x="457200" y="91440"/>
            <a:ext cx="11247120" cy="502920"/>
          </a:xfrm>
          <a:prstGeom prst="rect">
            <a:avLst/>
          </a:prstGeom>
          <a:noFill/>
        </p:spPr>
        <p:txBody>
          <a:bodyPr wrap="square" anchor="ctr" lIns="36576" rIns="36576" tIns="36576" bIns="36576">
            <a:spAutoFit/>
          </a:bodyPr>
          <a:lstStyle/>
          <a:p>
            <a:pPr algn="l"/>
            <a:r>
              <a:rPr sz="2600" b="1" i="0">
                <a:solidFill>
                  <a:srgbClr val="FFFFFF"/>
                </a:solidFill>
                <a:latin typeface="Segoe UI"/>
              </a:rPr>
              <a:t>Day-2 Operations Lifecycle</a:t>
            </a:r>
          </a:p>
        </p:txBody>
      </p:sp>
      <p:sp>
        <p:nvSpPr>
          <p:cNvPr id="5" name="TextBox 4"/>
          <p:cNvSpPr txBox="1"/>
          <p:nvPr/>
        </p:nvSpPr>
        <p:spPr>
          <a:xfrm>
            <a:off x="457200" y="548640"/>
            <a:ext cx="11247120" cy="320040"/>
          </a:xfrm>
          <a:prstGeom prst="rect">
            <a:avLst/>
          </a:prstGeom>
          <a:noFill/>
        </p:spPr>
        <p:txBody>
          <a:bodyPr wrap="square" anchor="t" lIns="36576" rIns="36576" tIns="36576" bIns="36576">
            <a:spAutoFit/>
          </a:bodyPr>
          <a:lstStyle/>
          <a:p>
            <a:pPr algn="l"/>
            <a:r>
              <a:rPr sz="1300" b="0" i="0">
                <a:solidFill>
                  <a:srgbClr val="C9D3E3"/>
                </a:solidFill>
                <a:latin typeface="Segoe UI"/>
              </a:rPr>
              <a:t>Routine, non-disruptive procedures</a:t>
            </a:r>
          </a:p>
        </p:txBody>
      </p:sp>
      <p:sp>
        <p:nvSpPr>
          <p:cNvPr id="6" name="TextBox 5"/>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i="0">
                <a:solidFill>
                  <a:srgbClr val="5B6577"/>
                </a:solidFill>
                <a:latin typeface="Segoe UI"/>
              </a:rPr>
              <a:t>Scality RING  |  Architecture, Deployment &amp; Operations</a:t>
            </a:r>
          </a:p>
        </p:txBody>
      </p:sp>
      <p:sp>
        <p:nvSpPr>
          <p:cNvPr id="7" name="TextBox 6"/>
          <p:cNvSpPr txBox="1"/>
          <p:nvPr/>
        </p:nvSpPr>
        <p:spPr>
          <a:xfrm>
            <a:off x="10789920" y="6473952"/>
            <a:ext cx="914400" cy="274320"/>
          </a:xfrm>
          <a:prstGeom prst="rect">
            <a:avLst/>
          </a:prstGeom>
          <a:noFill/>
        </p:spPr>
        <p:txBody>
          <a:bodyPr wrap="square" anchor="t" lIns="36576" rIns="36576" tIns="36576" bIns="36576">
            <a:spAutoFit/>
          </a:bodyPr>
          <a:lstStyle/>
          <a:p>
            <a:pPr algn="r"/>
            <a:r>
              <a:rPr sz="1000" b="0" i="0">
                <a:solidFill>
                  <a:srgbClr val="5B6577"/>
                </a:solidFill>
                <a:latin typeface="Segoe UI"/>
              </a:rPr>
              <a:t>20</a:t>
            </a:r>
          </a:p>
        </p:txBody>
      </p:sp>
      <p:sp>
        <p:nvSpPr>
          <p:cNvPr id="8" name="Rounded Rectangle 7"/>
          <p:cNvSpPr/>
          <p:nvPr/>
        </p:nvSpPr>
        <p:spPr>
          <a:xfrm>
            <a:off x="2331720" y="1179576"/>
            <a:ext cx="1737360" cy="658368"/>
          </a:xfrm>
          <a:prstGeom prst="roundRect">
            <a:avLst>
              <a:gd name="adj" fmla="val 10000"/>
            </a:avLst>
          </a:prstGeom>
          <a:solidFill>
            <a:srgbClr val="0F7C8C"/>
          </a:solidFill>
          <a:ln w="1905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FFFFFF"/>
                </a:solidFill>
                <a:latin typeface="Segoe UI"/>
              </a:rPr>
              <a:t>Monitor</a:t>
            </a:r>
          </a:p>
        </p:txBody>
      </p:sp>
      <p:sp>
        <p:nvSpPr>
          <p:cNvPr id="9" name="Rounded Rectangle 8"/>
          <p:cNvSpPr/>
          <p:nvPr/>
        </p:nvSpPr>
        <p:spPr>
          <a:xfrm>
            <a:off x="4232264" y="2276856"/>
            <a:ext cx="1737360" cy="658368"/>
          </a:xfrm>
          <a:prstGeom prst="roundRect">
            <a:avLst>
              <a:gd name="adj" fmla="val 10000"/>
            </a:avLst>
          </a:prstGeom>
          <a:solidFill>
            <a:srgbClr val="FFFFFF"/>
          </a:solidFill>
          <a:ln w="1905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Detect &amp; alert</a:t>
            </a:r>
          </a:p>
        </p:txBody>
      </p:sp>
      <p:sp>
        <p:nvSpPr>
          <p:cNvPr id="10" name="Rounded Rectangle 9"/>
          <p:cNvSpPr/>
          <p:nvPr/>
        </p:nvSpPr>
        <p:spPr>
          <a:xfrm>
            <a:off x="4232264" y="4471416"/>
            <a:ext cx="1737360" cy="658368"/>
          </a:xfrm>
          <a:prstGeom prst="roundRect">
            <a:avLst>
              <a:gd name="adj" fmla="val 10000"/>
            </a:avLst>
          </a:prstGeom>
          <a:solidFill>
            <a:srgbClr val="FFFFFF"/>
          </a:solidFill>
          <a:ln w="1905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Respond (runbooks)</a:t>
            </a:r>
          </a:p>
        </p:txBody>
      </p:sp>
      <p:sp>
        <p:nvSpPr>
          <p:cNvPr id="11" name="Rounded Rectangle 10"/>
          <p:cNvSpPr/>
          <p:nvPr/>
        </p:nvSpPr>
        <p:spPr>
          <a:xfrm>
            <a:off x="2331720" y="5568695"/>
            <a:ext cx="1737360" cy="658368"/>
          </a:xfrm>
          <a:prstGeom prst="roundRect">
            <a:avLst>
              <a:gd name="adj" fmla="val 10000"/>
            </a:avLst>
          </a:prstGeom>
          <a:solidFill>
            <a:srgbClr val="FFFFFF"/>
          </a:solidFill>
          <a:ln w="1905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Plan capacity</a:t>
            </a:r>
          </a:p>
        </p:txBody>
      </p:sp>
      <p:sp>
        <p:nvSpPr>
          <p:cNvPr id="12" name="Rounded Rectangle 11"/>
          <p:cNvSpPr/>
          <p:nvPr/>
        </p:nvSpPr>
        <p:spPr>
          <a:xfrm>
            <a:off x="431175" y="4471416"/>
            <a:ext cx="1737360" cy="658368"/>
          </a:xfrm>
          <a:prstGeom prst="roundRect">
            <a:avLst>
              <a:gd name="adj" fmla="val 10000"/>
            </a:avLst>
          </a:prstGeom>
          <a:solidFill>
            <a:srgbClr val="FFFFFF"/>
          </a:solidFill>
          <a:ln w="1905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Expand / refresh</a:t>
            </a:r>
          </a:p>
        </p:txBody>
      </p:sp>
      <p:sp>
        <p:nvSpPr>
          <p:cNvPr id="13" name="Rounded Rectangle 12"/>
          <p:cNvSpPr/>
          <p:nvPr/>
        </p:nvSpPr>
        <p:spPr>
          <a:xfrm>
            <a:off x="431175" y="2276856"/>
            <a:ext cx="1737360" cy="658368"/>
          </a:xfrm>
          <a:prstGeom prst="roundRect">
            <a:avLst>
              <a:gd name="adj" fmla="val 10000"/>
            </a:avLst>
          </a:prstGeom>
          <a:solidFill>
            <a:srgbClr val="FFFFFF"/>
          </a:solidFill>
          <a:ln w="1905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1F2A44"/>
                </a:solidFill>
                <a:latin typeface="Segoe UI"/>
              </a:rPr>
              <a:t>Upgrade (rolling)</a:t>
            </a:r>
          </a:p>
        </p:txBody>
      </p:sp>
      <p:cxnSp>
        <p:nvCxnSpPr>
          <p:cNvPr id="14" name="Connector 13"/>
          <p:cNvCxnSpPr/>
          <p:nvPr/>
        </p:nvCxnSpPr>
        <p:spPr>
          <a:xfrm>
            <a:off x="3818077" y="1865376"/>
            <a:ext cx="665190" cy="384048"/>
          </a:xfrm>
          <a:prstGeom prst="line">
            <a:avLst/>
          </a:prstGeom>
          <a:ln w="25400">
            <a:solidFill>
              <a:srgbClr val="0F7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100944" y="2990088"/>
            <a:ext cx="0" cy="1426464"/>
          </a:xfrm>
          <a:prstGeom prst="line">
            <a:avLst/>
          </a:prstGeom>
          <a:ln w="25400">
            <a:solidFill>
              <a:srgbClr val="0F7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3818077" y="5157216"/>
            <a:ext cx="665190" cy="384048"/>
          </a:xfrm>
          <a:prstGeom prst="line">
            <a:avLst/>
          </a:prstGeom>
          <a:ln w="25400">
            <a:solidFill>
              <a:srgbClr val="0F7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1917532" y="5157216"/>
            <a:ext cx="665190" cy="384048"/>
          </a:xfrm>
          <a:prstGeom prst="line">
            <a:avLst/>
          </a:prstGeom>
          <a:ln w="25400">
            <a:solidFill>
              <a:srgbClr val="0F7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299855" y="2990087"/>
            <a:ext cx="0" cy="1426465"/>
          </a:xfrm>
          <a:prstGeom prst="line">
            <a:avLst/>
          </a:prstGeom>
          <a:ln w="25400">
            <a:solidFill>
              <a:srgbClr val="0F7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917532" y="1865376"/>
            <a:ext cx="665190" cy="384047"/>
          </a:xfrm>
          <a:prstGeom prst="line">
            <a:avLst/>
          </a:prstGeom>
          <a:ln w="25400">
            <a:solidFill>
              <a:srgbClr val="0F7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2468880" y="2971800"/>
            <a:ext cx="1463040" cy="1463040"/>
          </a:xfrm>
          <a:prstGeom prst="ellipse">
            <a:avLst/>
          </a:prstGeom>
          <a:solidFill>
            <a:srgbClr val="D7EE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0F7C8C"/>
                </a:solidFill>
                <a:latin typeface="Segoe UI"/>
              </a:rPr>
              <a:t>Continuous</a:t>
            </a:r>
          </a:p>
          <a:p>
            <a:pPr algn="ctr"/>
            <a:r>
              <a:rPr sz="1200" b="1" i="0">
                <a:solidFill>
                  <a:srgbClr val="0F7C8C"/>
                </a:solidFill>
                <a:latin typeface="Segoe UI"/>
              </a:rPr>
              <a:t>operations</a:t>
            </a:r>
          </a:p>
        </p:txBody>
      </p:sp>
      <p:graphicFrame>
        <p:nvGraphicFramePr>
          <p:cNvPr id="21" name="Table 20"/>
          <p:cNvGraphicFramePr>
            <a:graphicFrameLocks noGrp="1"/>
          </p:cNvGraphicFramePr>
          <p:nvPr/>
        </p:nvGraphicFramePr>
        <p:xfrm>
          <a:off x="6400800" y="1234440"/>
          <a:ext cx="5349240" cy="4279392"/>
        </p:xfrm>
        <a:graphic>
          <a:graphicData uri="http://schemas.openxmlformats.org/drawingml/2006/table">
            <a:tbl>
              <a:tblPr firstRow="1" bandRow="1">
                <a:tableStyleId>{5C22544A-7EE6-4342-B048-85BDC9FD1C3A}</a:tableStyleId>
              </a:tblPr>
              <a:tblGrid>
                <a:gridCol w="1463040"/>
                <a:gridCol w="2240280"/>
                <a:gridCol w="1645920"/>
              </a:tblGrid>
              <a:tr h="713232">
                <a:tc>
                  <a:txBody>
                    <a:bodyPr wrap="square"/>
                    <a:lstStyle/>
                    <a:p>
                      <a:r>
                        <a:rPr sz="1050" b="1" i="0">
                          <a:solidFill>
                            <a:srgbClr val="FFFFFF"/>
                          </a:solidFill>
                          <a:latin typeface="Segoe UI"/>
                        </a:rPr>
                        <a:t>Procedure</a:t>
                      </a:r>
                    </a:p>
                  </a:txBody>
                  <a:tcPr marL="73152" marR="73152" marT="27432" marB="27432" anchor="ctr">
                    <a:solidFill>
                      <a:srgbClr val="1F2A44"/>
                    </a:solidFill>
                  </a:tcPr>
                </a:tc>
                <a:tc>
                  <a:txBody>
                    <a:bodyPr wrap="square"/>
                    <a:lstStyle/>
                    <a:p>
                      <a:r>
                        <a:rPr sz="1050" b="1" i="0">
                          <a:solidFill>
                            <a:srgbClr val="FFFFFF"/>
                          </a:solidFill>
                          <a:latin typeface="Segoe UI"/>
                        </a:rPr>
                        <a:t>Approach</a:t>
                      </a:r>
                    </a:p>
                  </a:txBody>
                  <a:tcPr marL="73152" marR="73152" marT="27432" marB="27432" anchor="ctr">
                    <a:solidFill>
                      <a:srgbClr val="1F2A44"/>
                    </a:solidFill>
                  </a:tcPr>
                </a:tc>
                <a:tc>
                  <a:txBody>
                    <a:bodyPr wrap="square"/>
                    <a:lstStyle/>
                    <a:p>
                      <a:r>
                        <a:rPr sz="1050" b="1" i="0">
                          <a:solidFill>
                            <a:srgbClr val="FFFFFF"/>
                          </a:solidFill>
                          <a:latin typeface="Segoe UI"/>
                        </a:rPr>
                        <a:t>Guardrail</a:t>
                      </a:r>
                    </a:p>
                  </a:txBody>
                  <a:tcPr marL="73152" marR="73152" marT="27432" marB="27432" anchor="ctr">
                    <a:solidFill>
                      <a:srgbClr val="1F2A44"/>
                    </a:solidFill>
                  </a:tcPr>
                </a:tc>
              </a:tr>
              <a:tr h="713232">
                <a:tc>
                  <a:txBody>
                    <a:bodyPr wrap="square"/>
                    <a:lstStyle/>
                    <a:p>
                      <a:r>
                        <a:rPr sz="1050" b="1" i="0">
                          <a:solidFill>
                            <a:srgbClr val="2B2F36"/>
                          </a:solidFill>
                          <a:latin typeface="Segoe UI"/>
                        </a:rPr>
                        <a:t>Expansion</a:t>
                      </a:r>
                    </a:p>
                  </a:txBody>
                  <a:tcPr marL="73152" marR="73152" marT="27432" marB="27432" anchor="ctr">
                    <a:solidFill>
                      <a:srgbClr val="FFFFFF"/>
                    </a:solidFill>
                  </a:tcPr>
                </a:tc>
                <a:tc>
                  <a:txBody>
                    <a:bodyPr wrap="square"/>
                    <a:lstStyle/>
                    <a:p>
                      <a:r>
                        <a:rPr sz="1050" b="0" i="0">
                          <a:solidFill>
                            <a:srgbClr val="2B2F36"/>
                          </a:solidFill>
                          <a:latin typeface="Segoe UI"/>
                        </a:rPr>
                        <a:t>Add servers evenly per rack; background rebalance</a:t>
                      </a:r>
                    </a:p>
                  </a:txBody>
                  <a:tcPr marL="73152" marR="73152" marT="27432" marB="27432" anchor="ctr">
                    <a:solidFill>
                      <a:srgbClr val="FFFFFF"/>
                    </a:solidFill>
                  </a:tcPr>
                </a:tc>
                <a:tc>
                  <a:txBody>
                    <a:bodyPr wrap="square"/>
                    <a:lstStyle/>
                    <a:p>
                      <a:r>
                        <a:rPr sz="1050" b="0" i="0">
                          <a:solidFill>
                            <a:srgbClr val="2B2F36"/>
                          </a:solidFill>
                          <a:latin typeface="Segoe UI"/>
                        </a:rPr>
                        <a:t>Start at 70% utilization</a:t>
                      </a:r>
                    </a:p>
                  </a:txBody>
                  <a:tcPr marL="73152" marR="73152" marT="27432" marB="27432" anchor="ctr">
                    <a:solidFill>
                      <a:srgbClr val="FFFFFF"/>
                    </a:solidFill>
                  </a:tcPr>
                </a:tc>
              </a:tr>
              <a:tr h="713232">
                <a:tc>
                  <a:txBody>
                    <a:bodyPr wrap="square"/>
                    <a:lstStyle/>
                    <a:p>
                      <a:r>
                        <a:rPr sz="1050" b="1" i="0">
                          <a:solidFill>
                            <a:srgbClr val="2B2F36"/>
                          </a:solidFill>
                          <a:latin typeface="Segoe UI"/>
                        </a:rPr>
                        <a:t>Rolling upgrade</a:t>
                      </a:r>
                    </a:p>
                  </a:txBody>
                  <a:tcPr marL="73152" marR="73152" marT="27432" marB="27432" anchor="ctr">
                    <a:solidFill>
                      <a:srgbClr val="F2F4F7"/>
                    </a:solidFill>
                  </a:tcPr>
                </a:tc>
                <a:tc>
                  <a:txBody>
                    <a:bodyPr wrap="square"/>
                    <a:lstStyle/>
                    <a:p>
                      <a:r>
                        <a:rPr sz="1050" b="0" i="0">
                          <a:solidFill>
                            <a:srgbClr val="2B2F36"/>
                          </a:solidFill>
                          <a:latin typeface="Segoe UI"/>
                        </a:rPr>
                        <a:t>One server, connector or metadata node at a time</a:t>
                      </a:r>
                    </a:p>
                  </a:txBody>
                  <a:tcPr marL="73152" marR="73152" marT="27432" marB="27432" anchor="ctr">
                    <a:solidFill>
                      <a:srgbClr val="F2F4F7"/>
                    </a:solidFill>
                  </a:tcPr>
                </a:tc>
                <a:tc>
                  <a:txBody>
                    <a:bodyPr wrap="square"/>
                    <a:lstStyle/>
                    <a:p>
                      <a:r>
                        <a:rPr sz="1050" b="0" i="0">
                          <a:solidFill>
                            <a:srgbClr val="2B2F36"/>
                          </a:solidFill>
                          <a:latin typeface="Segoe UI"/>
                        </a:rPr>
                        <a:t>No rebuild in progress before each step</a:t>
                      </a:r>
                    </a:p>
                  </a:txBody>
                  <a:tcPr marL="73152" marR="73152" marT="27432" marB="27432" anchor="ctr">
                    <a:solidFill>
                      <a:srgbClr val="F2F4F7"/>
                    </a:solidFill>
                  </a:tcPr>
                </a:tc>
              </a:tr>
              <a:tr h="713232">
                <a:tc>
                  <a:txBody>
                    <a:bodyPr wrap="square"/>
                    <a:lstStyle/>
                    <a:p>
                      <a:r>
                        <a:rPr sz="1050" b="1" i="0">
                          <a:solidFill>
                            <a:srgbClr val="2B2F36"/>
                          </a:solidFill>
                          <a:latin typeface="Segoe UI"/>
                        </a:rPr>
                        <a:t>Disk replacement</a:t>
                      </a:r>
                    </a:p>
                  </a:txBody>
                  <a:tcPr marL="73152" marR="73152" marT="27432" marB="27432" anchor="ctr">
                    <a:solidFill>
                      <a:srgbClr val="FFFFFF"/>
                    </a:solidFill>
                  </a:tcPr>
                </a:tc>
                <a:tc>
                  <a:txBody>
                    <a:bodyPr wrap="square"/>
                    <a:lstStyle/>
                    <a:p>
                      <a:r>
                        <a:rPr sz="1050" b="0" i="0">
                          <a:solidFill>
                            <a:srgbClr val="2B2F36"/>
                          </a:solidFill>
                          <a:latin typeface="Segoe UI"/>
                        </a:rPr>
                        <a:t>Hot-swap; automatic refill</a:t>
                      </a:r>
                    </a:p>
                  </a:txBody>
                  <a:tcPr marL="73152" marR="73152" marT="27432" marB="27432" anchor="ctr">
                    <a:solidFill>
                      <a:srgbClr val="FFFFFF"/>
                    </a:solidFill>
                  </a:tcPr>
                </a:tc>
                <a:tc>
                  <a:txBody>
                    <a:bodyPr wrap="square"/>
                    <a:lstStyle/>
                    <a:p>
                      <a:r>
                        <a:rPr sz="1050" b="0" i="0">
                          <a:solidFill>
                            <a:srgbClr val="2B2F36"/>
                          </a:solidFill>
                          <a:latin typeface="Segoe UI"/>
                        </a:rPr>
                        <a:t>Same or larger disk size</a:t>
                      </a:r>
                    </a:p>
                  </a:txBody>
                  <a:tcPr marL="73152" marR="73152" marT="27432" marB="27432" anchor="ctr">
                    <a:solidFill>
                      <a:srgbClr val="FFFFFF"/>
                    </a:solidFill>
                  </a:tcPr>
                </a:tc>
              </a:tr>
              <a:tr h="713232">
                <a:tc>
                  <a:txBody>
                    <a:bodyPr wrap="square"/>
                    <a:lstStyle/>
                    <a:p>
                      <a:r>
                        <a:rPr sz="1050" b="1" i="0">
                          <a:solidFill>
                            <a:srgbClr val="2B2F36"/>
                          </a:solidFill>
                          <a:latin typeface="Segoe UI"/>
                        </a:rPr>
                        <a:t>Decommission</a:t>
                      </a:r>
                    </a:p>
                  </a:txBody>
                  <a:tcPr marL="73152" marR="73152" marT="27432" marB="27432" anchor="ctr">
                    <a:solidFill>
                      <a:srgbClr val="F2F4F7"/>
                    </a:solidFill>
                  </a:tcPr>
                </a:tc>
                <a:tc>
                  <a:txBody>
                    <a:bodyPr wrap="square"/>
                    <a:lstStyle/>
                    <a:p>
                      <a:r>
                        <a:rPr sz="1050" b="0" i="0">
                          <a:solidFill>
                            <a:srgbClr val="2B2F36"/>
                          </a:solidFill>
                          <a:latin typeface="Segoe UI"/>
                        </a:rPr>
                        <a:t>Evacuate data, then remove</a:t>
                      </a:r>
                    </a:p>
                  </a:txBody>
                  <a:tcPr marL="73152" marR="73152" marT="27432" marB="27432" anchor="ctr">
                    <a:solidFill>
                      <a:srgbClr val="F2F4F7"/>
                    </a:solidFill>
                  </a:tcPr>
                </a:tc>
                <a:tc>
                  <a:txBody>
                    <a:bodyPr wrap="square"/>
                    <a:lstStyle/>
                    <a:p>
                      <a:r>
                        <a:rPr sz="1050" b="0" i="0">
                          <a:solidFill>
                            <a:srgbClr val="2B2F36"/>
                          </a:solidFill>
                          <a:latin typeface="Segoe UI"/>
                        </a:rPr>
                        <a:t>Confirm free capacity first</a:t>
                      </a:r>
                    </a:p>
                  </a:txBody>
                  <a:tcPr marL="73152" marR="73152" marT="27432" marB="27432" anchor="ctr">
                    <a:solidFill>
                      <a:srgbClr val="F2F4F7"/>
                    </a:solidFill>
                  </a:tcPr>
                </a:tc>
              </a:tr>
              <a:tr h="713232">
                <a:tc>
                  <a:txBody>
                    <a:bodyPr wrap="square"/>
                    <a:lstStyle/>
                    <a:p>
                      <a:r>
                        <a:rPr sz="1050" b="1" i="0">
                          <a:solidFill>
                            <a:srgbClr val="2B2F36"/>
                          </a:solidFill>
                          <a:latin typeface="Segoe UI"/>
                        </a:rPr>
                        <a:t>Certificate &amp; key rotation</a:t>
                      </a:r>
                    </a:p>
                  </a:txBody>
                  <a:tcPr marL="73152" marR="73152" marT="27432" marB="27432" anchor="ctr">
                    <a:solidFill>
                      <a:srgbClr val="FFFFFF"/>
                    </a:solidFill>
                  </a:tcPr>
                </a:tc>
                <a:tc>
                  <a:txBody>
                    <a:bodyPr wrap="square"/>
                    <a:lstStyle/>
                    <a:p>
                      <a:r>
                        <a:rPr sz="1050" b="0" i="0">
                          <a:solidFill>
                            <a:srgbClr val="2B2F36"/>
                          </a:solidFill>
                          <a:latin typeface="Segoe UI"/>
                        </a:rPr>
                        <a:t>Scheduled rotation</a:t>
                      </a:r>
                    </a:p>
                  </a:txBody>
                  <a:tcPr marL="73152" marR="73152" marT="27432" marB="27432" anchor="ctr">
                    <a:solidFill>
                      <a:srgbClr val="FFFFFF"/>
                    </a:solidFill>
                  </a:tcPr>
                </a:tc>
                <a:tc>
                  <a:txBody>
                    <a:bodyPr wrap="square"/>
                    <a:lstStyle/>
                    <a:p>
                      <a:r>
                        <a:rPr sz="1050" b="0" i="0">
                          <a:solidFill>
                            <a:srgbClr val="2B2F36"/>
                          </a:solidFill>
                          <a:latin typeface="Segoe UI"/>
                        </a:rPr>
                        <a:t>Automated expiry alerts</a:t>
                      </a:r>
                    </a:p>
                  </a:txBody>
                  <a:tcPr marL="73152" marR="73152" marT="27432" marB="27432" anchor="ct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 name="Rectangle 2"/>
          <p:cNvSpPr/>
          <p:nvPr/>
        </p:nvSpPr>
        <p:spPr>
          <a:xfrm>
            <a:off x="0" y="914400"/>
            <a:ext cx="12191695" cy="54864"/>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4" name="TextBox 3"/>
          <p:cNvSpPr txBox="1"/>
          <p:nvPr/>
        </p:nvSpPr>
        <p:spPr>
          <a:xfrm>
            <a:off x="457200" y="91440"/>
            <a:ext cx="11247120" cy="502920"/>
          </a:xfrm>
          <a:prstGeom prst="rect">
            <a:avLst/>
          </a:prstGeom>
          <a:noFill/>
        </p:spPr>
        <p:txBody>
          <a:bodyPr wrap="square" anchor="ctr" lIns="36576" rIns="36576" tIns="36576" bIns="36576">
            <a:spAutoFit/>
          </a:bodyPr>
          <a:lstStyle/>
          <a:p>
            <a:pPr algn="l"/>
            <a:r>
              <a:rPr sz="2600" b="1" i="0">
                <a:solidFill>
                  <a:srgbClr val="FFFFFF"/>
                </a:solidFill>
                <a:latin typeface="Segoe UI"/>
              </a:rPr>
              <a:t>Resilience Validation</a:t>
            </a:r>
          </a:p>
        </p:txBody>
      </p:sp>
      <p:sp>
        <p:nvSpPr>
          <p:cNvPr id="5" name="TextBox 4"/>
          <p:cNvSpPr txBox="1"/>
          <p:nvPr/>
        </p:nvSpPr>
        <p:spPr>
          <a:xfrm>
            <a:off x="457200" y="548640"/>
            <a:ext cx="11247120" cy="320040"/>
          </a:xfrm>
          <a:prstGeom prst="rect">
            <a:avLst/>
          </a:prstGeom>
          <a:noFill/>
        </p:spPr>
        <p:txBody>
          <a:bodyPr wrap="square" anchor="t" lIns="36576" rIns="36576" tIns="36576" bIns="36576">
            <a:spAutoFit/>
          </a:bodyPr>
          <a:lstStyle/>
          <a:p>
            <a:pPr algn="l"/>
            <a:r>
              <a:rPr sz="1300" b="0" i="0">
                <a:solidFill>
                  <a:srgbClr val="C9D3E3"/>
                </a:solidFill>
                <a:latin typeface="Segoe UI"/>
              </a:rPr>
              <a:t>Acceptance tests executed before go-live</a:t>
            </a:r>
          </a:p>
        </p:txBody>
      </p:sp>
      <p:sp>
        <p:nvSpPr>
          <p:cNvPr id="6" name="TextBox 5"/>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i="0">
                <a:solidFill>
                  <a:srgbClr val="5B6577"/>
                </a:solidFill>
                <a:latin typeface="Segoe UI"/>
              </a:rPr>
              <a:t>Scality RING  |  Architecture, Deployment &amp; Operations</a:t>
            </a:r>
          </a:p>
        </p:txBody>
      </p:sp>
      <p:sp>
        <p:nvSpPr>
          <p:cNvPr id="7" name="TextBox 6"/>
          <p:cNvSpPr txBox="1"/>
          <p:nvPr/>
        </p:nvSpPr>
        <p:spPr>
          <a:xfrm>
            <a:off x="10789920" y="6473952"/>
            <a:ext cx="914400" cy="274320"/>
          </a:xfrm>
          <a:prstGeom prst="rect">
            <a:avLst/>
          </a:prstGeom>
          <a:noFill/>
        </p:spPr>
        <p:txBody>
          <a:bodyPr wrap="square" anchor="t" lIns="36576" rIns="36576" tIns="36576" bIns="36576">
            <a:spAutoFit/>
          </a:bodyPr>
          <a:lstStyle/>
          <a:p>
            <a:pPr algn="r"/>
            <a:r>
              <a:rPr sz="1000" b="0" i="0">
                <a:solidFill>
                  <a:srgbClr val="5B6577"/>
                </a:solidFill>
                <a:latin typeface="Segoe UI"/>
              </a:rPr>
              <a:t>21</a:t>
            </a:r>
          </a:p>
        </p:txBody>
      </p:sp>
      <p:graphicFrame>
        <p:nvGraphicFramePr>
          <p:cNvPr id="8" name="Table 7"/>
          <p:cNvGraphicFramePr>
            <a:graphicFrameLocks noGrp="1"/>
          </p:cNvGraphicFramePr>
          <p:nvPr/>
        </p:nvGraphicFramePr>
        <p:xfrm>
          <a:off x="457200" y="1280160"/>
          <a:ext cx="11292840" cy="4361688"/>
        </p:xfrm>
        <a:graphic>
          <a:graphicData uri="http://schemas.openxmlformats.org/drawingml/2006/table">
            <a:tbl>
              <a:tblPr firstRow="1" bandRow="1">
                <a:tableStyleId>{5C22544A-7EE6-4342-B048-85BDC9FD1C3A}</a:tableStyleId>
              </a:tblPr>
              <a:tblGrid>
                <a:gridCol w="2103120"/>
                <a:gridCol w="3108960"/>
                <a:gridCol w="4892040"/>
                <a:gridCol w="1188720"/>
              </a:tblGrid>
              <a:tr h="484632">
                <a:tc>
                  <a:txBody>
                    <a:bodyPr wrap="square"/>
                    <a:lstStyle/>
                    <a:p>
                      <a:r>
                        <a:rPr sz="1200" b="1" i="0">
                          <a:solidFill>
                            <a:srgbClr val="FFFFFF"/>
                          </a:solidFill>
                          <a:latin typeface="Segoe UI"/>
                        </a:rPr>
                        <a:t>Test</a:t>
                      </a:r>
                    </a:p>
                  </a:txBody>
                  <a:tcPr marL="73152" marR="73152" marT="27432" marB="27432" anchor="ctr">
                    <a:solidFill>
                      <a:srgbClr val="1F2A44"/>
                    </a:solidFill>
                  </a:tcPr>
                </a:tc>
                <a:tc>
                  <a:txBody>
                    <a:bodyPr wrap="square"/>
                    <a:lstStyle/>
                    <a:p>
                      <a:r>
                        <a:rPr sz="1200" b="1" i="0">
                          <a:solidFill>
                            <a:srgbClr val="FFFFFF"/>
                          </a:solidFill>
                          <a:latin typeface="Segoe UI"/>
                        </a:rPr>
                        <a:t>Method</a:t>
                      </a:r>
                    </a:p>
                  </a:txBody>
                  <a:tcPr marL="73152" marR="73152" marT="27432" marB="27432" anchor="ctr">
                    <a:solidFill>
                      <a:srgbClr val="1F2A44"/>
                    </a:solidFill>
                  </a:tcPr>
                </a:tc>
                <a:tc>
                  <a:txBody>
                    <a:bodyPr wrap="square"/>
                    <a:lstStyle/>
                    <a:p>
                      <a:r>
                        <a:rPr sz="1200" b="1" i="0">
                          <a:solidFill>
                            <a:srgbClr val="FFFFFF"/>
                          </a:solidFill>
                          <a:latin typeface="Segoe UI"/>
                        </a:rPr>
                        <a:t>Expected result</a:t>
                      </a:r>
                    </a:p>
                  </a:txBody>
                  <a:tcPr marL="73152" marR="73152" marT="27432" marB="27432" anchor="ctr">
                    <a:solidFill>
                      <a:srgbClr val="1F2A44"/>
                    </a:solidFill>
                  </a:tcPr>
                </a:tc>
                <a:tc>
                  <a:txBody>
                    <a:bodyPr wrap="square"/>
                    <a:lstStyle/>
                    <a:p>
                      <a:r>
                        <a:rPr sz="1200" b="1" i="0">
                          <a:solidFill>
                            <a:srgbClr val="FFFFFF"/>
                          </a:solidFill>
                          <a:latin typeface="Segoe UI"/>
                        </a:rPr>
                        <a:t>Status</a:t>
                      </a:r>
                    </a:p>
                  </a:txBody>
                  <a:tcPr marL="73152" marR="73152" marT="27432" marB="27432" anchor="ctr">
                    <a:solidFill>
                      <a:srgbClr val="1F2A44"/>
                    </a:solidFill>
                  </a:tcPr>
                </a:tc>
              </a:tr>
              <a:tr h="484632">
                <a:tc>
                  <a:txBody>
                    <a:bodyPr wrap="square"/>
                    <a:lstStyle/>
                    <a:p>
                      <a:r>
                        <a:rPr sz="1200" b="1" i="0">
                          <a:solidFill>
                            <a:srgbClr val="2B2F36"/>
                          </a:solidFill>
                          <a:latin typeface="Segoe UI"/>
                        </a:rPr>
                        <a:t>Disk failure</a:t>
                      </a:r>
                    </a:p>
                  </a:txBody>
                  <a:tcPr marL="73152" marR="73152" marT="27432" marB="27432" anchor="ctr">
                    <a:solidFill>
                      <a:srgbClr val="FFFFFF"/>
                    </a:solidFill>
                  </a:tcPr>
                </a:tc>
                <a:tc>
                  <a:txBody>
                    <a:bodyPr wrap="square"/>
                    <a:lstStyle/>
                    <a:p>
                      <a:r>
                        <a:rPr sz="1200" b="0" i="0">
                          <a:solidFill>
                            <a:srgbClr val="2B2F36"/>
                          </a:solidFill>
                          <a:latin typeface="Segoe UI"/>
                        </a:rPr>
                        <a:t>Remove one data disk under load</a:t>
                      </a:r>
                    </a:p>
                  </a:txBody>
                  <a:tcPr marL="73152" marR="73152" marT="27432" marB="27432" anchor="ctr">
                    <a:solidFill>
                      <a:srgbClr val="FFFFFF"/>
                    </a:solidFill>
                  </a:tcPr>
                </a:tc>
                <a:tc>
                  <a:txBody>
                    <a:bodyPr wrap="square"/>
                    <a:lstStyle/>
                    <a:p>
                      <a:r>
                        <a:rPr sz="1200" b="0" i="0">
                          <a:solidFill>
                            <a:srgbClr val="2B2F36"/>
                          </a:solidFill>
                          <a:latin typeface="Segoe UI"/>
                        </a:rPr>
                        <a:t>No client impact; rebuild starts; duration recorded</a:t>
                      </a:r>
                    </a:p>
                  </a:txBody>
                  <a:tcPr marL="73152" marR="73152" marT="27432" marB="27432" anchor="ctr">
                    <a:solidFill>
                      <a:srgbClr val="FFFFFF"/>
                    </a:solidFill>
                  </a:tcPr>
                </a:tc>
                <a:tc>
                  <a:txBody>
                    <a:bodyPr wrap="square"/>
                    <a:lstStyle/>
                    <a:p>
                      <a:r>
                        <a:rPr sz="1200" b="0" i="0">
                          <a:solidFill>
                            <a:srgbClr val="2B2F36"/>
                          </a:solidFill>
                          <a:latin typeface="Segoe UI"/>
                        </a:rPr>
                        <a:t>☐</a:t>
                      </a:r>
                    </a:p>
                  </a:txBody>
                  <a:tcPr marL="73152" marR="73152" marT="27432" marB="27432" anchor="ctr">
                    <a:solidFill>
                      <a:srgbClr val="FFFFFF"/>
                    </a:solidFill>
                  </a:tcPr>
                </a:tc>
              </a:tr>
              <a:tr h="484632">
                <a:tc>
                  <a:txBody>
                    <a:bodyPr wrap="square"/>
                    <a:lstStyle/>
                    <a:p>
                      <a:r>
                        <a:rPr sz="1200" b="1" i="0">
                          <a:solidFill>
                            <a:srgbClr val="2B2F36"/>
                          </a:solidFill>
                          <a:latin typeface="Segoe UI"/>
                        </a:rPr>
                        <a:t>Server failure</a:t>
                      </a:r>
                    </a:p>
                  </a:txBody>
                  <a:tcPr marL="73152" marR="73152" marT="27432" marB="27432" anchor="ctr">
                    <a:solidFill>
                      <a:srgbClr val="F2F4F7"/>
                    </a:solidFill>
                  </a:tcPr>
                </a:tc>
                <a:tc>
                  <a:txBody>
                    <a:bodyPr wrap="square"/>
                    <a:lstStyle/>
                    <a:p>
                      <a:r>
                        <a:rPr sz="1200" b="0" i="0">
                          <a:solidFill>
                            <a:srgbClr val="2B2F36"/>
                          </a:solidFill>
                          <a:latin typeface="Segoe UI"/>
                        </a:rPr>
                        <a:t>Power off one storage server</a:t>
                      </a:r>
                    </a:p>
                  </a:txBody>
                  <a:tcPr marL="73152" marR="73152" marT="27432" marB="27432" anchor="ctr">
                    <a:solidFill>
                      <a:srgbClr val="F2F4F7"/>
                    </a:solidFill>
                  </a:tcPr>
                </a:tc>
                <a:tc>
                  <a:txBody>
                    <a:bodyPr wrap="square"/>
                    <a:lstStyle/>
                    <a:p>
                      <a:r>
                        <a:rPr sz="1200" b="0" i="0">
                          <a:solidFill>
                            <a:srgbClr val="2B2F36"/>
                          </a:solidFill>
                          <a:latin typeface="Segoe UI"/>
                        </a:rPr>
                        <a:t>Reads and writes continue</a:t>
                      </a:r>
                    </a:p>
                  </a:txBody>
                  <a:tcPr marL="73152" marR="73152" marT="27432" marB="27432" anchor="ctr">
                    <a:solidFill>
                      <a:srgbClr val="F2F4F7"/>
                    </a:solidFill>
                  </a:tcPr>
                </a:tc>
                <a:tc>
                  <a:txBody>
                    <a:bodyPr wrap="square"/>
                    <a:lstStyle/>
                    <a:p>
                      <a:r>
                        <a:rPr sz="1200" b="0" i="0">
                          <a:solidFill>
                            <a:srgbClr val="2B2F36"/>
                          </a:solidFill>
                          <a:latin typeface="Segoe UI"/>
                        </a:rPr>
                        <a:t>☐</a:t>
                      </a:r>
                    </a:p>
                  </a:txBody>
                  <a:tcPr marL="73152" marR="73152" marT="27432" marB="27432" anchor="ctr">
                    <a:solidFill>
                      <a:srgbClr val="F2F4F7"/>
                    </a:solidFill>
                  </a:tcPr>
                </a:tc>
              </a:tr>
              <a:tr h="484632">
                <a:tc>
                  <a:txBody>
                    <a:bodyPr wrap="square"/>
                    <a:lstStyle/>
                    <a:p>
                      <a:r>
                        <a:rPr sz="1200" b="1" i="0">
                          <a:solidFill>
                            <a:srgbClr val="2B2F36"/>
                          </a:solidFill>
                          <a:latin typeface="Segoe UI"/>
                        </a:rPr>
                        <a:t>Rack failure</a:t>
                      </a:r>
                    </a:p>
                  </a:txBody>
                  <a:tcPr marL="73152" marR="73152" marT="27432" marB="27432" anchor="ctr">
                    <a:solidFill>
                      <a:srgbClr val="FFFFFF"/>
                    </a:solidFill>
                  </a:tcPr>
                </a:tc>
                <a:tc>
                  <a:txBody>
                    <a:bodyPr wrap="square"/>
                    <a:lstStyle/>
                    <a:p>
                      <a:r>
                        <a:rPr sz="1200" b="0" i="0">
                          <a:solidFill>
                            <a:srgbClr val="2B2F36"/>
                          </a:solidFill>
                          <a:latin typeface="Segoe UI"/>
                        </a:rPr>
                        <a:t>Power off one full rack</a:t>
                      </a:r>
                    </a:p>
                  </a:txBody>
                  <a:tcPr marL="73152" marR="73152" marT="27432" marB="27432" anchor="ctr">
                    <a:solidFill>
                      <a:srgbClr val="FFFFFF"/>
                    </a:solidFill>
                  </a:tcPr>
                </a:tc>
                <a:tc>
                  <a:txBody>
                    <a:bodyPr wrap="square"/>
                    <a:lstStyle/>
                    <a:p>
                      <a:r>
                        <a:rPr sz="1200" b="0" i="0">
                          <a:solidFill>
                            <a:srgbClr val="2B2F36"/>
                          </a:solidFill>
                          <a:latin typeface="Segoe UI"/>
                        </a:rPr>
                        <a:t>No data loss; service continues</a:t>
                      </a:r>
                    </a:p>
                  </a:txBody>
                  <a:tcPr marL="73152" marR="73152" marT="27432" marB="27432" anchor="ctr">
                    <a:solidFill>
                      <a:srgbClr val="FFFFFF"/>
                    </a:solidFill>
                  </a:tcPr>
                </a:tc>
                <a:tc>
                  <a:txBody>
                    <a:bodyPr wrap="square"/>
                    <a:lstStyle/>
                    <a:p>
                      <a:r>
                        <a:rPr sz="1200" b="0" i="0">
                          <a:solidFill>
                            <a:srgbClr val="2B2F36"/>
                          </a:solidFill>
                          <a:latin typeface="Segoe UI"/>
                        </a:rPr>
                        <a:t>☐</a:t>
                      </a:r>
                    </a:p>
                  </a:txBody>
                  <a:tcPr marL="73152" marR="73152" marT="27432" marB="27432" anchor="ctr">
                    <a:solidFill>
                      <a:srgbClr val="FFFFFF"/>
                    </a:solidFill>
                  </a:tcPr>
                </a:tc>
              </a:tr>
              <a:tr h="484632">
                <a:tc>
                  <a:txBody>
                    <a:bodyPr wrap="square"/>
                    <a:lstStyle/>
                    <a:p>
                      <a:r>
                        <a:rPr sz="1200" b="1" i="0">
                          <a:solidFill>
                            <a:srgbClr val="2B2F36"/>
                          </a:solidFill>
                          <a:latin typeface="Segoe UI"/>
                        </a:rPr>
                        <a:t>Connector failure</a:t>
                      </a:r>
                    </a:p>
                  </a:txBody>
                  <a:tcPr marL="73152" marR="73152" marT="27432" marB="27432" anchor="ctr">
                    <a:solidFill>
                      <a:srgbClr val="F2F4F7"/>
                    </a:solidFill>
                  </a:tcPr>
                </a:tc>
                <a:tc>
                  <a:txBody>
                    <a:bodyPr wrap="square"/>
                    <a:lstStyle/>
                    <a:p>
                      <a:r>
                        <a:rPr sz="1200" b="0" i="0">
                          <a:solidFill>
                            <a:srgbClr val="2B2F36"/>
                          </a:solidFill>
                          <a:latin typeface="Segoe UI"/>
                        </a:rPr>
                        <a:t>Stop one connector</a:t>
                      </a:r>
                    </a:p>
                  </a:txBody>
                  <a:tcPr marL="73152" marR="73152" marT="27432" marB="27432" anchor="ctr">
                    <a:solidFill>
                      <a:srgbClr val="F2F4F7"/>
                    </a:solidFill>
                  </a:tcPr>
                </a:tc>
                <a:tc>
                  <a:txBody>
                    <a:bodyPr wrap="square"/>
                    <a:lstStyle/>
                    <a:p>
                      <a:r>
                        <a:rPr sz="1200" b="0" i="0">
                          <a:solidFill>
                            <a:srgbClr val="2B2F36"/>
                          </a:solidFill>
                          <a:latin typeface="Segoe UI"/>
                        </a:rPr>
                        <a:t>Load balancer fails over; no client errors</a:t>
                      </a:r>
                    </a:p>
                  </a:txBody>
                  <a:tcPr marL="73152" marR="73152" marT="27432" marB="27432" anchor="ctr">
                    <a:solidFill>
                      <a:srgbClr val="F2F4F7"/>
                    </a:solidFill>
                  </a:tcPr>
                </a:tc>
                <a:tc>
                  <a:txBody>
                    <a:bodyPr wrap="square"/>
                    <a:lstStyle/>
                    <a:p>
                      <a:r>
                        <a:rPr sz="1200" b="0" i="0">
                          <a:solidFill>
                            <a:srgbClr val="2B2F36"/>
                          </a:solidFill>
                          <a:latin typeface="Segoe UI"/>
                        </a:rPr>
                        <a:t>☐</a:t>
                      </a:r>
                    </a:p>
                  </a:txBody>
                  <a:tcPr marL="73152" marR="73152" marT="27432" marB="27432" anchor="ctr">
                    <a:solidFill>
                      <a:srgbClr val="F2F4F7"/>
                    </a:solidFill>
                  </a:tcPr>
                </a:tc>
              </a:tr>
              <a:tr h="484632">
                <a:tc>
                  <a:txBody>
                    <a:bodyPr wrap="square"/>
                    <a:lstStyle/>
                    <a:p>
                      <a:r>
                        <a:rPr sz="1200" b="1" i="0">
                          <a:solidFill>
                            <a:srgbClr val="2B2F36"/>
                          </a:solidFill>
                          <a:latin typeface="Segoe UI"/>
                        </a:rPr>
                        <a:t>Metadata leader failure</a:t>
                      </a:r>
                    </a:p>
                  </a:txBody>
                  <a:tcPr marL="73152" marR="73152" marT="27432" marB="27432" anchor="ctr">
                    <a:solidFill>
                      <a:srgbClr val="FFFFFF"/>
                    </a:solidFill>
                  </a:tcPr>
                </a:tc>
                <a:tc>
                  <a:txBody>
                    <a:bodyPr wrap="square"/>
                    <a:lstStyle/>
                    <a:p>
                      <a:r>
                        <a:rPr sz="1200" b="0" i="0">
                          <a:solidFill>
                            <a:srgbClr val="2B2F36"/>
                          </a:solidFill>
                          <a:latin typeface="Segoe UI"/>
                        </a:rPr>
                        <a:t>Stop the Raft leader</a:t>
                      </a:r>
                    </a:p>
                  </a:txBody>
                  <a:tcPr marL="73152" marR="73152" marT="27432" marB="27432" anchor="ctr">
                    <a:solidFill>
                      <a:srgbClr val="FFFFFF"/>
                    </a:solidFill>
                  </a:tcPr>
                </a:tc>
                <a:tc>
                  <a:txBody>
                    <a:bodyPr wrap="square"/>
                    <a:lstStyle/>
                    <a:p>
                      <a:r>
                        <a:rPr sz="1200" b="0" i="0">
                          <a:solidFill>
                            <a:srgbClr val="2B2F36"/>
                          </a:solidFill>
                          <a:latin typeface="Segoe UI"/>
                        </a:rPr>
                        <a:t>New leader elected within seconds</a:t>
                      </a:r>
                    </a:p>
                  </a:txBody>
                  <a:tcPr marL="73152" marR="73152" marT="27432" marB="27432" anchor="ctr">
                    <a:solidFill>
                      <a:srgbClr val="FFFFFF"/>
                    </a:solidFill>
                  </a:tcPr>
                </a:tc>
                <a:tc>
                  <a:txBody>
                    <a:bodyPr wrap="square"/>
                    <a:lstStyle/>
                    <a:p>
                      <a:r>
                        <a:rPr sz="1200" b="0" i="0">
                          <a:solidFill>
                            <a:srgbClr val="2B2F36"/>
                          </a:solidFill>
                          <a:latin typeface="Segoe UI"/>
                        </a:rPr>
                        <a:t>☐</a:t>
                      </a:r>
                    </a:p>
                  </a:txBody>
                  <a:tcPr marL="73152" marR="73152" marT="27432" marB="27432" anchor="ctr">
                    <a:solidFill>
                      <a:srgbClr val="FFFFFF"/>
                    </a:solidFill>
                  </a:tcPr>
                </a:tc>
              </a:tr>
              <a:tr h="484632">
                <a:tc>
                  <a:txBody>
                    <a:bodyPr wrap="square"/>
                    <a:lstStyle/>
                    <a:p>
                      <a:r>
                        <a:rPr sz="1200" b="1" i="0">
                          <a:solidFill>
                            <a:srgbClr val="2B2F36"/>
                          </a:solidFill>
                          <a:latin typeface="Segoe UI"/>
                        </a:rPr>
                        <a:t>Immutability</a:t>
                      </a:r>
                    </a:p>
                  </a:txBody>
                  <a:tcPr marL="73152" marR="73152" marT="27432" marB="27432" anchor="ctr">
                    <a:solidFill>
                      <a:srgbClr val="F2F4F7"/>
                    </a:solidFill>
                  </a:tcPr>
                </a:tc>
                <a:tc>
                  <a:txBody>
                    <a:bodyPr wrap="square"/>
                    <a:lstStyle/>
                    <a:p>
                      <a:r>
                        <a:rPr sz="1200" b="0" i="0">
                          <a:solidFill>
                            <a:srgbClr val="2B2F36"/>
                          </a:solidFill>
                          <a:latin typeface="Segoe UI"/>
                        </a:rPr>
                        <a:t>Attempt to delete a locked object</a:t>
                      </a:r>
                    </a:p>
                  </a:txBody>
                  <a:tcPr marL="73152" marR="73152" marT="27432" marB="27432" anchor="ctr">
                    <a:solidFill>
                      <a:srgbClr val="F2F4F7"/>
                    </a:solidFill>
                  </a:tcPr>
                </a:tc>
                <a:tc>
                  <a:txBody>
                    <a:bodyPr wrap="square"/>
                    <a:lstStyle/>
                    <a:p>
                      <a:r>
                        <a:rPr sz="1200" b="0" i="0">
                          <a:solidFill>
                            <a:srgbClr val="2B2F36"/>
                          </a:solidFill>
                          <a:latin typeface="Segoe UI"/>
                        </a:rPr>
                        <a:t>Request refused</a:t>
                      </a:r>
                    </a:p>
                  </a:txBody>
                  <a:tcPr marL="73152" marR="73152" marT="27432" marB="27432" anchor="ctr">
                    <a:solidFill>
                      <a:srgbClr val="F2F4F7"/>
                    </a:solidFill>
                  </a:tcPr>
                </a:tc>
                <a:tc>
                  <a:txBody>
                    <a:bodyPr wrap="square"/>
                    <a:lstStyle/>
                    <a:p>
                      <a:r>
                        <a:rPr sz="1200" b="0" i="0">
                          <a:solidFill>
                            <a:srgbClr val="2B2F36"/>
                          </a:solidFill>
                          <a:latin typeface="Segoe UI"/>
                        </a:rPr>
                        <a:t>☐</a:t>
                      </a:r>
                    </a:p>
                  </a:txBody>
                  <a:tcPr marL="73152" marR="73152" marT="27432" marB="27432" anchor="ctr">
                    <a:solidFill>
                      <a:srgbClr val="F2F4F7"/>
                    </a:solidFill>
                  </a:tcPr>
                </a:tc>
              </a:tr>
              <a:tr h="484632">
                <a:tc>
                  <a:txBody>
                    <a:bodyPr wrap="square"/>
                    <a:lstStyle/>
                    <a:p>
                      <a:r>
                        <a:rPr sz="1200" b="1" i="0">
                          <a:solidFill>
                            <a:srgbClr val="2B2F36"/>
                          </a:solidFill>
                          <a:latin typeface="Segoe UI"/>
                        </a:rPr>
                        <a:t>Backup &amp; restore</a:t>
                      </a:r>
                    </a:p>
                  </a:txBody>
                  <a:tcPr marL="73152" marR="73152" marT="27432" marB="27432" anchor="ctr">
                    <a:solidFill>
                      <a:srgbClr val="FFFFFF"/>
                    </a:solidFill>
                  </a:tcPr>
                </a:tc>
                <a:tc>
                  <a:txBody>
                    <a:bodyPr wrap="square"/>
                    <a:lstStyle/>
                    <a:p>
                      <a:r>
                        <a:rPr sz="1200" b="0" i="0">
                          <a:solidFill>
                            <a:srgbClr val="2B2F36"/>
                          </a:solidFill>
                          <a:latin typeface="Segoe UI"/>
                        </a:rPr>
                        <a:t>Full backup and restore cycle</a:t>
                      </a:r>
                    </a:p>
                  </a:txBody>
                  <a:tcPr marL="73152" marR="73152" marT="27432" marB="27432" anchor="ctr">
                    <a:solidFill>
                      <a:srgbClr val="FFFFFF"/>
                    </a:solidFill>
                  </a:tcPr>
                </a:tc>
                <a:tc>
                  <a:txBody>
                    <a:bodyPr wrap="square"/>
                    <a:lstStyle/>
                    <a:p>
                      <a:r>
                        <a:rPr sz="1200" b="0" i="0">
                          <a:solidFill>
                            <a:srgbClr val="2B2F36"/>
                          </a:solidFill>
                          <a:latin typeface="Segoe UI"/>
                        </a:rPr>
                        <a:t>Completes within the backup window</a:t>
                      </a:r>
                    </a:p>
                  </a:txBody>
                  <a:tcPr marL="73152" marR="73152" marT="27432" marB="27432" anchor="ctr">
                    <a:solidFill>
                      <a:srgbClr val="FFFFFF"/>
                    </a:solidFill>
                  </a:tcPr>
                </a:tc>
                <a:tc>
                  <a:txBody>
                    <a:bodyPr wrap="square"/>
                    <a:lstStyle/>
                    <a:p>
                      <a:r>
                        <a:rPr sz="1200" b="0" i="0">
                          <a:solidFill>
                            <a:srgbClr val="2B2F36"/>
                          </a:solidFill>
                          <a:latin typeface="Segoe UI"/>
                        </a:rPr>
                        <a:t>☐</a:t>
                      </a:r>
                    </a:p>
                  </a:txBody>
                  <a:tcPr marL="73152" marR="73152" marT="27432" marB="27432" anchor="ctr">
                    <a:solidFill>
                      <a:srgbClr val="FFFFFF"/>
                    </a:solidFill>
                  </a:tcPr>
                </a:tc>
              </a:tr>
              <a:tr h="484632">
                <a:tc>
                  <a:txBody>
                    <a:bodyPr wrap="square"/>
                    <a:lstStyle/>
                    <a:p>
                      <a:r>
                        <a:rPr sz="1200" b="1" i="0">
                          <a:solidFill>
                            <a:srgbClr val="2B2F36"/>
                          </a:solidFill>
                          <a:latin typeface="Segoe UI"/>
                        </a:rPr>
                        <a:t>Expansion</a:t>
                      </a:r>
                    </a:p>
                  </a:txBody>
                  <a:tcPr marL="73152" marR="73152" marT="27432" marB="27432" anchor="ctr">
                    <a:solidFill>
                      <a:srgbClr val="F2F4F7"/>
                    </a:solidFill>
                  </a:tcPr>
                </a:tc>
                <a:tc>
                  <a:txBody>
                    <a:bodyPr wrap="square"/>
                    <a:lstStyle/>
                    <a:p>
                      <a:r>
                        <a:rPr sz="1200" b="0" i="0">
                          <a:solidFill>
                            <a:srgbClr val="2B2F36"/>
                          </a:solidFill>
                          <a:latin typeface="Segoe UI"/>
                        </a:rPr>
                        <a:t>Add a server under load</a:t>
                      </a:r>
                    </a:p>
                  </a:txBody>
                  <a:tcPr marL="73152" marR="73152" marT="27432" marB="27432" anchor="ctr">
                    <a:solidFill>
                      <a:srgbClr val="F2F4F7"/>
                    </a:solidFill>
                  </a:tcPr>
                </a:tc>
                <a:tc>
                  <a:txBody>
                    <a:bodyPr wrap="square"/>
                    <a:lstStyle/>
                    <a:p>
                      <a:r>
                        <a:rPr sz="1200" b="0" i="0">
                          <a:solidFill>
                            <a:srgbClr val="2B2F36"/>
                          </a:solidFill>
                          <a:latin typeface="Segoe UI"/>
                        </a:rPr>
                        <a:t>Rebalance without client impact</a:t>
                      </a:r>
                    </a:p>
                  </a:txBody>
                  <a:tcPr marL="73152" marR="73152" marT="27432" marB="27432" anchor="ctr">
                    <a:solidFill>
                      <a:srgbClr val="F2F4F7"/>
                    </a:solidFill>
                  </a:tcPr>
                </a:tc>
                <a:tc>
                  <a:txBody>
                    <a:bodyPr wrap="square"/>
                    <a:lstStyle/>
                    <a:p>
                      <a:r>
                        <a:rPr sz="1200" b="0" i="0">
                          <a:solidFill>
                            <a:srgbClr val="2B2F36"/>
                          </a:solidFill>
                          <a:latin typeface="Segoe UI"/>
                        </a:rPr>
                        <a:t>☐</a:t>
                      </a:r>
                    </a:p>
                  </a:txBody>
                  <a:tcPr marL="73152" marR="73152" marT="27432" marB="27432" anchor="ctr">
                    <a:solidFill>
                      <a:srgbClr val="F2F4F7"/>
                    </a:solidFill>
                  </a:tcPr>
                </a:tc>
              </a:tr>
            </a:tbl>
          </a:graphicData>
        </a:graphic>
      </p:graphicFrame>
      <p:sp>
        <p:nvSpPr>
          <p:cNvPr id="9" name="TextBox 8"/>
          <p:cNvSpPr txBox="1"/>
          <p:nvPr/>
        </p:nvSpPr>
        <p:spPr>
          <a:xfrm>
            <a:off x="457200" y="5806440"/>
            <a:ext cx="11247120" cy="365760"/>
          </a:xfrm>
          <a:prstGeom prst="rect">
            <a:avLst/>
          </a:prstGeom>
          <a:noFill/>
        </p:spPr>
        <p:txBody>
          <a:bodyPr wrap="square" anchor="t" lIns="36576" rIns="36576" tIns="36576" bIns="36576">
            <a:spAutoFit/>
          </a:bodyPr>
          <a:lstStyle/>
          <a:p>
            <a:pPr algn="l"/>
            <a:r>
              <a:rPr sz="1200" b="0" i="0">
                <a:solidFill>
                  <a:srgbClr val="5B6577"/>
                </a:solidFill>
                <a:latin typeface="Segoe UI"/>
              </a:rPr>
              <a:t>Results are documented and serve as the operational baseline.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 name="Rectangle 2"/>
          <p:cNvSpPr/>
          <p:nvPr/>
        </p:nvSpPr>
        <p:spPr>
          <a:xfrm>
            <a:off x="0" y="914400"/>
            <a:ext cx="12191695" cy="54864"/>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4" name="TextBox 3"/>
          <p:cNvSpPr txBox="1"/>
          <p:nvPr/>
        </p:nvSpPr>
        <p:spPr>
          <a:xfrm>
            <a:off x="457200" y="182880"/>
            <a:ext cx="11247120" cy="548640"/>
          </a:xfrm>
          <a:prstGeom prst="rect">
            <a:avLst/>
          </a:prstGeom>
          <a:noFill/>
        </p:spPr>
        <p:txBody>
          <a:bodyPr wrap="square" anchor="ctr" lIns="36576" rIns="36576" tIns="36576" bIns="36576">
            <a:spAutoFit/>
          </a:bodyPr>
          <a:lstStyle/>
          <a:p>
            <a:pPr algn="l"/>
            <a:r>
              <a:rPr sz="2600" b="1" i="0">
                <a:solidFill>
                  <a:srgbClr val="FFFFFF"/>
                </a:solidFill>
                <a:latin typeface="Segoe UI"/>
              </a:rPr>
              <a:t>Key Takeaways</a:t>
            </a:r>
          </a:p>
        </p:txBody>
      </p:sp>
      <p:sp>
        <p:nvSpPr>
          <p:cNvPr id="5" name="TextBox 4"/>
          <p:cNvSpPr txBox="1"/>
          <p:nvPr/>
        </p:nvSpPr>
        <p:spPr>
          <a:xfrm>
            <a:off x="457200" y="6473952"/>
            <a:ext cx="7315200" cy="274320"/>
          </a:xfrm>
          <a:prstGeom prst="rect">
            <a:avLst/>
          </a:prstGeom>
          <a:noFill/>
        </p:spPr>
        <p:txBody>
          <a:bodyPr wrap="square" anchor="t" lIns="36576" rIns="36576" tIns="36576" bIns="36576">
            <a:spAutoFit/>
          </a:bodyPr>
          <a:lstStyle/>
          <a:p>
            <a:pPr algn="l"/>
            <a:r>
              <a:rPr sz="1000" b="0" i="0">
                <a:solidFill>
                  <a:srgbClr val="5B6577"/>
                </a:solidFill>
                <a:latin typeface="Segoe UI"/>
              </a:rPr>
              <a:t>Scality RING  |  Architecture, Deployment &amp; Operations</a:t>
            </a:r>
          </a:p>
        </p:txBody>
      </p:sp>
      <p:sp>
        <p:nvSpPr>
          <p:cNvPr id="6" name="TextBox 5"/>
          <p:cNvSpPr txBox="1"/>
          <p:nvPr/>
        </p:nvSpPr>
        <p:spPr>
          <a:xfrm>
            <a:off x="10789920" y="6473952"/>
            <a:ext cx="914400" cy="274320"/>
          </a:xfrm>
          <a:prstGeom prst="rect">
            <a:avLst/>
          </a:prstGeom>
          <a:noFill/>
        </p:spPr>
        <p:txBody>
          <a:bodyPr wrap="square" anchor="t" lIns="36576" rIns="36576" tIns="36576" bIns="36576">
            <a:spAutoFit/>
          </a:bodyPr>
          <a:lstStyle/>
          <a:p>
            <a:pPr algn="r"/>
            <a:r>
              <a:rPr sz="1000" b="0" i="0">
                <a:solidFill>
                  <a:srgbClr val="5B6577"/>
                </a:solidFill>
                <a:latin typeface="Segoe UI"/>
              </a:rPr>
              <a:t>22</a:t>
            </a:r>
          </a:p>
        </p:txBody>
      </p:sp>
      <p:sp>
        <p:nvSpPr>
          <p:cNvPr id="7" name="Rounded Rectangle 6"/>
          <p:cNvSpPr/>
          <p:nvPr/>
        </p:nvSpPr>
        <p:spPr>
          <a:xfrm>
            <a:off x="548640" y="1417320"/>
            <a:ext cx="5440680" cy="128016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8" name="Rectangle 7"/>
          <p:cNvSpPr/>
          <p:nvPr/>
        </p:nvSpPr>
        <p:spPr>
          <a:xfrm>
            <a:off x="548640" y="1417320"/>
            <a:ext cx="73152" cy="128016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9" name="Oval 8"/>
          <p:cNvSpPr/>
          <p:nvPr/>
        </p:nvSpPr>
        <p:spPr>
          <a:xfrm>
            <a:off x="822959" y="1837944"/>
            <a:ext cx="438912" cy="438912"/>
          </a:xfrm>
          <a:prstGeom prst="ellipse">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400" b="1" i="0">
                <a:solidFill>
                  <a:srgbClr val="FFFFFF"/>
                </a:solidFill>
                <a:latin typeface="Segoe UI"/>
              </a:rPr>
              <a:t>1</a:t>
            </a:r>
          </a:p>
        </p:txBody>
      </p:sp>
      <p:sp>
        <p:nvSpPr>
          <p:cNvPr id="10" name="TextBox 9"/>
          <p:cNvSpPr txBox="1"/>
          <p:nvPr/>
        </p:nvSpPr>
        <p:spPr>
          <a:xfrm>
            <a:off x="1417319" y="1508760"/>
            <a:ext cx="4434840" cy="1097280"/>
          </a:xfrm>
          <a:prstGeom prst="rect">
            <a:avLst/>
          </a:prstGeom>
          <a:noFill/>
        </p:spPr>
        <p:txBody>
          <a:bodyPr wrap="square" anchor="ctr" lIns="36576" rIns="36576" tIns="36576" bIns="36576">
            <a:spAutoFit/>
          </a:bodyPr>
          <a:lstStyle/>
          <a:p>
            <a:pPr algn="l"/>
            <a:r>
              <a:rPr sz="1500" b="0" i="0">
                <a:solidFill>
                  <a:srgbClr val="2B2F36"/>
                </a:solidFill>
                <a:latin typeface="Segoe UI"/>
              </a:rPr>
              <a:t>Software-defined, peer-to-peer architecture with no single point of failure</a:t>
            </a:r>
          </a:p>
        </p:txBody>
      </p:sp>
      <p:sp>
        <p:nvSpPr>
          <p:cNvPr id="11" name="Rounded Rectangle 10"/>
          <p:cNvSpPr/>
          <p:nvPr/>
        </p:nvSpPr>
        <p:spPr>
          <a:xfrm>
            <a:off x="6217920" y="1417320"/>
            <a:ext cx="5440680" cy="128016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2" name="Rectangle 11"/>
          <p:cNvSpPr/>
          <p:nvPr/>
        </p:nvSpPr>
        <p:spPr>
          <a:xfrm>
            <a:off x="6217920" y="1417320"/>
            <a:ext cx="73152" cy="128016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3" name="Oval 12"/>
          <p:cNvSpPr/>
          <p:nvPr/>
        </p:nvSpPr>
        <p:spPr>
          <a:xfrm>
            <a:off x="6492240" y="1837944"/>
            <a:ext cx="438912" cy="438912"/>
          </a:xfrm>
          <a:prstGeom prst="ellipse">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400" b="1" i="0">
                <a:solidFill>
                  <a:srgbClr val="FFFFFF"/>
                </a:solidFill>
                <a:latin typeface="Segoe UI"/>
              </a:rPr>
              <a:t>2</a:t>
            </a:r>
          </a:p>
        </p:txBody>
      </p:sp>
      <p:sp>
        <p:nvSpPr>
          <p:cNvPr id="14" name="TextBox 13"/>
          <p:cNvSpPr txBox="1"/>
          <p:nvPr/>
        </p:nvSpPr>
        <p:spPr>
          <a:xfrm>
            <a:off x="7086600" y="1508760"/>
            <a:ext cx="4434840" cy="1097280"/>
          </a:xfrm>
          <a:prstGeom prst="rect">
            <a:avLst/>
          </a:prstGeom>
          <a:noFill/>
        </p:spPr>
        <p:txBody>
          <a:bodyPr wrap="square" anchor="ctr" lIns="36576" rIns="36576" tIns="36576" bIns="36576">
            <a:spAutoFit/>
          </a:bodyPr>
          <a:lstStyle/>
          <a:p>
            <a:pPr algn="l"/>
            <a:r>
              <a:rPr sz="1500" b="0" i="0">
                <a:solidFill>
                  <a:srgbClr val="2B2F36"/>
                </a:solidFill>
                <a:latin typeface="Segoe UI"/>
              </a:rPr>
              <a:t>Computed data placement scales to billions of objects without a central bottleneck</a:t>
            </a:r>
          </a:p>
        </p:txBody>
      </p:sp>
      <p:sp>
        <p:nvSpPr>
          <p:cNvPr id="15" name="Rounded Rectangle 14"/>
          <p:cNvSpPr/>
          <p:nvPr/>
        </p:nvSpPr>
        <p:spPr>
          <a:xfrm>
            <a:off x="548640" y="2971800"/>
            <a:ext cx="5440680" cy="128016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 name="Rectangle 15"/>
          <p:cNvSpPr/>
          <p:nvPr/>
        </p:nvSpPr>
        <p:spPr>
          <a:xfrm>
            <a:off x="548640" y="2971800"/>
            <a:ext cx="73152" cy="128016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7" name="Oval 16"/>
          <p:cNvSpPr/>
          <p:nvPr/>
        </p:nvSpPr>
        <p:spPr>
          <a:xfrm>
            <a:off x="822959" y="3392424"/>
            <a:ext cx="438912" cy="438912"/>
          </a:xfrm>
          <a:prstGeom prst="ellipse">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400" b="1" i="0">
                <a:solidFill>
                  <a:srgbClr val="FFFFFF"/>
                </a:solidFill>
                <a:latin typeface="Segoe UI"/>
              </a:rPr>
              <a:t>3</a:t>
            </a:r>
          </a:p>
        </p:txBody>
      </p:sp>
      <p:sp>
        <p:nvSpPr>
          <p:cNvPr id="18" name="TextBox 17"/>
          <p:cNvSpPr txBox="1"/>
          <p:nvPr/>
        </p:nvSpPr>
        <p:spPr>
          <a:xfrm>
            <a:off x="1417319" y="3063240"/>
            <a:ext cx="4434840" cy="1097280"/>
          </a:xfrm>
          <a:prstGeom prst="rect">
            <a:avLst/>
          </a:prstGeom>
          <a:noFill/>
        </p:spPr>
        <p:txBody>
          <a:bodyPr wrap="square" anchor="ctr" lIns="36576" rIns="36576" tIns="36576" bIns="36576">
            <a:spAutoFit/>
          </a:bodyPr>
          <a:lstStyle/>
          <a:p>
            <a:pPr algn="l"/>
            <a:r>
              <a:rPr sz="1500" b="0" i="0">
                <a:solidFill>
                  <a:srgbClr val="2B2F36"/>
                </a:solidFill>
                <a:latin typeface="Segoe UI"/>
              </a:rPr>
              <a:t>Hybrid protection: replication for small objects, erasure coding for large ones</a:t>
            </a:r>
          </a:p>
        </p:txBody>
      </p:sp>
      <p:sp>
        <p:nvSpPr>
          <p:cNvPr id="19" name="Rounded Rectangle 18"/>
          <p:cNvSpPr/>
          <p:nvPr/>
        </p:nvSpPr>
        <p:spPr>
          <a:xfrm>
            <a:off x="6217920" y="2971800"/>
            <a:ext cx="5440680" cy="128016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20" name="Rectangle 19"/>
          <p:cNvSpPr/>
          <p:nvPr/>
        </p:nvSpPr>
        <p:spPr>
          <a:xfrm>
            <a:off x="6217920" y="2971800"/>
            <a:ext cx="73152" cy="128016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21" name="Oval 20"/>
          <p:cNvSpPr/>
          <p:nvPr/>
        </p:nvSpPr>
        <p:spPr>
          <a:xfrm>
            <a:off x="6492240" y="3392424"/>
            <a:ext cx="438912" cy="438912"/>
          </a:xfrm>
          <a:prstGeom prst="ellipse">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400" b="1" i="0">
                <a:solidFill>
                  <a:srgbClr val="FFFFFF"/>
                </a:solidFill>
                <a:latin typeface="Segoe UI"/>
              </a:rPr>
              <a:t>4</a:t>
            </a:r>
          </a:p>
        </p:txBody>
      </p:sp>
      <p:sp>
        <p:nvSpPr>
          <p:cNvPr id="22" name="TextBox 21"/>
          <p:cNvSpPr txBox="1"/>
          <p:nvPr/>
        </p:nvSpPr>
        <p:spPr>
          <a:xfrm>
            <a:off x="7086600" y="3063240"/>
            <a:ext cx="4434840" cy="1097280"/>
          </a:xfrm>
          <a:prstGeom prst="rect">
            <a:avLst/>
          </a:prstGeom>
          <a:noFill/>
        </p:spPr>
        <p:txBody>
          <a:bodyPr wrap="square" anchor="ctr" lIns="36576" rIns="36576" tIns="36576" bIns="36576">
            <a:spAutoFit/>
          </a:bodyPr>
          <a:lstStyle/>
          <a:p>
            <a:pPr algn="l"/>
            <a:r>
              <a:rPr sz="1500" b="0" i="0">
                <a:solidFill>
                  <a:srgbClr val="2B2F36"/>
                </a:solidFill>
                <a:latin typeface="Segoe UI"/>
              </a:rPr>
              <a:t>Self-healing: failures are absorbed automatically, with no client impact</a:t>
            </a:r>
          </a:p>
        </p:txBody>
      </p:sp>
      <p:sp>
        <p:nvSpPr>
          <p:cNvPr id="23" name="Rounded Rectangle 22"/>
          <p:cNvSpPr/>
          <p:nvPr/>
        </p:nvSpPr>
        <p:spPr>
          <a:xfrm>
            <a:off x="548640" y="4526280"/>
            <a:ext cx="5440680" cy="128016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24" name="Rectangle 23"/>
          <p:cNvSpPr/>
          <p:nvPr/>
        </p:nvSpPr>
        <p:spPr>
          <a:xfrm>
            <a:off x="548640" y="4526280"/>
            <a:ext cx="73152" cy="128016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25" name="Oval 24"/>
          <p:cNvSpPr/>
          <p:nvPr/>
        </p:nvSpPr>
        <p:spPr>
          <a:xfrm>
            <a:off x="822959" y="4946904"/>
            <a:ext cx="438912" cy="438912"/>
          </a:xfrm>
          <a:prstGeom prst="ellipse">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400" b="1" i="0">
                <a:solidFill>
                  <a:srgbClr val="FFFFFF"/>
                </a:solidFill>
                <a:latin typeface="Segoe UI"/>
              </a:rPr>
              <a:t>5</a:t>
            </a:r>
          </a:p>
        </p:txBody>
      </p:sp>
      <p:sp>
        <p:nvSpPr>
          <p:cNvPr id="26" name="TextBox 25"/>
          <p:cNvSpPr txBox="1"/>
          <p:nvPr/>
        </p:nvSpPr>
        <p:spPr>
          <a:xfrm>
            <a:off x="1417319" y="4617720"/>
            <a:ext cx="4434840" cy="1097280"/>
          </a:xfrm>
          <a:prstGeom prst="rect">
            <a:avLst/>
          </a:prstGeom>
          <a:noFill/>
        </p:spPr>
        <p:txBody>
          <a:bodyPr wrap="square" anchor="ctr" lIns="36576" rIns="36576" tIns="36576" bIns="36576">
            <a:spAutoFit/>
          </a:bodyPr>
          <a:lstStyle/>
          <a:p>
            <a:pPr algn="l"/>
            <a:r>
              <a:rPr sz="1500" b="0" i="0">
                <a:solidFill>
                  <a:srgbClr val="2B2F36"/>
                </a:solidFill>
                <a:latin typeface="Segoe UI"/>
              </a:rPr>
              <a:t>Non-disruptive scale-out, and multi-site options from metro (RPO 0) to long-distance DR</a:t>
            </a:r>
          </a:p>
        </p:txBody>
      </p:sp>
      <p:sp>
        <p:nvSpPr>
          <p:cNvPr id="27" name="Rounded Rectangle 26"/>
          <p:cNvSpPr/>
          <p:nvPr/>
        </p:nvSpPr>
        <p:spPr>
          <a:xfrm>
            <a:off x="6217920" y="4526280"/>
            <a:ext cx="5440680" cy="128016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28" name="Rectangle 27"/>
          <p:cNvSpPr/>
          <p:nvPr/>
        </p:nvSpPr>
        <p:spPr>
          <a:xfrm>
            <a:off x="6217920" y="4526280"/>
            <a:ext cx="73152" cy="128016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29" name="Oval 28"/>
          <p:cNvSpPr/>
          <p:nvPr/>
        </p:nvSpPr>
        <p:spPr>
          <a:xfrm>
            <a:off x="6492240" y="4946904"/>
            <a:ext cx="438912" cy="438912"/>
          </a:xfrm>
          <a:prstGeom prst="ellipse">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400" b="1" i="0">
                <a:solidFill>
                  <a:srgbClr val="FFFFFF"/>
                </a:solidFill>
                <a:latin typeface="Segoe UI"/>
              </a:rPr>
              <a:t>6</a:t>
            </a:r>
          </a:p>
        </p:txBody>
      </p:sp>
      <p:sp>
        <p:nvSpPr>
          <p:cNvPr id="30" name="TextBox 29"/>
          <p:cNvSpPr txBox="1"/>
          <p:nvPr/>
        </p:nvSpPr>
        <p:spPr>
          <a:xfrm>
            <a:off x="7086600" y="4617720"/>
            <a:ext cx="4434840" cy="1097280"/>
          </a:xfrm>
          <a:prstGeom prst="rect">
            <a:avLst/>
          </a:prstGeom>
          <a:noFill/>
        </p:spPr>
        <p:txBody>
          <a:bodyPr wrap="square" anchor="ctr" lIns="36576" rIns="36576" tIns="36576" bIns="36576">
            <a:spAutoFit/>
          </a:bodyPr>
          <a:lstStyle/>
          <a:p>
            <a:pPr algn="l"/>
            <a:r>
              <a:rPr sz="1500" b="0" i="0">
                <a:solidFill>
                  <a:srgbClr val="2B2F36"/>
                </a:solidFill>
                <a:latin typeface="Segoe UI"/>
              </a:rPr>
              <a:t>Ransomware-resilient by design: Object Lock, versioning, encryption, isolated management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3" name="Rectangle 2"/>
          <p:cNvSpPr/>
          <p:nvPr/>
        </p:nvSpPr>
        <p:spPr>
          <a:xfrm>
            <a:off x="731520" y="2011680"/>
            <a:ext cx="109728" cy="210312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4" name="TextBox 3"/>
          <p:cNvSpPr txBox="1"/>
          <p:nvPr/>
        </p:nvSpPr>
        <p:spPr>
          <a:xfrm>
            <a:off x="1051560" y="1783080"/>
            <a:ext cx="10058400" cy="868680"/>
          </a:xfrm>
          <a:prstGeom prst="rect">
            <a:avLst/>
          </a:prstGeom>
          <a:noFill/>
        </p:spPr>
        <p:txBody>
          <a:bodyPr wrap="square" anchor="t" lIns="36576" rIns="36576" tIns="36576" bIns="36576">
            <a:spAutoFit/>
          </a:bodyPr>
          <a:lstStyle/>
          <a:p>
            <a:pPr algn="l"/>
            <a:r>
              <a:rPr sz="4800" b="1" i="0">
                <a:solidFill>
                  <a:srgbClr val="FFFFFF"/>
                </a:solidFill>
                <a:latin typeface="Segoe UI"/>
              </a:rPr>
              <a:t>Thank you</a:t>
            </a:r>
          </a:p>
        </p:txBody>
      </p:sp>
      <p:sp>
        <p:nvSpPr>
          <p:cNvPr id="5" name="TextBox 4"/>
          <p:cNvSpPr txBox="1"/>
          <p:nvPr/>
        </p:nvSpPr>
        <p:spPr>
          <a:xfrm>
            <a:off x="1051560" y="2697480"/>
            <a:ext cx="10058400" cy="548640"/>
          </a:xfrm>
          <a:prstGeom prst="rect">
            <a:avLst/>
          </a:prstGeom>
          <a:noFill/>
        </p:spPr>
        <p:txBody>
          <a:bodyPr wrap="square" anchor="t" lIns="36576" rIns="36576" tIns="36576" bIns="36576">
            <a:spAutoFit/>
          </a:bodyPr>
          <a:lstStyle/>
          <a:p>
            <a:pPr algn="l"/>
            <a:r>
              <a:rPr sz="2600" b="0" i="0">
                <a:solidFill>
                  <a:srgbClr val="C9D3E3"/>
                </a:solidFill>
                <a:latin typeface="Segoe UI"/>
              </a:rPr>
              <a:t>Questions &amp; discussion</a:t>
            </a:r>
          </a:p>
        </p:txBody>
      </p:sp>
      <p:sp>
        <p:nvSpPr>
          <p:cNvPr id="6" name="TextBox 5"/>
          <p:cNvSpPr txBox="1"/>
          <p:nvPr/>
        </p:nvSpPr>
        <p:spPr>
          <a:xfrm>
            <a:off x="1051560" y="3383280"/>
            <a:ext cx="10058400" cy="457200"/>
          </a:xfrm>
          <a:prstGeom prst="rect">
            <a:avLst/>
          </a:prstGeom>
          <a:noFill/>
        </p:spPr>
        <p:txBody>
          <a:bodyPr wrap="square" anchor="t" lIns="36576" rIns="36576" tIns="36576" bIns="36576">
            <a:spAutoFit/>
          </a:bodyPr>
          <a:lstStyle/>
          <a:p>
            <a:pPr algn="l"/>
            <a:r>
              <a:rPr sz="1600" b="0" i="0">
                <a:solidFill>
                  <a:srgbClr val="9FB0C8"/>
                </a:solidFill>
                <a:latin typeface="Segoe UI"/>
              </a:rPr>
              <a:t>Scality RING  ·  Architecture, Deployment &amp; Operations</a:t>
            </a:r>
          </a:p>
        </p:txBody>
      </p:sp>
      <p:sp>
        <p:nvSpPr>
          <p:cNvPr id="7" name="TextBox 6"/>
          <p:cNvSpPr txBox="1"/>
          <p:nvPr/>
        </p:nvSpPr>
        <p:spPr>
          <a:xfrm>
            <a:off x="1051560" y="5212080"/>
            <a:ext cx="10058400" cy="365760"/>
          </a:xfrm>
          <a:prstGeom prst="rect">
            <a:avLst/>
          </a:prstGeom>
          <a:noFill/>
        </p:spPr>
        <p:txBody>
          <a:bodyPr wrap="square" anchor="t" lIns="36576" rIns="36576" tIns="36576" bIns="36576">
            <a:spAutoFit/>
          </a:bodyPr>
          <a:lstStyle/>
          <a:p>
            <a:pPr algn="l"/>
            <a:r>
              <a:rPr sz="1400" b="0" i="0">
                <a:solidFill>
                  <a:srgbClr val="C9D3E3"/>
                </a:solidFill>
                <a:latin typeface="Segoe UI"/>
              </a:rPr>
              <a:t>&lt;Your name&gt;   |   &lt;email&gt;   |   &lt;phone&gt;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